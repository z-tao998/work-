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71" r:id="rId7"/>
    <p:sldId id="273" r:id="rId8"/>
    <p:sldId id="274" r:id="rId9"/>
    <p:sldId id="27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2" autoAdjust="0"/>
    <p:restoredTop sz="94660"/>
  </p:normalViewPr>
  <p:slideViewPr>
    <p:cSldViewPr snapToGrid="0">
      <p:cViewPr varScale="1">
        <p:scale>
          <a:sx n="96" d="100"/>
          <a:sy n="96" d="100"/>
        </p:scale>
        <p:origin x="3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6DEA1-F9C8-A5E9-F1B9-45478687E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EF52B6-E1AF-DB46-430D-7ABAD483C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81069B-17D2-4517-BBED-00CBB627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1448FA-788F-3D50-0001-9B923DDF0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42A088-2252-526E-6EF9-FF4B2D93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74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4B52A-14E1-CB5C-81AE-B74ED616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C94667-5652-5EE7-AD99-C5E38E326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67D37B-DDB8-2093-E67D-1B722E31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DA057A-6B18-8717-E39C-3383D13F3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CBFAFB-998B-D870-FDBA-5674B2F4B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42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66AC7-32AB-8A13-8F81-0093A76F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E91B7F-3732-582F-7284-D3EA7FE6D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0D5AFB-2DCB-327C-4389-EDA59AAF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EA19A2-6E7B-A941-21C5-736AEEE50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D731E1-798A-1A76-9B02-D19999C3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509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DBED8-5884-7D53-178C-F3A6DC67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0D17A5-21FF-5DA8-BE34-C10CC51FB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EEE49D-2BD4-92AA-AB2B-BE537A3A0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C3082A-F7A2-1C17-0BA8-0062DCF01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12062B-6B3B-6CBC-9FB2-81682861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88A1B3-68EA-FE44-3012-B67B21C8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288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E33F2-6DE6-6CCB-FCAB-53E149742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5DEF50-4F8C-5DF9-770C-DDAF3791E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8F6F9E-110A-BCEA-0872-7C68C3253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0BDE94-467D-C44B-2BA2-4F27B7554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BABB52-CEF7-1D32-3196-1FF9AA87C4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8E8435-1A70-AFDB-45F7-01AFDA26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A22B8D-9396-599D-ADB2-DBAF2576D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8F88DF-4DD4-134B-5680-4D4AA1E0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257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C56FB-676C-6782-DEF8-12060E7A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CA6B5B-5275-53BF-1361-3D5A425D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04F042-55F1-F260-C3B3-05544A83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A228F9-4D2A-C6FC-A7E0-B0C58E9F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945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272A9E-CA3E-2572-0D37-94F0F74BE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728DAA-92E9-C05F-869D-87C634E8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9A6176-287E-3DC7-0A59-9157C30E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26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3D410-2171-8285-8706-36D4504B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0D1513-7054-456A-431E-9FC636DA6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C853B6-499C-C187-8597-3C8E2AE1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D4B5DD-C2FE-4023-5A79-D58289117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C13D82-C2EB-62D2-8946-DBE17B44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FDD05E-F058-6176-F416-987335D4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87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B0805-D896-04EC-4949-7A16DE1C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21373F-26EE-3ED2-1514-CBB87845C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D51332-2239-AB08-D0AA-BA5BEE3F4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5A093C-CA42-D873-5258-DE9240F2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2924FD-5115-E803-C61F-4C17567C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1452A5-2A8E-0A84-5ECA-D9B9803C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37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6B524-8951-CAD9-9E38-09C067C1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137A4F-059F-1729-A1B4-B9A98BAC0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4D57B2-138C-83EC-92A9-868AE09D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BB7913-5C3E-3E2F-FBE9-02D19C78E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5EB92C-7FA4-AB0F-C484-9B99B756D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61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1B7953-CFA7-1B3A-8A46-4CA196A5E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3BD04B-BE33-0F1F-48E9-5ED1A3AA8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8CD078-CA2D-7F4F-575E-3934C85C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CB0ACE-4A2C-4EB5-E3E1-07FAE5DEB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F3E824-34B4-790C-7422-689F9347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6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8A3C9F-1AA7-C5F3-56C6-8A955D38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930B8D-A801-EF2F-59A5-F7C261481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138819-AF9E-0343-1297-241E2705F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5FD21-83F4-4730-8709-0AD78762F810}" type="datetimeFigureOut">
              <a:rPr lang="zh-CN" altLang="en-US" smtClean="0"/>
              <a:t>2026-10-21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D3613-87F7-5A70-F87A-C39B901E4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57E89-C039-EAD0-5892-E680989CD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11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erhyi@mail.ustc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93FDF4B-88C7-A7B2-B128-0885E06782C1}"/>
              </a:ext>
            </a:extLst>
          </p:cNvPr>
          <p:cNvSpPr txBox="1"/>
          <p:nvPr/>
        </p:nvSpPr>
        <p:spPr>
          <a:xfrm>
            <a:off x="4208303" y="2721114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/>
              <a:t>第四次基础实验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47C228-F866-1950-99CE-36B58BD42E53}"/>
              </a:ext>
            </a:extLst>
          </p:cNvPr>
          <p:cNvSpPr txBox="1"/>
          <p:nvPr/>
        </p:nvSpPr>
        <p:spPr>
          <a:xfrm>
            <a:off x="4768553" y="4425351"/>
            <a:ext cx="26548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SA26010061 </a:t>
            </a:r>
            <a:r>
              <a:rPr lang="zh-CN" altLang="en-US" dirty="0"/>
              <a:t>张建</a:t>
            </a:r>
            <a:endParaRPr lang="en-US" altLang="zh-CN" dirty="0"/>
          </a:p>
          <a:p>
            <a:pPr algn="ctr"/>
            <a:r>
              <a:rPr lang="en-US" altLang="zh-CN" dirty="0">
                <a:hlinkClick r:id="rId2"/>
              </a:rPr>
              <a:t>merhyi@mail.ustc.edu.cn</a:t>
            </a:r>
            <a:endParaRPr lang="en-US" altLang="zh-CN" dirty="0"/>
          </a:p>
          <a:p>
            <a:pPr algn="ctr"/>
            <a:r>
              <a:rPr lang="en-US" altLang="zh-CN" dirty="0"/>
              <a:t>2026.10.23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603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A58E1-5214-6CF6-8E59-06F8F861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D22FA36-DEBB-89FB-0E7A-9665674677E2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9CF238-952C-DC22-4E6B-A640984AB36A}"/>
              </a:ext>
            </a:extLst>
          </p:cNvPr>
          <p:cNvSpPr txBox="1"/>
          <p:nvPr/>
        </p:nvSpPr>
        <p:spPr>
          <a:xfrm>
            <a:off x="1475115" y="2736502"/>
            <a:ext cx="97686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面向对象编程的例子（直观认识）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endParaRPr lang="en-US" altLang="zh-CN" sz="2800" dirty="0">
              <a:solidFill>
                <a:schemeClr val="accent2"/>
              </a:solidFill>
            </a:endParaRPr>
          </a:p>
          <a:p>
            <a:r>
              <a:rPr lang="zh-CN" altLang="en-US" sz="2800" dirty="0"/>
              <a:t>类的定义、继承与多态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074034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7CBDCFF-0392-A36C-D43B-02642D49AE05}"/>
              </a:ext>
            </a:extLst>
          </p:cNvPr>
          <p:cNvSpPr txBox="1"/>
          <p:nvPr/>
        </p:nvSpPr>
        <p:spPr>
          <a:xfrm>
            <a:off x="724619" y="603849"/>
            <a:ext cx="7713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直观认识 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：</a:t>
            </a:r>
            <a:r>
              <a:rPr lang="en-US" altLang="zh-CN" sz="3600" b="1" dirty="0"/>
              <a:t>JavaScript </a:t>
            </a:r>
            <a:r>
              <a:rPr lang="zh-CN" altLang="en-US" sz="3600" b="1" dirty="0"/>
              <a:t>与 </a:t>
            </a:r>
            <a:r>
              <a:rPr lang="en-US" altLang="zh-CN" sz="3600" b="1" dirty="0"/>
              <a:t>Web </a:t>
            </a:r>
            <a:r>
              <a:rPr lang="zh-CN" altLang="en-US" sz="3600" b="1" dirty="0"/>
              <a:t>页面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88FB64-0299-AFF6-E7E5-EBE8AAEAA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56" y="1437860"/>
            <a:ext cx="7946534" cy="522798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22F087F-CB88-ED53-B197-492C8585CE78}"/>
              </a:ext>
            </a:extLst>
          </p:cNvPr>
          <p:cNvSpPr/>
          <p:nvPr/>
        </p:nvSpPr>
        <p:spPr>
          <a:xfrm>
            <a:off x="2444102" y="2835965"/>
            <a:ext cx="3260035" cy="364435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31BC1F-C4A4-15D9-3008-DCDEBE3B454F}"/>
              </a:ext>
            </a:extLst>
          </p:cNvPr>
          <p:cNvSpPr/>
          <p:nvPr/>
        </p:nvSpPr>
        <p:spPr>
          <a:xfrm>
            <a:off x="2401767" y="2518097"/>
            <a:ext cx="739545" cy="36443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F3B65C-6B4B-EBCC-56C2-0522540EF7DC}"/>
              </a:ext>
            </a:extLst>
          </p:cNvPr>
          <p:cNvSpPr/>
          <p:nvPr/>
        </p:nvSpPr>
        <p:spPr>
          <a:xfrm>
            <a:off x="2401767" y="3246782"/>
            <a:ext cx="815746" cy="36443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0BC972-52C2-9157-30F8-E06CF09F3AEB}"/>
              </a:ext>
            </a:extLst>
          </p:cNvPr>
          <p:cNvSpPr/>
          <p:nvPr/>
        </p:nvSpPr>
        <p:spPr>
          <a:xfrm>
            <a:off x="2414466" y="3657599"/>
            <a:ext cx="5744903" cy="2747434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303711-7BE6-9C1B-2620-0BE3209C7B2B}"/>
              </a:ext>
            </a:extLst>
          </p:cNvPr>
          <p:cNvSpPr/>
          <p:nvPr/>
        </p:nvSpPr>
        <p:spPr>
          <a:xfrm>
            <a:off x="548394" y="2364905"/>
            <a:ext cx="1452035" cy="11601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6610A7-8606-107C-D7BD-C6A4683A98FB}"/>
              </a:ext>
            </a:extLst>
          </p:cNvPr>
          <p:cNvSpPr txBox="1"/>
          <p:nvPr/>
        </p:nvSpPr>
        <p:spPr>
          <a:xfrm>
            <a:off x="8438590" y="1604250"/>
            <a:ext cx="3446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Web </a:t>
            </a:r>
            <a:r>
              <a:rPr lang="zh-CN" altLang="en-US" dirty="0"/>
              <a:t>页面由多个 </a:t>
            </a:r>
            <a:r>
              <a:rPr lang="en-US" altLang="zh-CN" dirty="0"/>
              <a:t>DOM</a:t>
            </a:r>
            <a:r>
              <a:rPr lang="zh-CN" altLang="en-US" dirty="0"/>
              <a:t> 元素构成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8C3095-8F3C-45FF-99DD-37EB77DF6C18}"/>
              </a:ext>
            </a:extLst>
          </p:cNvPr>
          <p:cNvSpPr txBox="1"/>
          <p:nvPr/>
        </p:nvSpPr>
        <p:spPr>
          <a:xfrm>
            <a:off x="8483474" y="2004486"/>
            <a:ext cx="3401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Document Object Model</a:t>
            </a:r>
            <a:r>
              <a:rPr lang="zh-CN" altLang="en-US" dirty="0"/>
              <a:t>，</a:t>
            </a:r>
            <a:r>
              <a:rPr lang="en-US" altLang="zh-CN" dirty="0"/>
              <a:t>DOM</a:t>
            </a:r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4FE007D-D89C-7643-DE64-8247F95A9AE0}"/>
              </a:ext>
            </a:extLst>
          </p:cNvPr>
          <p:cNvSpPr txBox="1"/>
          <p:nvPr/>
        </p:nvSpPr>
        <p:spPr>
          <a:xfrm>
            <a:off x="8759716" y="2700314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表格、文本、按钮、容器 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1CCEB5-4971-8155-82FA-988F58F7DE13}"/>
              </a:ext>
            </a:extLst>
          </p:cNvPr>
          <p:cNvSpPr txBox="1"/>
          <p:nvPr/>
        </p:nvSpPr>
        <p:spPr>
          <a:xfrm>
            <a:off x="8569234" y="334041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各自都是属于某个类的实例化</a:t>
            </a:r>
          </a:p>
        </p:txBody>
      </p:sp>
    </p:spTree>
    <p:extLst>
      <p:ext uri="{BB962C8B-B14F-4D97-AF65-F5344CB8AC3E}">
        <p14:creationId xmlns:p14="http://schemas.microsoft.com/office/powerpoint/2010/main" val="2688622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B42E3A-4A79-09F0-2641-D350CCE62F35}"/>
              </a:ext>
            </a:extLst>
          </p:cNvPr>
          <p:cNvSpPr txBox="1"/>
          <p:nvPr/>
        </p:nvSpPr>
        <p:spPr>
          <a:xfrm>
            <a:off x="724619" y="603849"/>
            <a:ext cx="4722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直观认识 </a:t>
            </a:r>
            <a:r>
              <a:rPr lang="en-US" altLang="zh-CN" sz="3600" b="1" dirty="0"/>
              <a:t>2</a:t>
            </a:r>
            <a:r>
              <a:rPr lang="zh-CN" altLang="en-US" sz="3600" b="1" dirty="0"/>
              <a:t>：架构设计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CE6473-5200-8622-1E3E-B323E2926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46" y="1726975"/>
            <a:ext cx="10336107" cy="270212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066CB11-13D4-ABC2-AA0E-5796EB649052}"/>
              </a:ext>
            </a:extLst>
          </p:cNvPr>
          <p:cNvSpPr txBox="1"/>
          <p:nvPr/>
        </p:nvSpPr>
        <p:spPr>
          <a:xfrm>
            <a:off x="1269998" y="4721230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MBRS </a:t>
            </a:r>
            <a:r>
              <a:rPr lang="zh-CN" altLang="en-US" dirty="0"/>
              <a:t>的架构图，模型各个部分都封装为类，在训练新模型时，实例化这些对象并传入参数</a:t>
            </a:r>
          </a:p>
        </p:txBody>
      </p:sp>
    </p:spTree>
    <p:extLst>
      <p:ext uri="{BB962C8B-B14F-4D97-AF65-F5344CB8AC3E}">
        <p14:creationId xmlns:p14="http://schemas.microsoft.com/office/powerpoint/2010/main" val="725404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274AB-7FAD-40D8-DA9D-27E13331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FD979DB-A58E-A5CA-9F3A-C69999A2851D}"/>
              </a:ext>
            </a:extLst>
          </p:cNvPr>
          <p:cNvSpPr txBox="1"/>
          <p:nvPr/>
        </p:nvSpPr>
        <p:spPr>
          <a:xfrm>
            <a:off x="724619" y="603849"/>
            <a:ext cx="4871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直观认识 </a:t>
            </a:r>
            <a:r>
              <a:rPr lang="en-US" altLang="zh-CN" sz="3600" b="1" dirty="0"/>
              <a:t>3</a:t>
            </a:r>
            <a:r>
              <a:rPr lang="zh-CN" altLang="en-US" sz="3600" b="1" dirty="0"/>
              <a:t>：游戏设计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D598EB-0C2F-ADE6-7A0D-30FBA06F2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31" y="1510452"/>
            <a:ext cx="8241143" cy="512402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DE1879E-1322-DB79-1B96-1079929AFEA1}"/>
              </a:ext>
            </a:extLst>
          </p:cNvPr>
          <p:cNvSpPr txBox="1"/>
          <p:nvPr/>
        </p:nvSpPr>
        <p:spPr>
          <a:xfrm>
            <a:off x="9255661" y="1686561"/>
            <a:ext cx="2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任何交互对象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可操作人物、</a:t>
            </a:r>
            <a:r>
              <a:rPr lang="en-US" altLang="zh-CN" dirty="0"/>
              <a:t>UI</a:t>
            </a:r>
            <a:r>
              <a:rPr lang="zh-CN" altLang="en-US" dirty="0"/>
              <a:t>、特效都经由类实例化</a:t>
            </a: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178DA4-E4EA-6F82-4C9A-9A2A16EE16AA}"/>
              </a:ext>
            </a:extLst>
          </p:cNvPr>
          <p:cNvSpPr/>
          <p:nvPr/>
        </p:nvSpPr>
        <p:spPr>
          <a:xfrm>
            <a:off x="6096000" y="3068320"/>
            <a:ext cx="1022773" cy="1022773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BD66884-2B55-5925-877B-822314173B4F}"/>
              </a:ext>
            </a:extLst>
          </p:cNvPr>
          <p:cNvCxnSpPr>
            <a:cxnSpLocks/>
          </p:cNvCxnSpPr>
          <p:nvPr/>
        </p:nvCxnSpPr>
        <p:spPr>
          <a:xfrm>
            <a:off x="7118773" y="3623733"/>
            <a:ext cx="265514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0F0F243-A9FB-F681-0CC7-0F5DA3132D51}"/>
              </a:ext>
            </a:extLst>
          </p:cNvPr>
          <p:cNvSpPr txBox="1"/>
          <p:nvPr/>
        </p:nvSpPr>
        <p:spPr>
          <a:xfrm>
            <a:off x="9237345" y="3745931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动画播放完后，执行实例化</a:t>
            </a:r>
            <a:endParaRPr lang="en-US" altLang="zh-CN" dirty="0"/>
          </a:p>
          <a:p>
            <a:r>
              <a:rPr lang="zh-CN" altLang="en-US" dirty="0"/>
              <a:t>代码生成新的敌人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73D492-0E22-C2E6-0DFD-CE2A84B6D986}"/>
              </a:ext>
            </a:extLst>
          </p:cNvPr>
          <p:cNvSpPr txBox="1"/>
          <p:nvPr/>
        </p:nvSpPr>
        <p:spPr>
          <a:xfrm>
            <a:off x="9237345" y="5737015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Unity </a:t>
            </a:r>
            <a:r>
              <a:rPr lang="zh-CN" altLang="en-US" dirty="0"/>
              <a:t>引擎使用的 </a:t>
            </a:r>
            <a:r>
              <a:rPr lang="en-US" altLang="zh-CN" dirty="0"/>
              <a:t>C# </a:t>
            </a:r>
            <a:r>
              <a:rPr lang="zh-CN" altLang="en-US" dirty="0"/>
              <a:t>或是</a:t>
            </a:r>
            <a:endParaRPr lang="en-US" altLang="zh-CN" dirty="0"/>
          </a:p>
          <a:p>
            <a:r>
              <a:rPr lang="zh-CN" altLang="en-US" dirty="0"/>
              <a:t>其它语言都是面向对象类型</a:t>
            </a:r>
          </a:p>
        </p:txBody>
      </p:sp>
    </p:spTree>
    <p:extLst>
      <p:ext uri="{BB962C8B-B14F-4D97-AF65-F5344CB8AC3E}">
        <p14:creationId xmlns:p14="http://schemas.microsoft.com/office/powerpoint/2010/main" val="952890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70481-6BD9-95C8-8074-06A87F85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FA20B9-E370-0C80-412D-FA8C4DF50DB2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6D4C56-B7B8-01A0-FC0A-7F44D85FFA95}"/>
              </a:ext>
            </a:extLst>
          </p:cNvPr>
          <p:cNvSpPr txBox="1"/>
          <p:nvPr/>
        </p:nvSpPr>
        <p:spPr>
          <a:xfrm>
            <a:off x="1475115" y="2736502"/>
            <a:ext cx="97686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面向对象编程的例子（直观认识）</a:t>
            </a:r>
            <a:endParaRPr lang="en-US" altLang="zh-CN" sz="2800" dirty="0"/>
          </a:p>
          <a:p>
            <a:endParaRPr lang="en-US" altLang="zh-CN" sz="2800" dirty="0">
              <a:solidFill>
                <a:schemeClr val="accent2"/>
              </a:solidFill>
            </a:endParaRPr>
          </a:p>
          <a:p>
            <a:r>
              <a:rPr lang="zh-CN" altLang="en-US" sz="2800" dirty="0">
                <a:solidFill>
                  <a:schemeClr val="accent2"/>
                </a:solidFill>
              </a:rPr>
              <a:t>类的定义、继承与多态</a:t>
            </a:r>
            <a:endParaRPr lang="en-US" altLang="zh-CN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39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1D7A7BC6-1A8C-5A1E-05C9-C7C209911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58" y="2294206"/>
            <a:ext cx="8047619" cy="431428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59BA4F6-BCE0-182E-AD69-C67B65F95608}"/>
              </a:ext>
            </a:extLst>
          </p:cNvPr>
          <p:cNvSpPr txBox="1"/>
          <p:nvPr/>
        </p:nvSpPr>
        <p:spPr>
          <a:xfrm>
            <a:off x="724619" y="603849"/>
            <a:ext cx="4065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类的定义与 </a:t>
            </a:r>
            <a:r>
              <a:rPr lang="en-US" altLang="zh-CN" sz="3600" b="1" dirty="0"/>
              <a:t>__</a:t>
            </a:r>
            <a:r>
              <a:rPr lang="en-US" altLang="zh-CN" sz="3600" b="1" dirty="0" err="1"/>
              <a:t>init</a:t>
            </a:r>
            <a:r>
              <a:rPr lang="en-US" altLang="zh-CN" sz="3600" b="1" dirty="0"/>
              <a:t>__</a:t>
            </a:r>
            <a:endParaRPr lang="zh-CN" altLang="en-US" sz="36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6E2A2D-37C2-E493-1B9F-1F2DAA4CA545}"/>
              </a:ext>
            </a:extLst>
          </p:cNvPr>
          <p:cNvSpPr txBox="1"/>
          <p:nvPr/>
        </p:nvSpPr>
        <p:spPr>
          <a:xfrm>
            <a:off x="724619" y="1659215"/>
            <a:ext cx="90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类以关键字 </a:t>
            </a:r>
            <a:r>
              <a:rPr lang="en-US" altLang="zh-CN" sz="2000" dirty="0"/>
              <a:t>class </a:t>
            </a:r>
            <a:r>
              <a:rPr lang="zh-CN" altLang="en-US" sz="2000" dirty="0"/>
              <a:t>声明，且必须指定其构造函数 </a:t>
            </a:r>
            <a:r>
              <a:rPr lang="en-US" altLang="zh-CN" sz="2000" dirty="0"/>
              <a:t>__</a:t>
            </a:r>
            <a:r>
              <a:rPr lang="en-US" altLang="zh-CN" sz="2000" dirty="0" err="1"/>
              <a:t>init</a:t>
            </a:r>
            <a:r>
              <a:rPr lang="en-US" altLang="zh-CN" sz="2000" dirty="0"/>
              <a:t>__</a:t>
            </a:r>
            <a:endParaRPr lang="zh-CN" altLang="en-US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F2EB38-8DBC-A8D8-BE20-35B92902C35E}"/>
              </a:ext>
            </a:extLst>
          </p:cNvPr>
          <p:cNvSpPr/>
          <p:nvPr/>
        </p:nvSpPr>
        <p:spPr>
          <a:xfrm>
            <a:off x="1219200" y="2891367"/>
            <a:ext cx="6841066" cy="96943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5E4617A-F7F1-167D-2FB1-C69C5316E92D}"/>
              </a:ext>
            </a:extLst>
          </p:cNvPr>
          <p:cNvCxnSpPr>
            <a:cxnSpLocks/>
          </p:cNvCxnSpPr>
          <p:nvPr/>
        </p:nvCxnSpPr>
        <p:spPr>
          <a:xfrm>
            <a:off x="8060266" y="3352799"/>
            <a:ext cx="776817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6574EFE-9F73-8C00-2216-71C001DC99C1}"/>
              </a:ext>
            </a:extLst>
          </p:cNvPr>
          <p:cNvSpPr txBox="1"/>
          <p:nvPr/>
        </p:nvSpPr>
        <p:spPr>
          <a:xfrm>
            <a:off x="8904914" y="2687987"/>
            <a:ext cx="30893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构造函数</a:t>
            </a:r>
            <a:endParaRPr lang="en-US" altLang="zh-CN" dirty="0"/>
          </a:p>
          <a:p>
            <a:r>
              <a:rPr lang="zh-CN" altLang="en-US" dirty="0"/>
              <a:t>魔法方法，双下划线包围</a:t>
            </a:r>
            <a:endParaRPr lang="en-US" altLang="zh-CN" dirty="0"/>
          </a:p>
          <a:p>
            <a:r>
              <a:rPr lang="zh-CN" altLang="en-US" dirty="0"/>
              <a:t>会自动执行</a:t>
            </a:r>
            <a:endParaRPr lang="en-US" altLang="zh-CN" dirty="0"/>
          </a:p>
          <a:p>
            <a:r>
              <a:rPr lang="en-US" altLang="zh-CN" dirty="0"/>
              <a:t>self/this </a:t>
            </a:r>
            <a:r>
              <a:rPr lang="zh-CN" altLang="en-US" dirty="0"/>
              <a:t>指代被示例化的对象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BBD187-121B-C1E1-3CA6-1B3F0B003BA9}"/>
              </a:ext>
            </a:extLst>
          </p:cNvPr>
          <p:cNvSpPr/>
          <p:nvPr/>
        </p:nvSpPr>
        <p:spPr>
          <a:xfrm>
            <a:off x="1202267" y="5092864"/>
            <a:ext cx="7027333" cy="71476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D77714C-86EA-CC14-F6D5-EA4B2F7A88CF}"/>
              </a:ext>
            </a:extLst>
          </p:cNvPr>
          <p:cNvCxnSpPr>
            <a:cxnSpLocks/>
          </p:cNvCxnSpPr>
          <p:nvPr/>
        </p:nvCxnSpPr>
        <p:spPr>
          <a:xfrm>
            <a:off x="8229600" y="5507567"/>
            <a:ext cx="77681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1A7564B-460E-8483-4E6C-1756DF8F99E0}"/>
              </a:ext>
            </a:extLst>
          </p:cNvPr>
          <p:cNvSpPr txBox="1"/>
          <p:nvPr/>
        </p:nvSpPr>
        <p:spPr>
          <a:xfrm>
            <a:off x="9006417" y="5198785"/>
            <a:ext cx="20313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自定义公共方法</a:t>
            </a:r>
            <a:endParaRPr lang="en-US" altLang="zh-CN" dirty="0"/>
          </a:p>
          <a:p>
            <a:r>
              <a:rPr lang="zh-CN" altLang="en-US" dirty="0"/>
              <a:t>一般函数命名格式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83DF70-C8E6-845A-092E-BDD37DB485CD}"/>
              </a:ext>
            </a:extLst>
          </p:cNvPr>
          <p:cNvSpPr/>
          <p:nvPr/>
        </p:nvSpPr>
        <p:spPr>
          <a:xfrm>
            <a:off x="1219199" y="3966632"/>
            <a:ext cx="7416801" cy="96943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E8266D-B75B-530A-27BD-FCE92EE03B7B}"/>
              </a:ext>
            </a:extLst>
          </p:cNvPr>
          <p:cNvSpPr txBox="1"/>
          <p:nvPr/>
        </p:nvSpPr>
        <p:spPr>
          <a:xfrm>
            <a:off x="9002901" y="3989684"/>
            <a:ext cx="27238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约定俗成的私有方法</a:t>
            </a:r>
            <a:endParaRPr lang="en-US" altLang="zh-CN" dirty="0"/>
          </a:p>
          <a:p>
            <a:r>
              <a:rPr lang="zh-CN" altLang="en-US" dirty="0"/>
              <a:t>以单下划线开头</a:t>
            </a:r>
            <a:endParaRPr lang="en-US" altLang="zh-CN" dirty="0"/>
          </a:p>
          <a:p>
            <a:r>
              <a:rPr lang="zh-CN" altLang="en-US" dirty="0"/>
              <a:t>实际上还是可以外部调用</a:t>
            </a:r>
            <a:endParaRPr lang="en-US" altLang="zh-CN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3E9DED3-EA8E-193F-1589-26DD86AFBFDE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8635772" y="4451349"/>
            <a:ext cx="367129" cy="20109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7701DD02-BA75-EF80-215B-C91A87C6842B}"/>
              </a:ext>
            </a:extLst>
          </p:cNvPr>
          <p:cNvSpPr txBox="1"/>
          <p:nvPr/>
        </p:nvSpPr>
        <p:spPr>
          <a:xfrm>
            <a:off x="9065969" y="622322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实例化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2F1294D-46F9-7238-6D5A-0360A78AF5BD}"/>
              </a:ext>
            </a:extLst>
          </p:cNvPr>
          <p:cNvCxnSpPr>
            <a:cxnSpLocks/>
          </p:cNvCxnSpPr>
          <p:nvPr/>
        </p:nvCxnSpPr>
        <p:spPr>
          <a:xfrm>
            <a:off x="5672667" y="6395186"/>
            <a:ext cx="3330234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052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A9A2C-5992-49D7-5E09-E0B4C34D3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170C781-1047-256E-3A08-A2F0ED7AEC56}"/>
              </a:ext>
            </a:extLst>
          </p:cNvPr>
          <p:cNvSpPr txBox="1"/>
          <p:nvPr/>
        </p:nvSpPr>
        <p:spPr>
          <a:xfrm>
            <a:off x="724619" y="603849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继承与多态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3A288BD-791D-5EF2-D84D-D69018FF7E8C}"/>
              </a:ext>
            </a:extLst>
          </p:cNvPr>
          <p:cNvSpPr txBox="1"/>
          <p:nvPr/>
        </p:nvSpPr>
        <p:spPr>
          <a:xfrm>
            <a:off x="873940" y="2163433"/>
            <a:ext cx="5519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继承</a:t>
            </a:r>
            <a:r>
              <a:rPr lang="zh-CN" altLang="en-US" dirty="0"/>
              <a:t>：子类能够继承父类的公共方法、公共变量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子类若没有重写 </a:t>
            </a:r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</a:t>
            </a:r>
            <a:r>
              <a:rPr lang="zh-CN" altLang="en-US" dirty="0"/>
              <a:t>，则默认调用父类的 </a:t>
            </a:r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D32253-73F8-C737-25DB-0A5F3D457473}"/>
              </a:ext>
            </a:extLst>
          </p:cNvPr>
          <p:cNvSpPr txBox="1"/>
          <p:nvPr/>
        </p:nvSpPr>
        <p:spPr>
          <a:xfrm>
            <a:off x="2970604" y="4963544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super </a:t>
            </a:r>
            <a:r>
              <a:rPr lang="zh-CN" altLang="en-US" sz="1600" dirty="0"/>
              <a:t>一词作为词缀有 </a:t>
            </a:r>
            <a:r>
              <a:rPr lang="en-US" altLang="zh-CN" sz="1600" dirty="0"/>
              <a:t>“</a:t>
            </a:r>
            <a:r>
              <a:rPr lang="zh-CN" altLang="en-US" sz="1600" dirty="0"/>
              <a:t>在</a:t>
            </a:r>
            <a:r>
              <a:rPr lang="en-US" altLang="zh-CN" sz="1600" dirty="0"/>
              <a:t>…</a:t>
            </a:r>
            <a:r>
              <a:rPr lang="zh-CN" altLang="en-US" sz="1600" dirty="0"/>
              <a:t>之上</a:t>
            </a:r>
            <a:r>
              <a:rPr lang="en-US" altLang="zh-CN" sz="1600" dirty="0"/>
              <a:t>” </a:t>
            </a:r>
            <a:r>
              <a:rPr lang="zh-CN" altLang="en-US" sz="1600" dirty="0"/>
              <a:t>的含义</a:t>
            </a:r>
            <a:endParaRPr lang="en-US" altLang="zh-CN" sz="1600" dirty="0"/>
          </a:p>
          <a:p>
            <a:r>
              <a:rPr lang="en-US" altLang="zh-CN" sz="1600" dirty="0"/>
              <a:t>supervise, superimpose, superposition …</a:t>
            </a:r>
          </a:p>
          <a:p>
            <a:r>
              <a:rPr lang="zh-CN" altLang="en-US" sz="1600" dirty="0"/>
              <a:t>这里用来指代 “位居子类上方” 的父类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F35B4D6-66EB-9F53-FA6C-2B42FEA9A10C}"/>
              </a:ext>
            </a:extLst>
          </p:cNvPr>
          <p:cNvSpPr txBox="1"/>
          <p:nvPr/>
        </p:nvSpPr>
        <p:spPr>
          <a:xfrm>
            <a:off x="873940" y="3771238"/>
            <a:ext cx="10764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多态</a:t>
            </a:r>
            <a:r>
              <a:rPr lang="zh-CN" altLang="en-US" dirty="0"/>
              <a:t>：子类重写（</a:t>
            </a:r>
            <a:r>
              <a:rPr lang="en-US" altLang="zh-CN" dirty="0"/>
              <a:t>override</a:t>
            </a:r>
            <a:r>
              <a:rPr lang="zh-CN" altLang="en-US" dirty="0"/>
              <a:t>）父类的方法或运算符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若要访问父类的方法，需要使用 </a:t>
            </a:r>
            <a:r>
              <a:rPr lang="en-US" altLang="zh-CN" dirty="0"/>
              <a:t>super()</a:t>
            </a:r>
            <a:r>
              <a:rPr lang="zh-CN" altLang="en-US" dirty="0"/>
              <a:t>；若是重写运算符，则直接在子类中定义</a:t>
            </a:r>
            <a:r>
              <a:rPr lang="zh-CN" altLang="en-US" b="1" dirty="0"/>
              <a:t>魔法方法</a:t>
            </a:r>
            <a:r>
              <a:rPr lang="zh-CN" altLang="en-US" dirty="0"/>
              <a:t>（如 </a:t>
            </a:r>
            <a:r>
              <a:rPr lang="en-US" altLang="zh-CN" dirty="0"/>
              <a:t>__add__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E646D1-D312-F548-30EF-58B903BA5386}"/>
              </a:ext>
            </a:extLst>
          </p:cNvPr>
          <p:cNvSpPr txBox="1"/>
          <p:nvPr/>
        </p:nvSpPr>
        <p:spPr>
          <a:xfrm>
            <a:off x="7431707" y="4963544"/>
            <a:ext cx="42819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参见本次实验中的 </a:t>
            </a:r>
            <a:r>
              <a:rPr lang="en-US" altLang="zh-CN" sz="1600" dirty="0"/>
              <a:t>Rational </a:t>
            </a:r>
            <a:r>
              <a:rPr lang="zh-CN" altLang="en-US" sz="1600" dirty="0"/>
              <a:t>类</a:t>
            </a:r>
            <a:endParaRPr lang="en-US" altLang="zh-CN" sz="1600" dirty="0"/>
          </a:p>
          <a:p>
            <a:r>
              <a:rPr lang="zh-CN" altLang="en-US" sz="1600" dirty="0"/>
              <a:t>其重写了作为 </a:t>
            </a:r>
            <a:r>
              <a:rPr lang="en-US" altLang="zh-CN" sz="1600" dirty="0"/>
              <a:t>Python </a:t>
            </a:r>
            <a:r>
              <a:rPr lang="zh-CN" altLang="en-US" sz="1600" dirty="0"/>
              <a:t>对象的运算符</a:t>
            </a:r>
            <a:endParaRPr lang="en-US" altLang="zh-CN" sz="1600" dirty="0"/>
          </a:p>
          <a:p>
            <a:r>
              <a:rPr lang="zh-CN" altLang="en-US" sz="1600" dirty="0"/>
              <a:t>“万物皆对象”，</a:t>
            </a:r>
            <a:r>
              <a:rPr lang="en-US" altLang="zh-CN" sz="1600" dirty="0"/>
              <a:t>Python </a:t>
            </a:r>
            <a:r>
              <a:rPr lang="zh-CN" altLang="en-US" sz="1600" dirty="0"/>
              <a:t>的数据类型本质也是类</a:t>
            </a:r>
          </a:p>
        </p:txBody>
      </p:sp>
    </p:spTree>
    <p:extLst>
      <p:ext uri="{BB962C8B-B14F-4D97-AF65-F5344CB8AC3E}">
        <p14:creationId xmlns:p14="http://schemas.microsoft.com/office/powerpoint/2010/main" val="3097136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6A2E518-0CAF-DB06-629D-B8DB222B9ED8}"/>
              </a:ext>
            </a:extLst>
          </p:cNvPr>
          <p:cNvSpPr txBox="1"/>
          <p:nvPr/>
        </p:nvSpPr>
        <p:spPr>
          <a:xfrm>
            <a:off x="724619" y="603849"/>
            <a:ext cx="4825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继承与多态：综合示例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CBB37A-920F-F4E7-A4E6-DC53D2DA0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9" y="1379764"/>
            <a:ext cx="5480238" cy="286012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C81E331-3C20-2EBD-E90B-DFC0D28F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128" y="1379764"/>
            <a:ext cx="4933983" cy="511900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1B60D65-83CD-AB8D-CC17-FE0A6BAB2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19" y="4268672"/>
            <a:ext cx="4825360" cy="22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6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365</Words>
  <Application>Microsoft Office PowerPoint</Application>
  <PresentationFormat>宽屏</PresentationFormat>
  <Paragraphs>53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OvO QwQ</dc:creator>
  <cp:lastModifiedBy>OvO QwQ</cp:lastModifiedBy>
  <cp:revision>13</cp:revision>
  <dcterms:created xsi:type="dcterms:W3CDTF">2026-04-16T03:50:44Z</dcterms:created>
  <dcterms:modified xsi:type="dcterms:W3CDTF">2026-10-21T08:46:31Z</dcterms:modified>
</cp:coreProperties>
</file>