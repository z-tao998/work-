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8" r:id="rId12"/>
    <p:sldId id="279" r:id="rId13"/>
    <p:sldId id="280" r:id="rId14"/>
    <p:sldId id="281" r:id="rId15"/>
    <p:sldId id="282" r:id="rId16"/>
    <p:sldId id="268" r:id="rId17"/>
    <p:sldId id="272" r:id="rId18"/>
    <p:sldId id="285" r:id="rId19"/>
    <p:sldId id="286" r:id="rId20"/>
    <p:sldId id="269" r:id="rId21"/>
    <p:sldId id="283" r:id="rId22"/>
    <p:sldId id="270" r:id="rId23"/>
    <p:sldId id="271" r:id="rId24"/>
    <p:sldId id="28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7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D6724-8600-DC0F-3CF2-A0789F324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4014B0-67B2-4FD9-FD75-EFD07E2B6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C4676A-E128-1328-7B0E-B93C344A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8B432-3427-4932-ABB5-788E42A02AE5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F4E627-CF53-6DDB-0005-7BCFA26E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989CF3-49A8-F561-500B-407460C8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7E2B-C01A-4CDB-BC6C-5FE8689F8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205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C328B-D26A-C23A-EDB3-950EE5C03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3CFA87-6918-9A01-16E0-85AF1B50D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028BA9-F77E-7D8C-3A1B-7B482A2A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8B432-3427-4932-ABB5-788E42A02AE5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D40EF4-6734-BCEB-6CED-F4ABD44C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130A59-78A5-3F3C-2614-24637592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7E2B-C01A-4CDB-BC6C-5FE8689F8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30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854FE-904A-80B6-6E48-639A106CB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520DF8-8CBF-E442-0F94-71DC8E7FC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E884B-6B43-71D9-CC85-5989FDB7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8B432-3427-4932-ABB5-788E42A02AE5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C73F3-28F6-64F7-5A75-6E7564793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2B9A21-98FA-47EF-B1F8-BA71DC8E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7E2B-C01A-4CDB-BC6C-5FE8689F8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36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D7DB9-343B-E312-DBF6-26E5524BD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A61C04-74D4-849E-87D3-AB6D81B55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36C17B-760C-1A9E-E904-BFCE07AAA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217201-82CF-19C4-C7AE-F859C872A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8B432-3427-4932-ABB5-788E42A02AE5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79DD75-06C2-DFC3-7A55-129505A3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0C917C-47DF-8F7B-B2AF-2E559F79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7E2B-C01A-4CDB-BC6C-5FE8689F8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646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ACCA1-F309-4FA3-94FE-85244D740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0D0412-1775-BF5F-FC12-12CB56ED4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8D641-F0C1-E9E2-9902-F0B33CEB1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B2A247-47F5-D0EC-6CE8-293F89F18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24F1CB-FCCF-A680-A4CB-360C9B85F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60675E-AA4E-AE9A-482B-466AFAEA2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8B432-3427-4932-ABB5-788E42A02AE5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3A1DA4-DFD8-DDF7-2F18-B9E923278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6A0BF9-48D3-EA31-1566-90BC7695C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7E2B-C01A-4CDB-BC6C-5FE8689F8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541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B00A64-28FB-8F25-F115-69B7B8B1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4B013A-E6B6-922A-2FC0-38C30D823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8B432-3427-4932-ABB5-788E42A02AE5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22AAAD-F184-5C32-AD73-B177D3F84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8885E0-34B5-1893-B8A7-C3BD73340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7E2B-C01A-4CDB-BC6C-5FE8689F8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515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2C9482-84AB-067D-06BB-5CDDE685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8B432-3427-4932-ABB5-788E42A02AE5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A52FD8-13C0-5AE1-7C23-C77B1552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89E38E-CAE1-E162-1B9B-7D003482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7E2B-C01A-4CDB-BC6C-5FE8689F8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55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6DCFE-A6E3-C36A-E34E-BE27D521B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B5E3AC-3E3A-9FF0-1AA6-4BAFE9FE9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DB8AE5-7106-C208-7DAD-500653A24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44794-5E0B-640D-DA22-CB000DBC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8B432-3427-4932-ABB5-788E42A02AE5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84FA7B-B4B7-391B-EC31-EC9A98EB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B8F218-9167-EEEA-0C84-666F6FC4A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7E2B-C01A-4CDB-BC6C-5FE8689F8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991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05574-39FA-9251-3086-354575D4A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BA8665-E592-1541-D71E-312A4ACB2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5A72C6-DD63-8BDD-DCB3-43D08E182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D99653-6DFD-D3D3-57AC-C5A2C9E6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8B432-3427-4932-ABB5-788E42A02AE5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2823A8-74EE-C692-0DFD-3C691C7BF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50A656-BDEE-4D5B-678F-91FDAE5D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7E2B-C01A-4CDB-BC6C-5FE8689F8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A56F5-A6DF-8DF9-0E34-FAA030845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627ACB-CA72-E69F-6B0A-B99B40DFF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C95E79-81F7-1FDC-BE93-B167D1A29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8B432-3427-4932-ABB5-788E42A02AE5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4836D-360E-8B14-81CE-31D69121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47DFE5-8DF2-5904-2A35-014198917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7E2B-C01A-4CDB-BC6C-5FE8689F8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416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018C4C-C5B1-4733-2AF5-558B74A0A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08F047-812E-BB82-1F1D-04B536B9C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FFD31B-BFEB-DDFD-E4C7-F367131C9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8B432-3427-4932-ABB5-788E42A02AE5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2CC91C-C7B8-CC13-4AA8-A846FE4C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0C325E-1DE3-ABA7-99B3-18CAD394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17E2B-C01A-4CDB-BC6C-5FE8689F8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91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2847A5-3362-BED0-5621-BCA9D472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28CE32-53BF-77ED-0CEC-D00D897A8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D62F4B-7180-8CA0-FE98-98D33BBA2A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8B432-3427-4932-ABB5-788E42A02AE5}" type="datetimeFigureOut">
              <a:rPr lang="zh-CN" altLang="en-US" smtClean="0"/>
              <a:t>2026-09-13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5C64DC-EFC6-BB57-8B0A-4AAE5E870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80853B-004F-184C-9A8E-3EC5046CC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17E2B-C01A-4CDB-BC6C-5FE8689F8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025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erhyi@mail.ustc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ADCD92A-2C3C-2897-308B-F3270E0972E6}"/>
              </a:ext>
            </a:extLst>
          </p:cNvPr>
          <p:cNvSpPr txBox="1"/>
          <p:nvPr/>
        </p:nvSpPr>
        <p:spPr>
          <a:xfrm>
            <a:off x="4208303" y="2721114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/>
              <a:t>第一次基础实验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D309E8-CF87-2035-68A4-ED6749F72C4A}"/>
              </a:ext>
            </a:extLst>
          </p:cNvPr>
          <p:cNvSpPr txBox="1"/>
          <p:nvPr/>
        </p:nvSpPr>
        <p:spPr>
          <a:xfrm>
            <a:off x="4768553" y="4425351"/>
            <a:ext cx="26548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SA26010061 </a:t>
            </a:r>
            <a:r>
              <a:rPr lang="zh-CN" altLang="en-US" dirty="0"/>
              <a:t>张建</a:t>
            </a:r>
            <a:endParaRPr lang="en-US" altLang="zh-CN" dirty="0"/>
          </a:p>
          <a:p>
            <a:pPr algn="ctr"/>
            <a:r>
              <a:rPr lang="en-US" altLang="zh-CN" dirty="0">
                <a:hlinkClick r:id="rId2"/>
              </a:rPr>
              <a:t>merhyi@mail.ustc.edu.cn</a:t>
            </a:r>
            <a:endParaRPr lang="en-US" altLang="zh-CN" dirty="0"/>
          </a:p>
          <a:p>
            <a:pPr algn="ctr"/>
            <a:r>
              <a:rPr lang="en-US" altLang="zh-CN" dirty="0"/>
              <a:t>2026.9.20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1280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808423A-8A88-22BC-D3A5-7A8BFEA76E9C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B812EF-FA2D-CF6A-2F49-0EB27251F955}"/>
              </a:ext>
            </a:extLst>
          </p:cNvPr>
          <p:cNvSpPr txBox="1"/>
          <p:nvPr/>
        </p:nvSpPr>
        <p:spPr>
          <a:xfrm>
            <a:off x="1475116" y="2305615"/>
            <a:ext cx="75308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实验考察内容（</a:t>
            </a:r>
            <a:r>
              <a:rPr lang="en-US" altLang="zh-CN" sz="2800" dirty="0"/>
              <a:t>Python </a:t>
            </a:r>
            <a:r>
              <a:rPr lang="zh-CN" altLang="en-US" sz="2800" dirty="0"/>
              <a:t>介绍、变量与变量类型）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环境介绍与配置（虚拟环境与开发环境）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本次实验任务</a:t>
            </a:r>
            <a:endParaRPr lang="en-US" altLang="zh-CN" sz="2800" dirty="0"/>
          </a:p>
          <a:p>
            <a:endParaRPr lang="en-US" altLang="zh-CN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8319CD-B957-EBD8-5D82-EAF49E6CF95E}"/>
              </a:ext>
            </a:extLst>
          </p:cNvPr>
          <p:cNvSpPr txBox="1"/>
          <p:nvPr/>
        </p:nvSpPr>
        <p:spPr>
          <a:xfrm>
            <a:off x="1475116" y="2758112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70904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5B9B6-0F50-A32D-A36B-9F694F0AA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90D405B-B188-73D1-DEC8-3C2E4F6CFC4B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C3F416-BC22-7534-95CB-09B7001E613F}"/>
              </a:ext>
            </a:extLst>
          </p:cNvPr>
          <p:cNvSpPr txBox="1"/>
          <p:nvPr/>
        </p:nvSpPr>
        <p:spPr>
          <a:xfrm>
            <a:off x="1475116" y="2305615"/>
            <a:ext cx="75308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</a:rPr>
              <a:t>实验考察内容（</a:t>
            </a:r>
            <a:r>
              <a:rPr lang="en-US" altLang="zh-CN" sz="2800" b="1" dirty="0">
                <a:solidFill>
                  <a:schemeClr val="accent2"/>
                </a:solidFill>
              </a:rPr>
              <a:t>Python </a:t>
            </a:r>
            <a:r>
              <a:rPr lang="zh-CN" altLang="en-US" sz="2800" b="1" dirty="0">
                <a:solidFill>
                  <a:schemeClr val="accent2"/>
                </a:solidFill>
              </a:rPr>
              <a:t>介绍、变量与变量类型）</a:t>
            </a:r>
            <a:endParaRPr lang="en-US" altLang="zh-CN" sz="2800" b="1" dirty="0">
              <a:solidFill>
                <a:schemeClr val="accent2"/>
              </a:solidFill>
            </a:endParaRPr>
          </a:p>
          <a:p>
            <a:endParaRPr lang="en-US" altLang="zh-CN" sz="2800" dirty="0"/>
          </a:p>
          <a:p>
            <a:r>
              <a:rPr lang="zh-CN" altLang="en-US" sz="2800" dirty="0"/>
              <a:t>环境介绍与配置（虚拟环境与开发环境）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本次实验任务</a:t>
            </a:r>
            <a:endParaRPr lang="en-US" altLang="zh-CN" sz="2800" dirty="0"/>
          </a:p>
          <a:p>
            <a:endParaRPr lang="en-US" altLang="zh-CN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181DE4-BC70-DE8C-44BB-9AF790B1582F}"/>
              </a:ext>
            </a:extLst>
          </p:cNvPr>
          <p:cNvSpPr txBox="1"/>
          <p:nvPr/>
        </p:nvSpPr>
        <p:spPr>
          <a:xfrm>
            <a:off x="1475116" y="2758112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40332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D896407-DFE3-0F4B-A0F2-8F2ADDF4616B}"/>
              </a:ext>
            </a:extLst>
          </p:cNvPr>
          <p:cNvSpPr txBox="1"/>
          <p:nvPr/>
        </p:nvSpPr>
        <p:spPr>
          <a:xfrm>
            <a:off x="724619" y="603849"/>
            <a:ext cx="32063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Why Python</a:t>
            </a:r>
            <a:r>
              <a:rPr lang="zh-CN" altLang="en-US" sz="3600" b="1" dirty="0"/>
              <a:t>？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9BD634B-E7AD-E305-7588-305DF406E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059" y="918231"/>
            <a:ext cx="6363122" cy="515284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A1E5ED7-2824-4977-D7A4-7B96EC001C2E}"/>
              </a:ext>
            </a:extLst>
          </p:cNvPr>
          <p:cNvSpPr txBox="1"/>
          <p:nvPr/>
        </p:nvSpPr>
        <p:spPr>
          <a:xfrm>
            <a:off x="734739" y="2802070"/>
            <a:ext cx="441659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000" dirty="0"/>
              <a:t>简单易上手的面向对象语言</a:t>
            </a:r>
            <a:endParaRPr lang="en-US" altLang="zh-CN" sz="2000" dirty="0"/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r>
              <a:rPr lang="zh-CN" altLang="en-US" sz="2000" dirty="0"/>
              <a:t>轻量化但模块丰富、功能强大</a:t>
            </a:r>
            <a:endParaRPr lang="en-US" altLang="zh-CN" sz="2000" dirty="0"/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457200" indent="-457200">
              <a:buAutoNum type="arabicPeriod"/>
            </a:pPr>
            <a:r>
              <a:rPr lang="zh-CN" altLang="en-US" sz="2000" dirty="0"/>
              <a:t>成熟的深度学习 </a:t>
            </a:r>
            <a:r>
              <a:rPr lang="en-US" altLang="zh-CN" sz="2000" dirty="0"/>
              <a:t>&amp; </a:t>
            </a:r>
            <a:r>
              <a:rPr lang="zh-CN" altLang="en-US" sz="2000" dirty="0"/>
              <a:t>数据工程生态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9BB88E-9346-EA3D-0BAA-318CE41F289D}"/>
              </a:ext>
            </a:extLst>
          </p:cNvPr>
          <p:cNvSpPr/>
          <p:nvPr/>
        </p:nvSpPr>
        <p:spPr>
          <a:xfrm>
            <a:off x="5225143" y="1141171"/>
            <a:ext cx="6365966" cy="27344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56381D-749F-4455-9B17-565BB6866A3D}"/>
              </a:ext>
            </a:extLst>
          </p:cNvPr>
          <p:cNvSpPr txBox="1"/>
          <p:nvPr/>
        </p:nvSpPr>
        <p:spPr>
          <a:xfrm>
            <a:off x="6708039" y="6211669"/>
            <a:ext cx="3613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TIOBE Index for September 2026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828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8E72A36-DFD4-F5CF-B49D-B089A20C54C8}"/>
              </a:ext>
            </a:extLst>
          </p:cNvPr>
          <p:cNvSpPr txBox="1"/>
          <p:nvPr/>
        </p:nvSpPr>
        <p:spPr>
          <a:xfrm>
            <a:off x="724619" y="603849"/>
            <a:ext cx="5503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First thing u should know</a:t>
            </a:r>
            <a:endParaRPr lang="zh-CN" altLang="en-US" sz="36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EB4E74-8FC1-2296-29E8-5D5BA01BDB7A}"/>
              </a:ext>
            </a:extLst>
          </p:cNvPr>
          <p:cNvSpPr txBox="1"/>
          <p:nvPr/>
        </p:nvSpPr>
        <p:spPr>
          <a:xfrm>
            <a:off x="724619" y="1518249"/>
            <a:ext cx="4636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C </a:t>
            </a:r>
            <a:r>
              <a:rPr lang="zh-CN" altLang="en-US" sz="2400" dirty="0"/>
              <a:t>语言与 </a:t>
            </a:r>
            <a:r>
              <a:rPr lang="en-US" altLang="zh-CN" sz="2400" dirty="0"/>
              <a:t>Python </a:t>
            </a:r>
            <a:r>
              <a:rPr lang="zh-CN" altLang="en-US" sz="2400" dirty="0"/>
              <a:t>的</a:t>
            </a:r>
            <a:r>
              <a:rPr lang="zh-CN" altLang="en-US" sz="2400" b="1" dirty="0"/>
              <a:t>一些</a:t>
            </a:r>
            <a:r>
              <a:rPr lang="zh-CN" altLang="en-US" sz="2400" dirty="0"/>
              <a:t>关键区别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923C51-5A8F-5EB0-29FB-FE6CEF59C09C}"/>
              </a:ext>
            </a:extLst>
          </p:cNvPr>
          <p:cNvSpPr txBox="1"/>
          <p:nvPr/>
        </p:nvSpPr>
        <p:spPr>
          <a:xfrm>
            <a:off x="1388853" y="2682816"/>
            <a:ext cx="7896714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000" dirty="0"/>
              <a:t>面向过程（</a:t>
            </a:r>
            <a:r>
              <a:rPr lang="en-US" altLang="zh-CN" sz="2000" dirty="0"/>
              <a:t>procedure oriented</a:t>
            </a:r>
            <a:r>
              <a:rPr lang="zh-CN" altLang="en-US" sz="2000" dirty="0"/>
              <a:t>） </a:t>
            </a:r>
            <a:r>
              <a:rPr lang="en-US" altLang="zh-CN" sz="2000" dirty="0"/>
              <a:t>vs </a:t>
            </a:r>
            <a:r>
              <a:rPr lang="zh-CN" altLang="en-US" sz="2000" dirty="0"/>
              <a:t>面向对象（</a:t>
            </a:r>
            <a:r>
              <a:rPr lang="en-US" altLang="zh-CN" sz="2000" dirty="0"/>
              <a:t>object oriented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342900" indent="-342900">
              <a:buAutoNum type="arabicPeriod"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编译型 </a:t>
            </a:r>
            <a:r>
              <a:rPr lang="en-US" altLang="zh-CN" sz="2000" dirty="0"/>
              <a:t>vs </a:t>
            </a:r>
            <a:r>
              <a:rPr lang="zh-CN" altLang="en-US" sz="2000" dirty="0"/>
              <a:t>解释型</a:t>
            </a:r>
            <a:endParaRPr lang="en-US" altLang="zh-CN" sz="2000" dirty="0"/>
          </a:p>
          <a:p>
            <a:pPr marL="342900" indent="-342900">
              <a:buAutoNum type="arabicPeriod"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变量类型的差别：静态型 </a:t>
            </a:r>
            <a:r>
              <a:rPr lang="en-US" altLang="zh-CN" sz="2000" dirty="0"/>
              <a:t>vs </a:t>
            </a:r>
            <a:r>
              <a:rPr lang="zh-CN" altLang="en-US" sz="2000" dirty="0"/>
              <a:t>动态型</a:t>
            </a:r>
            <a:endParaRPr lang="en-US" altLang="zh-CN" sz="2000" dirty="0"/>
          </a:p>
          <a:p>
            <a:pPr marL="342900" indent="-342900">
              <a:buAutoNum type="arabicPeriod"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代码块的界定方式：花括号 </a:t>
            </a:r>
            <a:r>
              <a:rPr lang="en-US" altLang="zh-CN" sz="2000" dirty="0"/>
              <a:t>{} vs </a:t>
            </a:r>
            <a:r>
              <a:rPr lang="zh-CN" altLang="en-US" sz="2000" dirty="0"/>
              <a:t>缩进</a:t>
            </a:r>
            <a:endParaRPr lang="en-US" altLang="zh-CN" sz="2000" dirty="0"/>
          </a:p>
          <a:p>
            <a:pPr marL="342900" indent="-342900">
              <a:buAutoNum type="arabicPeriod"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生态系统：标准库造轮子 </a:t>
            </a:r>
            <a:r>
              <a:rPr lang="en-US" altLang="zh-CN" sz="2000" dirty="0"/>
              <a:t>vs </a:t>
            </a:r>
            <a:r>
              <a:rPr lang="zh-CN" altLang="en-US" sz="2000" dirty="0"/>
              <a:t>大量的扩展库</a:t>
            </a:r>
            <a:endParaRPr lang="en-US" altLang="zh-CN" sz="2000" dirty="0"/>
          </a:p>
          <a:p>
            <a:pPr marL="342900" indent="-342900">
              <a:buAutoNum type="arabicPeriod"/>
            </a:pPr>
            <a:endParaRPr lang="en-US" altLang="zh-CN" sz="2000" dirty="0"/>
          </a:p>
          <a:p>
            <a:pPr marL="342900" indent="-342900">
              <a:buAutoNum type="arabicPeriod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47434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365AD2D-97A3-2DEB-CCDC-BE6294A59F50}"/>
              </a:ext>
            </a:extLst>
          </p:cNvPr>
          <p:cNvSpPr txBox="1"/>
          <p:nvPr/>
        </p:nvSpPr>
        <p:spPr>
          <a:xfrm>
            <a:off x="724619" y="603849"/>
            <a:ext cx="4564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面向过程 </a:t>
            </a:r>
            <a:r>
              <a:rPr lang="en-US" altLang="zh-CN" sz="3600" b="1" dirty="0"/>
              <a:t>vs </a:t>
            </a:r>
            <a:r>
              <a:rPr lang="zh-CN" altLang="en-US" sz="3600" b="1" dirty="0"/>
              <a:t>面向对象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29C060-DC3B-AD97-A715-41F38A1581E2}"/>
              </a:ext>
            </a:extLst>
          </p:cNvPr>
          <p:cNvSpPr txBox="1"/>
          <p:nvPr/>
        </p:nvSpPr>
        <p:spPr>
          <a:xfrm>
            <a:off x="1026543" y="1630393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面向过程</a:t>
            </a:r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815F4D-9B52-1695-0448-3928719BCC12}"/>
              </a:ext>
            </a:extLst>
          </p:cNvPr>
          <p:cNvSpPr txBox="1"/>
          <p:nvPr/>
        </p:nvSpPr>
        <p:spPr>
          <a:xfrm>
            <a:off x="1026543" y="2857570"/>
            <a:ext cx="524374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1. </a:t>
            </a:r>
            <a:r>
              <a:rPr lang="zh-CN" altLang="en-US" sz="2000" dirty="0"/>
              <a:t>将任务用步骤</a:t>
            </a:r>
            <a:r>
              <a:rPr lang="en-US" altLang="zh-CN" sz="2000" dirty="0"/>
              <a:t>/</a:t>
            </a:r>
            <a:r>
              <a:rPr lang="zh-CN" altLang="en-US" sz="2000" dirty="0"/>
              <a:t>流程描述，有清晰的流程图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2. </a:t>
            </a:r>
            <a:r>
              <a:rPr lang="zh-CN" altLang="en-US" sz="2000" dirty="0"/>
              <a:t>从主函数出发，由子函数执行具体子任务</a:t>
            </a:r>
            <a:endParaRPr lang="en-US" altLang="zh-CN" sz="2000" dirty="0"/>
          </a:p>
          <a:p>
            <a:pPr marL="342900" indent="-342900">
              <a:buAutoNum type="arabicPeriod"/>
            </a:pPr>
            <a:endParaRPr lang="en-US" altLang="zh-CN" sz="2000" dirty="0"/>
          </a:p>
          <a:p>
            <a:r>
              <a:rPr lang="en-US" altLang="zh-CN" sz="2000" dirty="0"/>
              <a:t>3. </a:t>
            </a:r>
            <a:r>
              <a:rPr lang="zh-CN" altLang="en-US" sz="2000" dirty="0"/>
              <a:t>性能优秀，运行速度快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AF68DA2-CECF-EE49-A6E4-6E9DF1D55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891" y="1813681"/>
            <a:ext cx="4385566" cy="24378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EC56955-167E-40E2-7E9F-D2732BADC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322" y="4515634"/>
            <a:ext cx="7339465" cy="198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12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F9ED-5703-F551-F4C6-A7BAE2BB2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C9D9A17-D914-C3B5-A08C-6D354CEEBFFE}"/>
              </a:ext>
            </a:extLst>
          </p:cNvPr>
          <p:cNvSpPr txBox="1"/>
          <p:nvPr/>
        </p:nvSpPr>
        <p:spPr>
          <a:xfrm>
            <a:off x="724619" y="603849"/>
            <a:ext cx="4564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面向过程 </a:t>
            </a:r>
            <a:r>
              <a:rPr lang="en-US" altLang="zh-CN" sz="3600" b="1" dirty="0"/>
              <a:t>vs </a:t>
            </a:r>
            <a:r>
              <a:rPr lang="zh-CN" altLang="en-US" sz="3600" b="1" dirty="0"/>
              <a:t>面向对象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D066D1-3FE8-D12E-F78B-25893BDCBCF9}"/>
              </a:ext>
            </a:extLst>
          </p:cNvPr>
          <p:cNvSpPr txBox="1"/>
          <p:nvPr/>
        </p:nvSpPr>
        <p:spPr>
          <a:xfrm>
            <a:off x="1026543" y="1630393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面向对象</a:t>
            </a:r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08AEAC8-77AC-2ED0-9207-EDA40AEE150D}"/>
              </a:ext>
            </a:extLst>
          </p:cNvPr>
          <p:cNvSpPr txBox="1"/>
          <p:nvPr/>
        </p:nvSpPr>
        <p:spPr>
          <a:xfrm>
            <a:off x="1082135" y="2753777"/>
            <a:ext cx="540404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000" dirty="0"/>
              <a:t>关注被操作对象的内在属性与对象间的联系</a:t>
            </a:r>
            <a:endParaRPr lang="en-US" altLang="zh-CN" sz="2000" dirty="0"/>
          </a:p>
          <a:p>
            <a:pPr marL="342900" indent="-342900">
              <a:buAutoNum type="arabicPeriod"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抽象类</a:t>
            </a:r>
            <a:r>
              <a:rPr lang="en-US" altLang="zh-CN" sz="2000" dirty="0"/>
              <a:t>-</a:t>
            </a:r>
            <a:r>
              <a:rPr lang="zh-CN" altLang="en-US" sz="2000" dirty="0"/>
              <a:t>实例化、对象</a:t>
            </a:r>
            <a:r>
              <a:rPr lang="en-US" altLang="zh-CN" sz="2000" dirty="0"/>
              <a:t>-</a:t>
            </a:r>
            <a:r>
              <a:rPr lang="zh-CN" altLang="en-US" sz="2000" dirty="0"/>
              <a:t>方法式编程</a:t>
            </a:r>
            <a:endParaRPr lang="en-US" altLang="zh-CN" sz="2000" dirty="0"/>
          </a:p>
          <a:p>
            <a:pPr marL="342900" indent="-342900">
              <a:buAutoNum type="arabicPeriod"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类、继承、多态</a:t>
            </a:r>
            <a:endParaRPr lang="en-US" altLang="zh-CN" sz="2000" dirty="0"/>
          </a:p>
          <a:p>
            <a:pPr marL="342900" indent="-342900">
              <a:buAutoNum type="arabicPeriod"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代码更直观易懂，但性能次之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FF3C501-3268-C4D2-D8FC-EA69AB2D4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097" y="1056524"/>
            <a:ext cx="3689540" cy="550573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818013B-5D1B-298F-6314-AD5B6738BE77}"/>
              </a:ext>
            </a:extLst>
          </p:cNvPr>
          <p:cNvSpPr txBox="1"/>
          <p:nvPr/>
        </p:nvSpPr>
        <p:spPr>
          <a:xfrm>
            <a:off x="742297" y="5601421"/>
            <a:ext cx="6362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简单理解：面向过程专注于流程；面向对象专注于架构</a:t>
            </a:r>
          </a:p>
        </p:txBody>
      </p:sp>
    </p:spTree>
    <p:extLst>
      <p:ext uri="{BB962C8B-B14F-4D97-AF65-F5344CB8AC3E}">
        <p14:creationId xmlns:p14="http://schemas.microsoft.com/office/powerpoint/2010/main" val="2379767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9B53875-51C4-DA6B-FEB9-6EB7EA6801C8}"/>
              </a:ext>
            </a:extLst>
          </p:cNvPr>
          <p:cNvSpPr txBox="1"/>
          <p:nvPr/>
        </p:nvSpPr>
        <p:spPr>
          <a:xfrm>
            <a:off x="724619" y="603849"/>
            <a:ext cx="3640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编译型 </a:t>
            </a:r>
            <a:r>
              <a:rPr lang="en-US" altLang="zh-CN" sz="3600" b="1" dirty="0"/>
              <a:t>vs </a:t>
            </a:r>
            <a:r>
              <a:rPr lang="zh-CN" altLang="en-US" sz="3600" b="1" dirty="0"/>
              <a:t>解释型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3C4596-03BB-F503-8654-67F6F07A8DD4}"/>
              </a:ext>
            </a:extLst>
          </p:cNvPr>
          <p:cNvSpPr txBox="1"/>
          <p:nvPr/>
        </p:nvSpPr>
        <p:spPr>
          <a:xfrm>
            <a:off x="1119526" y="186330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编译型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5B6734-1704-7024-F14A-387574B0DE68}"/>
              </a:ext>
            </a:extLst>
          </p:cNvPr>
          <p:cNvSpPr txBox="1"/>
          <p:nvPr/>
        </p:nvSpPr>
        <p:spPr>
          <a:xfrm>
            <a:off x="6665344" y="186330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解释型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C72B98-4FBE-E650-A48C-617C4111CBE5}"/>
              </a:ext>
            </a:extLst>
          </p:cNvPr>
          <p:cNvSpPr txBox="1"/>
          <p:nvPr/>
        </p:nvSpPr>
        <p:spPr>
          <a:xfrm>
            <a:off x="1119526" y="2753431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代码通过编译器编译为机器码后执行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2CD603-485D-D522-992F-4FD07BD8A243}"/>
              </a:ext>
            </a:extLst>
          </p:cNvPr>
          <p:cNvSpPr txBox="1"/>
          <p:nvPr/>
        </p:nvSpPr>
        <p:spPr>
          <a:xfrm>
            <a:off x="6665344" y="2763662"/>
            <a:ext cx="4466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代码编译为字节码后由 </a:t>
            </a:r>
            <a:r>
              <a:rPr lang="en-US" altLang="zh-CN" dirty="0"/>
              <a:t>Python </a:t>
            </a:r>
            <a:r>
              <a:rPr lang="zh-CN" altLang="en-US" dirty="0"/>
              <a:t>解释器执行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5D157B-81F2-7F7D-23FC-DA0EE8B8CB4F}"/>
              </a:ext>
            </a:extLst>
          </p:cNvPr>
          <p:cNvSpPr txBox="1"/>
          <p:nvPr/>
        </p:nvSpPr>
        <p:spPr>
          <a:xfrm>
            <a:off x="1119525" y="3464006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所编译代码必须是完整的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66D7A5-9E99-090D-7266-7DC047CECBC6}"/>
              </a:ext>
            </a:extLst>
          </p:cNvPr>
          <p:cNvSpPr txBox="1"/>
          <p:nvPr/>
        </p:nvSpPr>
        <p:spPr>
          <a:xfrm>
            <a:off x="6665344" y="3468319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可以在终端输入代码并立刻执行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D08742-3BCD-4505-BB95-24CCFCFE752B}"/>
              </a:ext>
            </a:extLst>
          </p:cNvPr>
          <p:cNvSpPr txBox="1"/>
          <p:nvPr/>
        </p:nvSpPr>
        <p:spPr>
          <a:xfrm>
            <a:off x="1119525" y="4256682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运行时报错</a:t>
            </a:r>
            <a:r>
              <a:rPr lang="zh-CN" altLang="en-US" dirty="0"/>
              <a:t>通常只会告诉你可能的原因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CDFB51-F76F-37F0-50F9-33029142E930}"/>
              </a:ext>
            </a:extLst>
          </p:cNvPr>
          <p:cNvSpPr txBox="1"/>
          <p:nvPr/>
        </p:nvSpPr>
        <p:spPr>
          <a:xfrm>
            <a:off x="6665737" y="4256682"/>
            <a:ext cx="5210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运行时报错</a:t>
            </a:r>
            <a:r>
              <a:rPr lang="zh-CN" altLang="en-US" dirty="0"/>
              <a:t>位置可以具体到某一行（</a:t>
            </a:r>
            <a:r>
              <a:rPr lang="en-US" altLang="zh-CN" dirty="0"/>
              <a:t>Traceback</a:t>
            </a:r>
            <a:r>
              <a:rPr lang="zh-CN" altLang="en-US" dirty="0"/>
              <a:t>）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040A919-28A9-5B0A-BF3E-6409574B2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525" y="5045045"/>
            <a:ext cx="4942857" cy="74285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C49CF36-A167-EE0F-7217-48E989753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729" y="5045045"/>
            <a:ext cx="4466287" cy="141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60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F559A69-E222-82F1-E3E6-4B134BB7DBAA}"/>
              </a:ext>
            </a:extLst>
          </p:cNvPr>
          <p:cNvSpPr txBox="1"/>
          <p:nvPr/>
        </p:nvSpPr>
        <p:spPr>
          <a:xfrm>
            <a:off x="724619" y="603849"/>
            <a:ext cx="5950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Python </a:t>
            </a:r>
            <a:r>
              <a:rPr lang="zh-CN" altLang="en-US" sz="3600" b="1" dirty="0"/>
              <a:t>的变量类型：动态型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6B279A-C40E-7DAE-D350-A4EB51AF8250}"/>
              </a:ext>
            </a:extLst>
          </p:cNvPr>
          <p:cNvSpPr txBox="1"/>
          <p:nvPr/>
        </p:nvSpPr>
        <p:spPr>
          <a:xfrm>
            <a:off x="974785" y="1846053"/>
            <a:ext cx="5030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C </a:t>
            </a:r>
            <a:r>
              <a:rPr lang="zh-CN" altLang="en-US" sz="2000" dirty="0"/>
              <a:t>语言中，声明变量时必须显式声明其类型</a:t>
            </a:r>
            <a:endParaRPr lang="en-US" altLang="zh-CN" sz="2000" dirty="0"/>
          </a:p>
          <a:p>
            <a:r>
              <a:rPr lang="zh-CN" altLang="en-US" sz="2000" dirty="0"/>
              <a:t>（会根据变量类型分配内存空间）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D05FC4-F9D2-BCC5-2F9E-A02B7978ED74}"/>
              </a:ext>
            </a:extLst>
          </p:cNvPr>
          <p:cNvSpPr txBox="1"/>
          <p:nvPr/>
        </p:nvSpPr>
        <p:spPr>
          <a:xfrm>
            <a:off x="974785" y="3107200"/>
            <a:ext cx="703590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Python </a:t>
            </a:r>
            <a:r>
              <a:rPr lang="zh-CN" altLang="en-US" sz="2000" dirty="0"/>
              <a:t>中，变量声明只是给某块内存空间打了“标签”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若给变量赋新的值，这个“标签”会被撕下来贴在另一块空间上</a:t>
            </a:r>
            <a:endParaRPr lang="en-US" altLang="zh-CN" sz="2000" dirty="0"/>
          </a:p>
          <a:p>
            <a:r>
              <a:rPr lang="zh-CN" altLang="en-US" sz="2000" dirty="0"/>
              <a:t>（一个变量“占据”的内存空间可以动态变化）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E8FA4CB-27D2-4538-AF87-7104E4A0B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134" y="3815086"/>
            <a:ext cx="2064242" cy="25859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5A7ECC6-13A6-F4FB-4DAD-C50B90AFD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863" y="5229631"/>
            <a:ext cx="6285714" cy="117142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99CF20C-2361-DAE6-0D78-4B07C793E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540" y="1837187"/>
            <a:ext cx="2971429" cy="1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04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A7500-FC28-D1DE-AB27-9DD2176D9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BACC0BA-607F-3723-74F7-E5835947723C}"/>
              </a:ext>
            </a:extLst>
          </p:cNvPr>
          <p:cNvSpPr txBox="1"/>
          <p:nvPr/>
        </p:nvSpPr>
        <p:spPr>
          <a:xfrm>
            <a:off x="724619" y="603849"/>
            <a:ext cx="5489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Python </a:t>
            </a:r>
            <a:r>
              <a:rPr lang="zh-CN" altLang="en-US" sz="3600" b="1" dirty="0"/>
              <a:t>的变量类型：单值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FE5285-0400-F9D6-47A7-1009E6380161}"/>
              </a:ext>
            </a:extLst>
          </p:cNvPr>
          <p:cNvSpPr txBox="1"/>
          <p:nvPr/>
        </p:nvSpPr>
        <p:spPr>
          <a:xfrm>
            <a:off x="1397479" y="1984075"/>
            <a:ext cx="361028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int</a:t>
            </a:r>
            <a:r>
              <a:rPr lang="zh-CN" altLang="en-US" sz="2400" dirty="0"/>
              <a:t>（</a:t>
            </a:r>
            <a:r>
              <a:rPr lang="en-US" altLang="zh-CN" sz="2400" dirty="0"/>
              <a:t>integer</a:t>
            </a:r>
            <a:r>
              <a:rPr lang="zh-CN" altLang="en-US" sz="2400" dirty="0"/>
              <a:t>）：整数类型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float</a:t>
            </a:r>
            <a:r>
              <a:rPr lang="zh-CN" altLang="en-US" sz="2400" dirty="0"/>
              <a:t>：浮点数类型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complex</a:t>
            </a:r>
            <a:r>
              <a:rPr lang="zh-CN" altLang="en-US" sz="2400" dirty="0"/>
              <a:t>：复数类型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bool</a:t>
            </a:r>
            <a:r>
              <a:rPr lang="zh-CN" altLang="en-US" sz="2400" dirty="0"/>
              <a:t>：布尔值类型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 err="1"/>
              <a:t>NoneType</a:t>
            </a:r>
            <a:r>
              <a:rPr lang="zh-CN" altLang="en-US" sz="2400" dirty="0"/>
              <a:t>：空值类型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9CEF74A-0F9B-49E6-F7A6-2E3FCFA4A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239" y="2177949"/>
            <a:ext cx="3342857" cy="3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471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9C2A6-58A7-4275-AAC0-14F0E7248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02A3A68-DBAC-C5E5-9387-016624647E25}"/>
              </a:ext>
            </a:extLst>
          </p:cNvPr>
          <p:cNvSpPr txBox="1"/>
          <p:nvPr/>
        </p:nvSpPr>
        <p:spPr>
          <a:xfrm>
            <a:off x="724619" y="603849"/>
            <a:ext cx="7359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Python </a:t>
            </a:r>
            <a:r>
              <a:rPr lang="zh-CN" altLang="en-US" sz="3600" b="1" dirty="0"/>
              <a:t>的变量类型：单值运算示例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4371323-2710-146D-8EF1-9220D63EE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9" y="1459581"/>
            <a:ext cx="7075857" cy="479457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557706C-6605-D9F0-4E87-81E5D3E14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563" y="3075721"/>
            <a:ext cx="5011353" cy="194034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889BFEC-079E-5FF5-B927-EBFA655AB5F1}"/>
              </a:ext>
            </a:extLst>
          </p:cNvPr>
          <p:cNvSpPr txBox="1"/>
          <p:nvPr/>
        </p:nvSpPr>
        <p:spPr>
          <a:xfrm>
            <a:off x="1643499" y="6343142"/>
            <a:ext cx="890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其它具体的运算方法参见去年 </a:t>
            </a:r>
            <a:r>
              <a:rPr lang="en-US" altLang="zh-CN" sz="2000" b="1" dirty="0"/>
              <a:t>PPT</a:t>
            </a:r>
            <a:r>
              <a:rPr lang="zh-CN" altLang="en-US" sz="2000" b="1" dirty="0"/>
              <a:t>；可以利用大语言模型进行答案驱动式学习</a:t>
            </a:r>
          </a:p>
        </p:txBody>
      </p:sp>
    </p:spTree>
    <p:extLst>
      <p:ext uri="{BB962C8B-B14F-4D97-AF65-F5344CB8AC3E}">
        <p14:creationId xmlns:p14="http://schemas.microsoft.com/office/powerpoint/2010/main" val="1830395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7FD39-3B66-BC93-5ACC-13AD09C3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A3C3190-C09F-3425-D3F5-EBC8A96162D2}"/>
              </a:ext>
            </a:extLst>
          </p:cNvPr>
          <p:cNvSpPr txBox="1"/>
          <p:nvPr/>
        </p:nvSpPr>
        <p:spPr>
          <a:xfrm>
            <a:off x="724619" y="603849"/>
            <a:ext cx="87206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Python </a:t>
            </a:r>
            <a:r>
              <a:rPr lang="zh-CN" altLang="en-US" sz="3600" b="1" dirty="0"/>
              <a:t>的变量类型：容器（可遍历类型）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279F86-A4E5-7755-C820-57FFC3F59914}"/>
              </a:ext>
            </a:extLst>
          </p:cNvPr>
          <p:cNvSpPr txBox="1"/>
          <p:nvPr/>
        </p:nvSpPr>
        <p:spPr>
          <a:xfrm>
            <a:off x="1397479" y="1984075"/>
            <a:ext cx="412164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string</a:t>
            </a:r>
            <a:r>
              <a:rPr lang="zh-CN" altLang="en-US" sz="2400" dirty="0"/>
              <a:t>：字符串类型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list</a:t>
            </a:r>
            <a:r>
              <a:rPr lang="zh-CN" altLang="en-US" sz="2400" dirty="0"/>
              <a:t>：列表类型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tuple</a:t>
            </a:r>
            <a:r>
              <a:rPr lang="zh-CN" altLang="en-US" sz="2400" dirty="0"/>
              <a:t>：元组类型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set</a:t>
            </a:r>
            <a:r>
              <a:rPr lang="zh-CN" altLang="en-US" sz="2400" dirty="0"/>
              <a:t>：集合类型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 err="1"/>
              <a:t>dict</a:t>
            </a:r>
            <a:r>
              <a:rPr lang="zh-CN" altLang="en-US" sz="2400" dirty="0"/>
              <a:t>（</a:t>
            </a:r>
            <a:r>
              <a:rPr lang="en-US" altLang="zh-CN" sz="2400" dirty="0"/>
              <a:t>dictionary</a:t>
            </a:r>
            <a:r>
              <a:rPr lang="zh-CN" altLang="en-US" sz="2400" dirty="0"/>
              <a:t>）：字典类型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74B678-0E81-9785-045A-E1AF5EDD1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617" y="2176787"/>
            <a:ext cx="6828308" cy="250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66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9CB39-C45D-4954-950C-038A7F528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A6EFA79-656F-F6D8-EEC0-CF2A7F9A1B18}"/>
              </a:ext>
            </a:extLst>
          </p:cNvPr>
          <p:cNvSpPr txBox="1"/>
          <p:nvPr/>
        </p:nvSpPr>
        <p:spPr>
          <a:xfrm>
            <a:off x="724619" y="603849"/>
            <a:ext cx="77973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Python </a:t>
            </a:r>
            <a:r>
              <a:rPr lang="zh-CN" altLang="en-US" sz="3600" b="1" dirty="0"/>
              <a:t>的变量类型：字符串使用示例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15F3CF-3696-4E1F-7EE8-939A0596EC1E}"/>
              </a:ext>
            </a:extLst>
          </p:cNvPr>
          <p:cNvSpPr txBox="1"/>
          <p:nvPr/>
        </p:nvSpPr>
        <p:spPr>
          <a:xfrm>
            <a:off x="1433939" y="6319801"/>
            <a:ext cx="890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其它具体的运算方法参见去年 </a:t>
            </a:r>
            <a:r>
              <a:rPr lang="en-US" altLang="zh-CN" sz="2000" b="1" dirty="0"/>
              <a:t>PPT</a:t>
            </a:r>
            <a:r>
              <a:rPr lang="zh-CN" altLang="en-US" sz="2000" b="1" dirty="0"/>
              <a:t>；可以利用大语言模型进行答案驱动式学习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D21DCA-5537-56EF-6B03-B0EAD47B2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37" y="1308721"/>
            <a:ext cx="9511806" cy="489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8482-9594-2908-C465-0C9A3B10B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AC9C0C3-3E0F-DC08-D501-C599FEF7C0AB}"/>
              </a:ext>
            </a:extLst>
          </p:cNvPr>
          <p:cNvSpPr txBox="1"/>
          <p:nvPr/>
        </p:nvSpPr>
        <p:spPr>
          <a:xfrm>
            <a:off x="724619" y="603849"/>
            <a:ext cx="73597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Python </a:t>
            </a:r>
            <a:r>
              <a:rPr lang="zh-CN" altLang="en-US" sz="3600" b="1" dirty="0"/>
              <a:t>的变量类型：容器使用示例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CFA597-E89C-0EA5-B009-32D6F4E5F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37" y="1323323"/>
            <a:ext cx="7242534" cy="50451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CE2392A-B8ED-B4D0-2275-1113E4BCB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115" y="3487157"/>
            <a:ext cx="4563361" cy="148524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C327A22-5348-A107-55BE-836FEBC51551}"/>
              </a:ext>
            </a:extLst>
          </p:cNvPr>
          <p:cNvSpPr txBox="1"/>
          <p:nvPr/>
        </p:nvSpPr>
        <p:spPr>
          <a:xfrm>
            <a:off x="1643499" y="6441575"/>
            <a:ext cx="890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其它具体的运算方法参见去年 </a:t>
            </a:r>
            <a:r>
              <a:rPr lang="en-US" altLang="zh-CN" sz="2000" b="1" dirty="0"/>
              <a:t>PPT</a:t>
            </a:r>
            <a:r>
              <a:rPr lang="zh-CN" altLang="en-US" sz="2000" b="1" dirty="0"/>
              <a:t>；可以利用大语言模型进行答案驱动式学习</a:t>
            </a:r>
          </a:p>
        </p:txBody>
      </p:sp>
    </p:spTree>
    <p:extLst>
      <p:ext uri="{BB962C8B-B14F-4D97-AF65-F5344CB8AC3E}">
        <p14:creationId xmlns:p14="http://schemas.microsoft.com/office/powerpoint/2010/main" val="2107304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5EAE-4220-2736-2800-C7D80FF0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4491D1A-B2C9-0D78-B571-FDD7BA0EAA2F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14F7F6-B1BE-D632-5142-D33F33947272}"/>
              </a:ext>
            </a:extLst>
          </p:cNvPr>
          <p:cNvSpPr txBox="1"/>
          <p:nvPr/>
        </p:nvSpPr>
        <p:spPr>
          <a:xfrm>
            <a:off x="1475116" y="2305615"/>
            <a:ext cx="75308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实验考察内容（</a:t>
            </a:r>
            <a:r>
              <a:rPr lang="en-US" altLang="zh-CN" sz="2800" dirty="0"/>
              <a:t>Python </a:t>
            </a:r>
            <a:r>
              <a:rPr lang="zh-CN" altLang="en-US" sz="2800" dirty="0"/>
              <a:t>介绍、变量与变量类型）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b="1" dirty="0">
                <a:solidFill>
                  <a:schemeClr val="accent2"/>
                </a:solidFill>
              </a:rPr>
              <a:t>环境介绍与配置（虚拟环境与开发环境）</a:t>
            </a:r>
            <a:endParaRPr lang="en-US" altLang="zh-CN" sz="2800" b="1" dirty="0">
              <a:solidFill>
                <a:schemeClr val="accent2"/>
              </a:solidFill>
            </a:endParaRPr>
          </a:p>
          <a:p>
            <a:endParaRPr lang="en-US" altLang="zh-CN" sz="2800" dirty="0"/>
          </a:p>
          <a:p>
            <a:r>
              <a:rPr lang="zh-CN" altLang="en-US" sz="2800" dirty="0"/>
              <a:t>本次实验任务</a:t>
            </a:r>
            <a:endParaRPr lang="en-US" altLang="zh-CN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CD1A2A-54B2-EFEA-2EBC-DF9604424CCD}"/>
              </a:ext>
            </a:extLst>
          </p:cNvPr>
          <p:cNvSpPr txBox="1"/>
          <p:nvPr/>
        </p:nvSpPr>
        <p:spPr>
          <a:xfrm>
            <a:off x="1475116" y="2758112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10054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54E7CAD-5DF1-4C3D-9B3A-053C6F7781C4}"/>
              </a:ext>
            </a:extLst>
          </p:cNvPr>
          <p:cNvSpPr txBox="1"/>
          <p:nvPr/>
        </p:nvSpPr>
        <p:spPr>
          <a:xfrm>
            <a:off x="724619" y="603849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虚拟环境：动机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813755-D398-2D6B-027E-5C824B92D34B}"/>
              </a:ext>
            </a:extLst>
          </p:cNvPr>
          <p:cNvSpPr txBox="1"/>
          <p:nvPr/>
        </p:nvSpPr>
        <p:spPr>
          <a:xfrm>
            <a:off x="724619" y="1634591"/>
            <a:ext cx="877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根本动机</a:t>
            </a:r>
            <a:r>
              <a:rPr lang="zh-CN" altLang="en-US" sz="2000" dirty="0"/>
              <a:t>：解决扩展的版本不兼容问题（以 </a:t>
            </a:r>
            <a:r>
              <a:rPr lang="en-US" altLang="zh-CN" sz="2000" dirty="0"/>
              <a:t>Minecraft </a:t>
            </a:r>
            <a:r>
              <a:rPr lang="zh-CN" altLang="en-US" sz="2000" dirty="0"/>
              <a:t>为例）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53924B-A6AF-74F1-2755-11DAC783EB7D}"/>
              </a:ext>
            </a:extLst>
          </p:cNvPr>
          <p:cNvSpPr txBox="1"/>
          <p:nvPr/>
        </p:nvSpPr>
        <p:spPr>
          <a:xfrm>
            <a:off x="1073323" y="2573268"/>
            <a:ext cx="1797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Python </a:t>
            </a:r>
            <a:r>
              <a:rPr lang="zh-CN" altLang="en-US" sz="2000" dirty="0"/>
              <a:t>解释器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128785-A842-90C1-9ED2-C351C683C071}"/>
              </a:ext>
            </a:extLst>
          </p:cNvPr>
          <p:cNvSpPr txBox="1"/>
          <p:nvPr/>
        </p:nvSpPr>
        <p:spPr>
          <a:xfrm>
            <a:off x="6314611" y="2573268"/>
            <a:ext cx="231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Minecraft </a:t>
            </a:r>
            <a:r>
              <a:rPr lang="zh-CN" altLang="en-US" sz="2000" dirty="0"/>
              <a:t>游戏本体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A31A13-EAB0-CC57-A786-2B33401F0B82}"/>
              </a:ext>
            </a:extLst>
          </p:cNvPr>
          <p:cNvSpPr txBox="1"/>
          <p:nvPr/>
        </p:nvSpPr>
        <p:spPr>
          <a:xfrm>
            <a:off x="1073323" y="3358057"/>
            <a:ext cx="446628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包体依赖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Pytorch</a:t>
            </a:r>
            <a:r>
              <a:rPr lang="en-US" altLang="zh-CN" dirty="0"/>
              <a:t> &gt; 2 </a:t>
            </a:r>
            <a:r>
              <a:rPr lang="zh-CN" altLang="en-US" dirty="0"/>
              <a:t>刚需 </a:t>
            </a:r>
            <a:r>
              <a:rPr lang="en-US" altLang="zh-CN" dirty="0" err="1"/>
              <a:t>Numpy</a:t>
            </a:r>
            <a:r>
              <a:rPr lang="en-US" altLang="zh-CN" dirty="0"/>
              <a:t> &gt; 2</a:t>
            </a:r>
          </a:p>
          <a:p>
            <a:r>
              <a:rPr lang="zh-CN" altLang="en-US" dirty="0"/>
              <a:t>某些老代码或包又刚需 </a:t>
            </a:r>
            <a:r>
              <a:rPr lang="en-US" altLang="zh-CN" dirty="0" err="1"/>
              <a:t>Numpy</a:t>
            </a:r>
            <a:r>
              <a:rPr lang="en-US" altLang="zh-CN" dirty="0"/>
              <a:t> &lt; 2</a:t>
            </a:r>
          </a:p>
          <a:p>
            <a:r>
              <a:rPr lang="en-US" altLang="zh-CN" dirty="0"/>
              <a:t>……</a:t>
            </a:r>
          </a:p>
          <a:p>
            <a:endParaRPr lang="en-US" altLang="zh-CN" dirty="0"/>
          </a:p>
          <a:p>
            <a:r>
              <a:rPr lang="zh-CN" altLang="en-US" b="1" dirty="0"/>
              <a:t>版本依赖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某些包或脚本对 </a:t>
            </a:r>
            <a:r>
              <a:rPr lang="en-US" altLang="zh-CN" dirty="0"/>
              <a:t>Python </a:t>
            </a:r>
            <a:r>
              <a:rPr lang="zh-CN" altLang="en-US" dirty="0"/>
              <a:t>解释器版本有要求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C7BF74-898B-38F4-62BE-5B73EDBEC761}"/>
              </a:ext>
            </a:extLst>
          </p:cNvPr>
          <p:cNvSpPr txBox="1"/>
          <p:nvPr/>
        </p:nvSpPr>
        <p:spPr>
          <a:xfrm>
            <a:off x="6314611" y="3358057"/>
            <a:ext cx="551465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Mod </a:t>
            </a:r>
            <a:r>
              <a:rPr lang="zh-CN" altLang="en-US" b="1" dirty="0"/>
              <a:t>依赖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老 </a:t>
            </a:r>
            <a:r>
              <a:rPr lang="en-US" altLang="zh-CN" dirty="0"/>
              <a:t>mod </a:t>
            </a:r>
            <a:r>
              <a:rPr lang="zh-CN" altLang="en-US" dirty="0"/>
              <a:t>如工业时代</a:t>
            </a:r>
            <a:r>
              <a:rPr lang="en-US" altLang="zh-CN" dirty="0"/>
              <a:t>2</a:t>
            </a:r>
            <a:r>
              <a:rPr lang="zh-CN" altLang="en-US" dirty="0"/>
              <a:t>、拔刀剑等对 </a:t>
            </a:r>
            <a:r>
              <a:rPr lang="en-US" altLang="zh-CN" dirty="0"/>
              <a:t>Forge </a:t>
            </a:r>
            <a:r>
              <a:rPr lang="zh-CN" altLang="en-US" dirty="0"/>
              <a:t>版本有要求</a:t>
            </a:r>
            <a:endParaRPr lang="en-US" altLang="zh-CN" dirty="0"/>
          </a:p>
          <a:p>
            <a:r>
              <a:rPr lang="zh-CN" altLang="en-US" dirty="0"/>
              <a:t>最新的光影或其它 </a:t>
            </a:r>
            <a:r>
              <a:rPr lang="en-US" altLang="zh-CN" dirty="0"/>
              <a:t>mod </a:t>
            </a:r>
            <a:r>
              <a:rPr lang="zh-CN" altLang="en-US" dirty="0"/>
              <a:t>又刚需新版本</a:t>
            </a:r>
            <a:endParaRPr lang="en-US" altLang="zh-CN" dirty="0"/>
          </a:p>
          <a:p>
            <a:r>
              <a:rPr lang="en-US" altLang="zh-CN" dirty="0"/>
              <a:t>……</a:t>
            </a:r>
          </a:p>
          <a:p>
            <a:endParaRPr lang="en-US" altLang="zh-CN" dirty="0"/>
          </a:p>
          <a:p>
            <a:r>
              <a:rPr lang="zh-CN" altLang="en-US" b="1" dirty="0"/>
              <a:t>版本依赖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b="1" dirty="0"/>
          </a:p>
          <a:p>
            <a:r>
              <a:rPr lang="zh-CN" altLang="en-US" dirty="0"/>
              <a:t>某些 </a:t>
            </a:r>
            <a:r>
              <a:rPr lang="en-US" altLang="zh-CN" dirty="0"/>
              <a:t>mod </a:t>
            </a:r>
            <a:r>
              <a:rPr lang="zh-CN" altLang="en-US" dirty="0"/>
              <a:t>或光影材质对游戏版本有硬性要求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BB327B0-0186-8BE9-9516-CC7758664BCF}"/>
              </a:ext>
            </a:extLst>
          </p:cNvPr>
          <p:cNvCxnSpPr/>
          <p:nvPr/>
        </p:nvCxnSpPr>
        <p:spPr>
          <a:xfrm>
            <a:off x="5745345" y="2467933"/>
            <a:ext cx="0" cy="39165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818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77CC9-0333-4467-E2AE-47B97F1C4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FED1628-5FEC-41CD-AE4B-BFA04C8220A6}"/>
              </a:ext>
            </a:extLst>
          </p:cNvPr>
          <p:cNvSpPr txBox="1"/>
          <p:nvPr/>
        </p:nvSpPr>
        <p:spPr>
          <a:xfrm>
            <a:off x="724619" y="603849"/>
            <a:ext cx="3475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虚拟环境：</a:t>
            </a:r>
            <a:r>
              <a:rPr lang="en-US" altLang="zh-CN" sz="3600" b="1" dirty="0" err="1"/>
              <a:t>venv</a:t>
            </a:r>
            <a:endParaRPr lang="zh-CN" altLang="en-US" sz="36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128D32-7461-5BDA-31EE-C377E6383E5F}"/>
              </a:ext>
            </a:extLst>
          </p:cNvPr>
          <p:cNvSpPr txBox="1"/>
          <p:nvPr/>
        </p:nvSpPr>
        <p:spPr>
          <a:xfrm>
            <a:off x="920703" y="2795433"/>
            <a:ext cx="103505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venv</a:t>
            </a:r>
            <a:r>
              <a:rPr lang="en-US" altLang="zh-CN" b="1" dirty="0"/>
              <a:t> – </a:t>
            </a:r>
            <a:r>
              <a:rPr lang="zh-CN" altLang="en-US" b="1" dirty="0"/>
              <a:t>系统解释器固定，环境隔离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每个环境都是一个整合包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整合包</a:t>
            </a:r>
            <a:r>
              <a:rPr lang="zh-CN" altLang="en-US" b="1" dirty="0">
                <a:solidFill>
                  <a:srgbClr val="FF0000"/>
                </a:solidFill>
              </a:rPr>
              <a:t>不包含</a:t>
            </a:r>
            <a:r>
              <a:rPr lang="zh-CN" altLang="en-US" dirty="0"/>
              <a:t>解释器本体，只建立软链接或解释器复制（区别于各类游戏的整合包）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环境的解释器采用系统环境变量的解释器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能解决包体依赖，但难以解决版本依赖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0158BB-4EC6-9E2F-CE6E-474C390AAEEC}"/>
              </a:ext>
            </a:extLst>
          </p:cNvPr>
          <p:cNvSpPr txBox="1"/>
          <p:nvPr/>
        </p:nvSpPr>
        <p:spPr>
          <a:xfrm>
            <a:off x="724619" y="1769852"/>
            <a:ext cx="7603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两种做法：对应 </a:t>
            </a:r>
            <a:r>
              <a:rPr lang="en-US" altLang="zh-CN" b="1" dirty="0" err="1"/>
              <a:t>venv</a:t>
            </a:r>
            <a:r>
              <a:rPr lang="zh-CN" altLang="en-US" b="1" dirty="0"/>
              <a:t>（</a:t>
            </a:r>
            <a:r>
              <a:rPr lang="en-US" altLang="zh-CN" b="1" dirty="0"/>
              <a:t>Virtual Env</a:t>
            </a:r>
            <a:r>
              <a:rPr lang="zh-CN" altLang="en-US" b="1" dirty="0"/>
              <a:t>）和 </a:t>
            </a:r>
            <a:r>
              <a:rPr lang="en-US" altLang="zh-CN" b="1" dirty="0" err="1"/>
              <a:t>conda</a:t>
            </a:r>
            <a:r>
              <a:rPr lang="zh-CN" altLang="en-US" b="1" dirty="0"/>
              <a:t>（</a:t>
            </a:r>
            <a:r>
              <a:rPr lang="en-US" altLang="zh-CN" b="1" dirty="0"/>
              <a:t>Anaconda/</a:t>
            </a:r>
            <a:r>
              <a:rPr lang="en-US" altLang="zh-CN" b="1" dirty="0" err="1"/>
              <a:t>Miniconda</a:t>
            </a:r>
            <a:r>
              <a:rPr lang="zh-CN" altLang="en-US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31815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03423A3-D509-F5CA-E644-D85A1FE7BAE7}"/>
              </a:ext>
            </a:extLst>
          </p:cNvPr>
          <p:cNvSpPr txBox="1"/>
          <p:nvPr/>
        </p:nvSpPr>
        <p:spPr>
          <a:xfrm>
            <a:off x="724619" y="603849"/>
            <a:ext cx="3754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虚拟环境：</a:t>
            </a:r>
            <a:r>
              <a:rPr lang="en-US" altLang="zh-CN" sz="3600" b="1" dirty="0" err="1"/>
              <a:t>pyenv</a:t>
            </a:r>
            <a:endParaRPr lang="zh-CN" altLang="en-US" sz="36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5E62BF-7B99-75FB-0E06-787203D3E1FE}"/>
              </a:ext>
            </a:extLst>
          </p:cNvPr>
          <p:cNvSpPr txBox="1"/>
          <p:nvPr/>
        </p:nvSpPr>
        <p:spPr>
          <a:xfrm>
            <a:off x="984814" y="1769852"/>
            <a:ext cx="3344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用于解决 </a:t>
            </a:r>
            <a:r>
              <a:rPr lang="en-US" altLang="zh-CN" b="1" dirty="0" err="1"/>
              <a:t>venv</a:t>
            </a:r>
            <a:r>
              <a:rPr lang="en-US" altLang="zh-CN" b="1" dirty="0"/>
              <a:t> </a:t>
            </a:r>
            <a:r>
              <a:rPr lang="zh-CN" altLang="en-US" b="1" dirty="0"/>
              <a:t>的版本依赖问题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D9BBBB-758D-81E8-4641-0FC932620F0A}"/>
              </a:ext>
            </a:extLst>
          </p:cNvPr>
          <p:cNvSpPr txBox="1"/>
          <p:nvPr/>
        </p:nvSpPr>
        <p:spPr>
          <a:xfrm>
            <a:off x="984814" y="2770112"/>
            <a:ext cx="53896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其并非虚拟环境工具，而是一个 </a:t>
            </a:r>
            <a:r>
              <a:rPr lang="en-US" altLang="zh-CN" dirty="0"/>
              <a:t>Python </a:t>
            </a:r>
            <a:r>
              <a:rPr lang="zh-CN" altLang="en-US" dirty="0"/>
              <a:t>版本管理器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与 </a:t>
            </a:r>
            <a:r>
              <a:rPr lang="en-US" altLang="zh-CN" dirty="0" err="1"/>
              <a:t>venv</a:t>
            </a:r>
            <a:r>
              <a:rPr lang="en-US" altLang="zh-CN" dirty="0"/>
              <a:t> </a:t>
            </a:r>
            <a:r>
              <a:rPr lang="zh-CN" altLang="en-US" dirty="0"/>
              <a:t>结合使用即可解决版本依赖问题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6B2D72-A25A-DD98-F6D3-294457824C20}"/>
              </a:ext>
            </a:extLst>
          </p:cNvPr>
          <p:cNvSpPr txBox="1"/>
          <p:nvPr/>
        </p:nvSpPr>
        <p:spPr>
          <a:xfrm>
            <a:off x="1201840" y="4130876"/>
            <a:ext cx="96200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pyenv install 3.11 </a:t>
            </a:r>
            <a:r>
              <a:rPr lang="en-US" altLang="zh-CN" dirty="0"/>
              <a:t># </a:t>
            </a:r>
            <a:r>
              <a:rPr lang="zh-CN" altLang="en-US" dirty="0"/>
              <a:t>让 </a:t>
            </a:r>
            <a:r>
              <a:rPr lang="en-US" altLang="zh-CN" dirty="0" err="1"/>
              <a:t>pyenv</a:t>
            </a:r>
            <a:r>
              <a:rPr lang="en-US" altLang="zh-CN" dirty="0"/>
              <a:t> </a:t>
            </a:r>
            <a:r>
              <a:rPr lang="zh-CN" altLang="en-US" dirty="0"/>
              <a:t>安装 </a:t>
            </a:r>
            <a:r>
              <a:rPr lang="en-US" altLang="zh-CN" dirty="0"/>
              <a:t>python 3.11 </a:t>
            </a:r>
            <a:r>
              <a:rPr lang="zh-CN" altLang="en-US" dirty="0"/>
              <a:t>的默认版本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pyenv install 3.12 </a:t>
            </a:r>
            <a:r>
              <a:rPr lang="en-US" altLang="zh-CN" dirty="0"/>
              <a:t># </a:t>
            </a:r>
            <a:r>
              <a:rPr lang="zh-CN" altLang="en-US" dirty="0"/>
              <a:t>让 </a:t>
            </a:r>
            <a:r>
              <a:rPr lang="en-US" altLang="zh-CN" dirty="0" err="1"/>
              <a:t>pyenv</a:t>
            </a:r>
            <a:r>
              <a:rPr lang="en-US" altLang="zh-CN" dirty="0"/>
              <a:t> </a:t>
            </a:r>
            <a:r>
              <a:rPr lang="zh-CN" altLang="en-US" dirty="0"/>
              <a:t>安装 </a:t>
            </a:r>
            <a:r>
              <a:rPr lang="en-US" altLang="zh-CN" dirty="0"/>
              <a:t>python 3.12 </a:t>
            </a:r>
            <a:r>
              <a:rPr lang="zh-CN" altLang="en-US" dirty="0"/>
              <a:t>的默认版本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pyenv local 3.12 </a:t>
            </a:r>
            <a:r>
              <a:rPr lang="en-US" altLang="zh-CN" dirty="0"/>
              <a:t># </a:t>
            </a:r>
            <a:r>
              <a:rPr lang="zh-CN" altLang="en-US" dirty="0"/>
              <a:t>在当前终端下使用 </a:t>
            </a:r>
            <a:r>
              <a:rPr lang="en-US" altLang="zh-CN" dirty="0"/>
              <a:t>python 3.12</a:t>
            </a:r>
          </a:p>
          <a:p>
            <a:endParaRPr lang="en-US" altLang="zh-CN" dirty="0"/>
          </a:p>
          <a:p>
            <a:r>
              <a:rPr lang="zh-CN" altLang="en-US" dirty="0"/>
              <a:t>python -m venv .venv </a:t>
            </a:r>
            <a:r>
              <a:rPr lang="en-US" altLang="zh-CN" dirty="0"/>
              <a:t># </a:t>
            </a:r>
            <a:r>
              <a:rPr lang="zh-CN" altLang="en-US" dirty="0"/>
              <a:t>此时将使用 </a:t>
            </a:r>
            <a:r>
              <a:rPr lang="en-US" altLang="zh-CN" dirty="0"/>
              <a:t>python 3.12 </a:t>
            </a:r>
            <a:r>
              <a:rPr lang="zh-CN" altLang="en-US" dirty="0"/>
              <a:t>创建虚拟环境</a:t>
            </a:r>
          </a:p>
        </p:txBody>
      </p:sp>
    </p:spTree>
    <p:extLst>
      <p:ext uri="{BB962C8B-B14F-4D97-AF65-F5344CB8AC3E}">
        <p14:creationId xmlns:p14="http://schemas.microsoft.com/office/powerpoint/2010/main" val="598715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5D9041-810D-FA8C-5E35-B58229DCC082}"/>
              </a:ext>
            </a:extLst>
          </p:cNvPr>
          <p:cNvSpPr txBox="1"/>
          <p:nvPr/>
        </p:nvSpPr>
        <p:spPr>
          <a:xfrm>
            <a:off x="724619" y="603849"/>
            <a:ext cx="2996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虚拟环境：</a:t>
            </a:r>
            <a:r>
              <a:rPr lang="en-US" altLang="zh-CN" sz="3600" b="1" dirty="0" err="1"/>
              <a:t>uv</a:t>
            </a:r>
            <a:endParaRPr lang="en-US" altLang="zh-CN" sz="36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427F01-B854-A06F-89C1-A0FC7D2C78FD}"/>
              </a:ext>
            </a:extLst>
          </p:cNvPr>
          <p:cNvSpPr txBox="1"/>
          <p:nvPr/>
        </p:nvSpPr>
        <p:spPr>
          <a:xfrm>
            <a:off x="984814" y="1769852"/>
            <a:ext cx="6639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简单理解为 </a:t>
            </a:r>
            <a:r>
              <a:rPr lang="en-US" altLang="zh-CN" b="1" dirty="0" err="1"/>
              <a:t>venv</a:t>
            </a:r>
            <a:r>
              <a:rPr lang="en-US" altLang="zh-CN" b="1" dirty="0"/>
              <a:t> + </a:t>
            </a:r>
            <a:r>
              <a:rPr lang="en-US" altLang="zh-CN" b="1" dirty="0" err="1"/>
              <a:t>pyenv</a:t>
            </a:r>
            <a:r>
              <a:rPr lang="en-US" altLang="zh-CN" b="1" dirty="0"/>
              <a:t> </a:t>
            </a:r>
            <a:r>
              <a:rPr lang="zh-CN" altLang="en-US" b="1" dirty="0"/>
              <a:t>并用 </a:t>
            </a:r>
            <a:r>
              <a:rPr lang="en-US" altLang="zh-CN" b="1" dirty="0"/>
              <a:t>Rust </a:t>
            </a:r>
            <a:r>
              <a:rPr lang="zh-CN" altLang="en-US" b="1" dirty="0"/>
              <a:t>重构代码，大幅优化速度</a:t>
            </a:r>
            <a:r>
              <a:rPr lang="en-US" altLang="zh-CN" b="1" dirty="0"/>
              <a:t> 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0EF4FA-4C1C-0946-B2C2-7964DA632BE4}"/>
              </a:ext>
            </a:extLst>
          </p:cNvPr>
          <p:cNvSpPr txBox="1"/>
          <p:nvPr/>
        </p:nvSpPr>
        <p:spPr>
          <a:xfrm>
            <a:off x="1534506" y="2658856"/>
            <a:ext cx="50172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安装 </a:t>
            </a:r>
            <a:r>
              <a:rPr lang="en-US" altLang="zh-CN" dirty="0"/>
              <a:t>Python 3.12 </a:t>
            </a:r>
          </a:p>
          <a:p>
            <a:r>
              <a:rPr lang="en-US" altLang="zh-CN" dirty="0" err="1"/>
              <a:t>uv</a:t>
            </a:r>
            <a:r>
              <a:rPr lang="en-US" altLang="zh-CN" dirty="0"/>
              <a:t> python install 3.12 </a:t>
            </a:r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指定当前项目使用 </a:t>
            </a:r>
            <a:r>
              <a:rPr lang="en-US" altLang="zh-CN" dirty="0"/>
              <a:t>Python 3.12 </a:t>
            </a:r>
          </a:p>
          <a:p>
            <a:r>
              <a:rPr lang="en-US" altLang="zh-CN" dirty="0" err="1"/>
              <a:t>uv</a:t>
            </a:r>
            <a:r>
              <a:rPr lang="en-US" altLang="zh-CN" dirty="0"/>
              <a:t> python pin 3.12 </a:t>
            </a:r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创建虚拟环境 </a:t>
            </a:r>
            <a:endParaRPr lang="en-US" altLang="zh-CN" dirty="0"/>
          </a:p>
          <a:p>
            <a:r>
              <a:rPr lang="en-US" altLang="zh-CN" dirty="0" err="1"/>
              <a:t>uv</a:t>
            </a:r>
            <a:r>
              <a:rPr lang="en-US" altLang="zh-CN" dirty="0"/>
              <a:t> </a:t>
            </a:r>
            <a:r>
              <a:rPr lang="en-US" altLang="zh-CN" dirty="0" err="1"/>
              <a:t>venv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安装包 </a:t>
            </a:r>
            <a:endParaRPr lang="en-US" altLang="zh-CN" dirty="0"/>
          </a:p>
          <a:p>
            <a:r>
              <a:rPr lang="en-US" altLang="zh-CN" dirty="0" err="1"/>
              <a:t>uv</a:t>
            </a:r>
            <a:r>
              <a:rPr lang="en-US" altLang="zh-CN" dirty="0"/>
              <a:t> pip install </a:t>
            </a:r>
            <a:r>
              <a:rPr lang="en-US" altLang="zh-CN" dirty="0" err="1"/>
              <a:t>numpy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9EC18E-2936-D6E7-A5E1-7671AA8133A2}"/>
              </a:ext>
            </a:extLst>
          </p:cNvPr>
          <p:cNvSpPr txBox="1"/>
          <p:nvPr/>
        </p:nvSpPr>
        <p:spPr>
          <a:xfrm>
            <a:off x="5863553" y="3483720"/>
            <a:ext cx="49093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虚拟环境初始化</a:t>
            </a:r>
            <a:endParaRPr lang="en-US" altLang="zh-CN" dirty="0"/>
          </a:p>
          <a:p>
            <a:r>
              <a:rPr lang="en-US" altLang="zh-CN" dirty="0" err="1"/>
              <a:t>uv</a:t>
            </a:r>
            <a:r>
              <a:rPr lang="en-US" altLang="zh-CN" dirty="0"/>
              <a:t> </a:t>
            </a:r>
            <a:r>
              <a:rPr lang="en-US" altLang="zh-CN" dirty="0" err="1"/>
              <a:t>init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安装包 </a:t>
            </a:r>
            <a:endParaRPr lang="en-US" altLang="zh-CN" dirty="0"/>
          </a:p>
          <a:p>
            <a:r>
              <a:rPr lang="en-US" altLang="zh-CN" dirty="0" err="1"/>
              <a:t>uv</a:t>
            </a:r>
            <a:r>
              <a:rPr lang="en-US" altLang="zh-CN" dirty="0"/>
              <a:t> add </a:t>
            </a:r>
            <a:r>
              <a:rPr lang="en-US" altLang="zh-CN" dirty="0" err="1"/>
              <a:t>numpy</a:t>
            </a:r>
            <a:r>
              <a:rPr lang="en-US" altLang="zh-CN" dirty="0"/>
              <a:t> </a:t>
            </a:r>
          </a:p>
          <a:p>
            <a:r>
              <a:rPr lang="en-US" altLang="zh-CN" dirty="0" err="1"/>
              <a:t>uv</a:t>
            </a:r>
            <a:r>
              <a:rPr lang="en-US" altLang="zh-CN" dirty="0"/>
              <a:t> add pandas </a:t>
            </a:r>
          </a:p>
          <a:p>
            <a:endParaRPr lang="en-US" altLang="zh-CN" dirty="0"/>
          </a:p>
          <a:p>
            <a:r>
              <a:rPr lang="en-US" altLang="zh-CN" dirty="0" err="1"/>
              <a:t>uv</a:t>
            </a:r>
            <a:r>
              <a:rPr lang="en-US" altLang="zh-CN" dirty="0"/>
              <a:t> run python main.py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6921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0EC58E-C8D6-346E-1379-E516152D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0C3A37D-6EB8-3AF1-F805-A05749EA4F00}"/>
              </a:ext>
            </a:extLst>
          </p:cNvPr>
          <p:cNvSpPr txBox="1"/>
          <p:nvPr/>
        </p:nvSpPr>
        <p:spPr>
          <a:xfrm>
            <a:off x="724619" y="603849"/>
            <a:ext cx="3475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虚拟环境：</a:t>
            </a:r>
            <a:r>
              <a:rPr lang="en-US" altLang="zh-CN" sz="3600" b="1" dirty="0" err="1"/>
              <a:t>venv</a:t>
            </a:r>
            <a:endParaRPr lang="zh-CN" altLang="en-US" sz="36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34F109E-4BAA-44D1-A406-E9459B3F41B9}"/>
              </a:ext>
            </a:extLst>
          </p:cNvPr>
          <p:cNvSpPr txBox="1"/>
          <p:nvPr/>
        </p:nvSpPr>
        <p:spPr>
          <a:xfrm>
            <a:off x="724619" y="1731695"/>
            <a:ext cx="830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venv</a:t>
            </a:r>
            <a:r>
              <a:rPr lang="en-US" altLang="zh-CN" b="1" dirty="0"/>
              <a:t> – </a:t>
            </a:r>
            <a:r>
              <a:rPr lang="zh-CN" altLang="en-US" b="1" dirty="0"/>
              <a:t>整合包式管理：</a:t>
            </a:r>
            <a:r>
              <a:rPr lang="zh-CN" altLang="en-US" dirty="0"/>
              <a:t>每个环境都是一个整合包，彼此隔离但</a:t>
            </a:r>
            <a:r>
              <a:rPr lang="zh-CN" altLang="en-US" b="1" dirty="0"/>
              <a:t>不包含</a:t>
            </a:r>
            <a:r>
              <a:rPr lang="zh-CN" altLang="en-US" dirty="0"/>
              <a:t>解释器本体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EF3985-7078-B698-293E-F53678E3DE1B}"/>
              </a:ext>
            </a:extLst>
          </p:cNvPr>
          <p:cNvSpPr txBox="1"/>
          <p:nvPr/>
        </p:nvSpPr>
        <p:spPr>
          <a:xfrm>
            <a:off x="927038" y="2448650"/>
            <a:ext cx="1027717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pip install </a:t>
            </a:r>
            <a:r>
              <a:rPr lang="en-US" altLang="zh-CN" b="1" dirty="0" err="1"/>
              <a:t>virtualenv</a:t>
            </a:r>
            <a:r>
              <a:rPr lang="en-US" altLang="zh-CN" b="1" dirty="0"/>
              <a:t> </a:t>
            </a:r>
            <a:r>
              <a:rPr lang="en-US" altLang="zh-CN" dirty="0"/>
              <a:t># </a:t>
            </a:r>
            <a:r>
              <a:rPr lang="zh-CN" altLang="en-US" dirty="0"/>
              <a:t>在全局环境安装 “整合包制作器” </a:t>
            </a:r>
            <a:r>
              <a:rPr lang="en-US" altLang="zh-CN" dirty="0"/>
              <a:t>/ </a:t>
            </a:r>
            <a:r>
              <a:rPr lang="zh-CN" altLang="en-US" dirty="0"/>
              <a:t>虚拟环境创建器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python –m </a:t>
            </a:r>
            <a:r>
              <a:rPr lang="en-US" altLang="zh-CN" b="1" dirty="0" err="1"/>
              <a:t>venv</a:t>
            </a:r>
            <a:r>
              <a:rPr lang="en-US" altLang="zh-CN" b="1" dirty="0"/>
              <a:t> </a:t>
            </a:r>
            <a:r>
              <a:rPr lang="en-US" altLang="zh-CN" b="1" dirty="0" err="1"/>
              <a:t>myenv</a:t>
            </a:r>
            <a:r>
              <a:rPr lang="en-US" altLang="zh-CN" b="1" dirty="0"/>
              <a:t> </a:t>
            </a:r>
            <a:r>
              <a:rPr lang="en-US" altLang="zh-CN" dirty="0"/>
              <a:t># </a:t>
            </a:r>
            <a:r>
              <a:rPr lang="zh-CN" altLang="en-US" dirty="0"/>
              <a:t>以当前终端环境的 </a:t>
            </a:r>
            <a:r>
              <a:rPr lang="en-US" altLang="zh-CN" dirty="0"/>
              <a:t>python </a:t>
            </a:r>
            <a:r>
              <a:rPr lang="zh-CN" altLang="en-US" dirty="0"/>
              <a:t>为母本，创建空环境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 err="1"/>
              <a:t>myenv</a:t>
            </a:r>
            <a:r>
              <a:rPr lang="en-US" altLang="zh-CN" b="1" dirty="0"/>
              <a:t>\Scripts\activate </a:t>
            </a:r>
            <a:r>
              <a:rPr lang="zh-CN" altLang="en-US" b="1" dirty="0"/>
              <a:t>（</a:t>
            </a:r>
            <a:r>
              <a:rPr lang="en-US" altLang="zh-CN" b="1" dirty="0"/>
              <a:t>Windows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r>
              <a:rPr lang="en-US" altLang="zh-CN" b="1" dirty="0"/>
              <a:t>source </a:t>
            </a:r>
            <a:r>
              <a:rPr lang="en-US" altLang="zh-CN" b="1" dirty="0" err="1"/>
              <a:t>myenv</a:t>
            </a:r>
            <a:r>
              <a:rPr lang="en-US" altLang="zh-CN" b="1" dirty="0"/>
              <a:t>/bin/activate</a:t>
            </a:r>
            <a:r>
              <a:rPr lang="zh-CN" altLang="en-US" b="1" dirty="0"/>
              <a:t>（</a:t>
            </a:r>
            <a:r>
              <a:rPr lang="en-US" altLang="zh-CN" b="1" dirty="0"/>
              <a:t>Linux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(</a:t>
            </a:r>
            <a:r>
              <a:rPr lang="en-US" altLang="zh-CN" b="1" dirty="0" err="1"/>
              <a:t>myenv</a:t>
            </a:r>
            <a:r>
              <a:rPr lang="en-US" altLang="zh-CN" b="1" dirty="0"/>
              <a:t>) pip install </a:t>
            </a:r>
            <a:r>
              <a:rPr lang="en-US" altLang="zh-CN" b="1" dirty="0" err="1"/>
              <a:t>numpy</a:t>
            </a:r>
            <a:r>
              <a:rPr lang="en-US" altLang="zh-CN" b="1" dirty="0"/>
              <a:t>&gt;2 </a:t>
            </a:r>
            <a:r>
              <a:rPr lang="en-US" altLang="zh-CN" b="1" dirty="0" err="1"/>
              <a:t>scipy</a:t>
            </a:r>
            <a:r>
              <a:rPr lang="en-US" altLang="zh-CN" b="1" dirty="0"/>
              <a:t> matplotlib </a:t>
            </a:r>
            <a:r>
              <a:rPr lang="en-US" altLang="zh-CN" dirty="0"/>
              <a:t># </a:t>
            </a:r>
            <a:r>
              <a:rPr lang="zh-CN" altLang="en-US" dirty="0"/>
              <a:t>调用整合包自带的 </a:t>
            </a:r>
            <a:r>
              <a:rPr lang="en-US" altLang="zh-CN" dirty="0"/>
              <a:t>pip </a:t>
            </a:r>
            <a:r>
              <a:rPr lang="zh-CN" altLang="en-US" dirty="0"/>
              <a:t>工具，向整合包中添加依赖</a:t>
            </a:r>
            <a:endParaRPr lang="en-US" altLang="zh-CN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F1D35A-DF4E-1DDB-1997-4E6870C5593C}"/>
              </a:ext>
            </a:extLst>
          </p:cNvPr>
          <p:cNvSpPr txBox="1"/>
          <p:nvPr/>
        </p:nvSpPr>
        <p:spPr>
          <a:xfrm>
            <a:off x="4944234" y="3681876"/>
            <a:ext cx="223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激活当前虚拟环境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D003088-1316-6B8F-3AFE-E6A05FA4202C}"/>
              </a:ext>
            </a:extLst>
          </p:cNvPr>
          <p:cNvSpPr txBox="1"/>
          <p:nvPr/>
        </p:nvSpPr>
        <p:spPr>
          <a:xfrm>
            <a:off x="724619" y="5284434"/>
            <a:ext cx="10329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优势：本身极度轻量化，依赖少，操作简便，适应各种机器</a:t>
            </a:r>
            <a:endParaRPr lang="en-US" altLang="zh-CN" sz="2000" dirty="0"/>
          </a:p>
          <a:p>
            <a:r>
              <a:rPr lang="zh-CN" altLang="en-US" sz="2000" dirty="0"/>
              <a:t>劣势：存储利用率低；</a:t>
            </a:r>
            <a:r>
              <a:rPr lang="en-US" altLang="zh-CN" sz="2000" dirty="0"/>
              <a:t>python </a:t>
            </a:r>
            <a:r>
              <a:rPr lang="zh-CN" altLang="en-US" sz="2000" dirty="0"/>
              <a:t>版本强依赖于当前执行该命令的版本（可结合 </a:t>
            </a:r>
            <a:r>
              <a:rPr lang="en-US" altLang="zh-CN" sz="2000" dirty="0" err="1"/>
              <a:t>pyenv</a:t>
            </a:r>
            <a:r>
              <a:rPr lang="en-US" altLang="zh-CN" sz="2000" dirty="0"/>
              <a:t> </a:t>
            </a:r>
            <a:r>
              <a:rPr lang="zh-CN" altLang="en-US" sz="2000" dirty="0"/>
              <a:t>解决）</a:t>
            </a:r>
          </a:p>
        </p:txBody>
      </p:sp>
    </p:spTree>
    <p:extLst>
      <p:ext uri="{BB962C8B-B14F-4D97-AF65-F5344CB8AC3E}">
        <p14:creationId xmlns:p14="http://schemas.microsoft.com/office/powerpoint/2010/main" val="2906108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BED71-3EE5-F436-70D5-ACD83BDDD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2085680-E5BF-A3FB-E18C-8AFCCA766573}"/>
              </a:ext>
            </a:extLst>
          </p:cNvPr>
          <p:cNvSpPr txBox="1"/>
          <p:nvPr/>
        </p:nvSpPr>
        <p:spPr>
          <a:xfrm>
            <a:off x="724619" y="603849"/>
            <a:ext cx="3773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虚拟环境：</a:t>
            </a:r>
            <a:r>
              <a:rPr lang="en-US" altLang="zh-CN" sz="3600" b="1" dirty="0" err="1"/>
              <a:t>conda</a:t>
            </a:r>
            <a:endParaRPr lang="zh-CN" altLang="en-US" sz="36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5DD956-5D82-D3FD-EF33-5E4F2A050149}"/>
              </a:ext>
            </a:extLst>
          </p:cNvPr>
          <p:cNvSpPr txBox="1"/>
          <p:nvPr/>
        </p:nvSpPr>
        <p:spPr>
          <a:xfrm>
            <a:off x="724619" y="1769852"/>
            <a:ext cx="7603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两种做法：对应 </a:t>
            </a:r>
            <a:r>
              <a:rPr lang="en-US" altLang="zh-CN" b="1" dirty="0" err="1"/>
              <a:t>venv</a:t>
            </a:r>
            <a:r>
              <a:rPr lang="zh-CN" altLang="en-US" b="1" dirty="0"/>
              <a:t>（</a:t>
            </a:r>
            <a:r>
              <a:rPr lang="en-US" altLang="zh-CN" b="1" dirty="0"/>
              <a:t>Virtual Env</a:t>
            </a:r>
            <a:r>
              <a:rPr lang="zh-CN" altLang="en-US" b="1" dirty="0"/>
              <a:t>）和 </a:t>
            </a:r>
            <a:r>
              <a:rPr lang="en-US" altLang="zh-CN" b="1" dirty="0" err="1"/>
              <a:t>conda</a:t>
            </a:r>
            <a:r>
              <a:rPr lang="zh-CN" altLang="en-US" b="1" dirty="0"/>
              <a:t>（</a:t>
            </a:r>
            <a:r>
              <a:rPr lang="en-US" altLang="zh-CN" b="1" dirty="0"/>
              <a:t>Anaconda/</a:t>
            </a:r>
            <a:r>
              <a:rPr lang="en-US" altLang="zh-CN" b="1" dirty="0" err="1"/>
              <a:t>Miniconda</a:t>
            </a:r>
            <a:r>
              <a:rPr lang="zh-CN" altLang="en-US" b="1" dirty="0"/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A162D4-BE51-3B16-487B-E805D7A37E85}"/>
              </a:ext>
            </a:extLst>
          </p:cNvPr>
          <p:cNvSpPr txBox="1"/>
          <p:nvPr/>
        </p:nvSpPr>
        <p:spPr>
          <a:xfrm>
            <a:off x="964594" y="3085698"/>
            <a:ext cx="82818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conda</a:t>
            </a:r>
            <a:r>
              <a:rPr lang="en-US" altLang="zh-CN" b="1" dirty="0"/>
              <a:t> – </a:t>
            </a:r>
            <a:r>
              <a:rPr lang="zh-CN" altLang="en-US" b="1" dirty="0"/>
              <a:t>启动器式管理：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解释器与包是解耦的，分别管理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可以自由组合本体与依赖的版本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4884C1A-DED9-B37E-A47E-D5719255C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28988"/>
            <a:ext cx="4549146" cy="279074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56416F-AAAE-269D-AB4A-4E19D8342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082" y="3906316"/>
            <a:ext cx="4480124" cy="268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96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859A674-F94D-60E6-205C-2BF0EFE28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D86C39D-C668-5B8C-CC8B-718A21579100}"/>
              </a:ext>
            </a:extLst>
          </p:cNvPr>
          <p:cNvSpPr txBox="1"/>
          <p:nvPr/>
        </p:nvSpPr>
        <p:spPr>
          <a:xfrm>
            <a:off x="724619" y="603849"/>
            <a:ext cx="3773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虚拟环境：</a:t>
            </a:r>
            <a:r>
              <a:rPr lang="en-US" altLang="zh-CN" sz="3600" b="1" dirty="0" err="1"/>
              <a:t>conda</a:t>
            </a:r>
            <a:endParaRPr lang="zh-CN" altLang="en-US" sz="36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7F1FE2-F511-C0B3-AB44-028B7EDE2977}"/>
              </a:ext>
            </a:extLst>
          </p:cNvPr>
          <p:cNvSpPr txBox="1"/>
          <p:nvPr/>
        </p:nvSpPr>
        <p:spPr>
          <a:xfrm>
            <a:off x="724619" y="1770807"/>
            <a:ext cx="8311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conda</a:t>
            </a:r>
            <a:r>
              <a:rPr lang="en-US" altLang="zh-CN" b="1" dirty="0"/>
              <a:t> – </a:t>
            </a:r>
            <a:r>
              <a:rPr lang="zh-CN" altLang="en-US" b="1" dirty="0"/>
              <a:t>启动器式管理：</a:t>
            </a:r>
            <a:r>
              <a:rPr lang="zh-CN" altLang="en-US" dirty="0"/>
              <a:t>解释器与包是解耦的，可以自由组合本体与依赖的版本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7E3B4A-56B6-674D-EAB0-97D91689FC10}"/>
              </a:ext>
            </a:extLst>
          </p:cNvPr>
          <p:cNvSpPr txBox="1"/>
          <p:nvPr/>
        </p:nvSpPr>
        <p:spPr>
          <a:xfrm>
            <a:off x="890124" y="3153910"/>
            <a:ext cx="903484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conda</a:t>
            </a:r>
            <a:r>
              <a:rPr lang="en-US" altLang="zh-CN" b="1" dirty="0"/>
              <a:t> create –n </a:t>
            </a:r>
            <a:r>
              <a:rPr lang="en-US" altLang="zh-CN" b="1" dirty="0" err="1"/>
              <a:t>myenv</a:t>
            </a:r>
            <a:r>
              <a:rPr lang="en-US" altLang="zh-CN" b="1" dirty="0"/>
              <a:t> python=3.9 </a:t>
            </a:r>
            <a:r>
              <a:rPr lang="en-US" altLang="zh-CN" dirty="0"/>
              <a:t># </a:t>
            </a:r>
            <a:r>
              <a:rPr lang="zh-CN" altLang="en-US" dirty="0"/>
              <a:t>拉取 </a:t>
            </a:r>
            <a:r>
              <a:rPr lang="en-US" altLang="zh-CN" dirty="0"/>
              <a:t>python 3.9 </a:t>
            </a:r>
            <a:r>
              <a:rPr lang="zh-CN" altLang="en-US" dirty="0"/>
              <a:t>的本体，并以此为母本创建环境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 err="1"/>
              <a:t>conda</a:t>
            </a:r>
            <a:r>
              <a:rPr lang="en-US" altLang="zh-CN" b="1" dirty="0"/>
              <a:t> activate </a:t>
            </a:r>
            <a:r>
              <a:rPr lang="en-US" altLang="zh-CN" b="1" dirty="0" err="1"/>
              <a:t>myenv</a:t>
            </a:r>
            <a:r>
              <a:rPr lang="en-US" altLang="zh-CN" b="1" dirty="0"/>
              <a:t> </a:t>
            </a:r>
            <a:r>
              <a:rPr lang="en-US" altLang="zh-CN" dirty="0"/>
              <a:t># </a:t>
            </a:r>
            <a:r>
              <a:rPr lang="zh-CN" altLang="en-US" dirty="0"/>
              <a:t>激活虚拟环境</a:t>
            </a:r>
            <a:endParaRPr lang="en-US" altLang="zh-CN" dirty="0"/>
          </a:p>
          <a:p>
            <a:endParaRPr lang="en-US" altLang="zh-CN" b="1" dirty="0"/>
          </a:p>
          <a:p>
            <a:r>
              <a:rPr lang="en-US" altLang="zh-CN" b="1" dirty="0" err="1"/>
              <a:t>conda</a:t>
            </a:r>
            <a:r>
              <a:rPr lang="en-US" altLang="zh-CN" b="1" dirty="0"/>
              <a:t> install / pip install </a:t>
            </a:r>
            <a:r>
              <a:rPr lang="en-US" altLang="zh-CN" b="1" dirty="0" err="1"/>
              <a:t>numpy</a:t>
            </a:r>
            <a:r>
              <a:rPr lang="en-US" altLang="zh-CN" b="1" dirty="0"/>
              <a:t>&gt;2 </a:t>
            </a:r>
            <a:r>
              <a:rPr lang="en-US" altLang="zh-CN" b="1" dirty="0" err="1"/>
              <a:t>scipy</a:t>
            </a:r>
            <a:r>
              <a:rPr lang="en-US" altLang="zh-CN" b="1" dirty="0"/>
              <a:t> matplotlib </a:t>
            </a:r>
            <a:r>
              <a:rPr lang="en-US" altLang="zh-CN" dirty="0"/>
              <a:t># </a:t>
            </a:r>
            <a:r>
              <a:rPr lang="zh-CN" altLang="en-US" dirty="0"/>
              <a:t>使用 </a:t>
            </a:r>
            <a:r>
              <a:rPr lang="en-US" altLang="zh-CN" dirty="0" err="1"/>
              <a:t>conda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/>
              <a:t>pip </a:t>
            </a:r>
            <a:r>
              <a:rPr lang="zh-CN" altLang="en-US" dirty="0"/>
              <a:t>安装依赖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EDA447-19BB-49BE-EABE-9D1C3CC77E56}"/>
              </a:ext>
            </a:extLst>
          </p:cNvPr>
          <p:cNvSpPr txBox="1"/>
          <p:nvPr/>
        </p:nvSpPr>
        <p:spPr>
          <a:xfrm>
            <a:off x="724619" y="2476100"/>
            <a:ext cx="4705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**</a:t>
            </a:r>
            <a:r>
              <a:rPr lang="zh-CN" altLang="en-US" b="1" dirty="0"/>
              <a:t>需要先安装 </a:t>
            </a:r>
            <a:r>
              <a:rPr lang="en-US" altLang="zh-CN" b="1" dirty="0"/>
              <a:t>Anaconda</a:t>
            </a:r>
            <a:r>
              <a:rPr lang="zh-CN" altLang="en-US" b="1" dirty="0"/>
              <a:t>，详情见实验手册</a:t>
            </a:r>
            <a:r>
              <a:rPr lang="en-US" altLang="zh-CN" b="1" dirty="0"/>
              <a:t>**</a:t>
            </a:r>
            <a:endParaRPr lang="zh-CN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76AFF1-FEA1-C4F2-8A5B-4B283A552E82}"/>
              </a:ext>
            </a:extLst>
          </p:cNvPr>
          <p:cNvSpPr txBox="1"/>
          <p:nvPr/>
        </p:nvSpPr>
        <p:spPr>
          <a:xfrm>
            <a:off x="724619" y="5284434"/>
            <a:ext cx="9681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优势：</a:t>
            </a:r>
            <a:r>
              <a:rPr lang="en-US" altLang="zh-CN" sz="2000" dirty="0"/>
              <a:t>python </a:t>
            </a:r>
            <a:r>
              <a:rPr lang="zh-CN" altLang="en-US" sz="2000" dirty="0"/>
              <a:t>版本易于修改；依赖和解释器解耦可以用缓存高效利用存储</a:t>
            </a:r>
            <a:endParaRPr lang="en-US" altLang="zh-CN" sz="2000" dirty="0"/>
          </a:p>
          <a:p>
            <a:r>
              <a:rPr lang="zh-CN" altLang="en-US" sz="2000" dirty="0"/>
              <a:t>劣势：需要提前安装 </a:t>
            </a:r>
            <a:r>
              <a:rPr lang="en-US" altLang="zh-CN" sz="2000" dirty="0"/>
              <a:t>Anaconda</a:t>
            </a:r>
            <a:r>
              <a:rPr lang="zh-CN" altLang="en-US" sz="2000" dirty="0"/>
              <a:t>，且受制于之（</a:t>
            </a:r>
            <a:r>
              <a:rPr lang="zh-CN" altLang="en-US" sz="2000" b="1" dirty="0"/>
              <a:t>对老机器不友好，尤其是公用服务器</a:t>
            </a:r>
            <a:r>
              <a:rPr lang="zh-CN" altLang="en-US" sz="20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366320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C488DB5-EB80-AF85-9E50-F6F2C921F0BF}"/>
              </a:ext>
            </a:extLst>
          </p:cNvPr>
          <p:cNvSpPr txBox="1"/>
          <p:nvPr/>
        </p:nvSpPr>
        <p:spPr>
          <a:xfrm>
            <a:off x="724619" y="603849"/>
            <a:ext cx="7800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开发环境：</a:t>
            </a:r>
            <a:r>
              <a:rPr lang="en-US" altLang="zh-CN" sz="3600" b="1" dirty="0"/>
              <a:t>IDE </a:t>
            </a:r>
            <a:r>
              <a:rPr lang="zh-CN" altLang="en-US" sz="3600" b="1" dirty="0"/>
              <a:t>或者文本编辑器</a:t>
            </a:r>
            <a:r>
              <a:rPr lang="en-US" altLang="zh-CN" sz="3600" b="1" dirty="0"/>
              <a:t>+</a:t>
            </a:r>
            <a:r>
              <a:rPr lang="zh-CN" altLang="en-US" sz="3600" b="1" dirty="0"/>
              <a:t>终端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71A2DC-8C67-9EC3-AF58-B69600FC78E6}"/>
              </a:ext>
            </a:extLst>
          </p:cNvPr>
          <p:cNvSpPr txBox="1"/>
          <p:nvPr/>
        </p:nvSpPr>
        <p:spPr>
          <a:xfrm>
            <a:off x="801112" y="1901628"/>
            <a:ext cx="7419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主流 </a:t>
            </a:r>
            <a:r>
              <a:rPr lang="en-US" altLang="zh-CN" sz="2400" b="1" dirty="0"/>
              <a:t>python</a:t>
            </a:r>
            <a:r>
              <a:rPr lang="zh-CN" altLang="en-US" sz="2400" b="1" dirty="0"/>
              <a:t> 开发 </a:t>
            </a:r>
            <a:r>
              <a:rPr lang="en-US" altLang="zh-CN" sz="2400" b="1" dirty="0"/>
              <a:t>IDE</a:t>
            </a:r>
            <a:r>
              <a:rPr lang="zh-CN" altLang="en-US" sz="2400" dirty="0"/>
              <a:t>：</a:t>
            </a:r>
            <a:r>
              <a:rPr lang="en-US" altLang="zh-CN" sz="2400" dirty="0" err="1">
                <a:solidFill>
                  <a:schemeClr val="accent2"/>
                </a:solidFill>
              </a:rPr>
              <a:t>VSCode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pycharm</a:t>
            </a:r>
            <a:r>
              <a:rPr lang="zh-CN" altLang="en-US" sz="2400" dirty="0"/>
              <a:t>、</a:t>
            </a:r>
            <a:r>
              <a:rPr lang="en-US" altLang="zh-CN" sz="2400" dirty="0"/>
              <a:t>spyder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3AFC08-E21D-1B68-E4D7-86D17F518338}"/>
              </a:ext>
            </a:extLst>
          </p:cNvPr>
          <p:cNvSpPr txBox="1"/>
          <p:nvPr/>
        </p:nvSpPr>
        <p:spPr>
          <a:xfrm>
            <a:off x="873940" y="2565175"/>
            <a:ext cx="97914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本课程计划使用 </a:t>
            </a:r>
            <a:r>
              <a:rPr lang="en-US" altLang="zh-CN" dirty="0" err="1"/>
              <a:t>VSCode</a:t>
            </a:r>
            <a:r>
              <a:rPr lang="zh-CN" altLang="en-US" dirty="0"/>
              <a:t>，其安装教程详见实验手册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Pycharm</a:t>
            </a:r>
            <a:r>
              <a:rPr lang="en-US" altLang="zh-CN" dirty="0"/>
              <a:t> </a:t>
            </a:r>
            <a:r>
              <a:rPr lang="zh-CN" altLang="en-US" dirty="0"/>
              <a:t>相较 </a:t>
            </a:r>
            <a:r>
              <a:rPr lang="en-US" altLang="zh-CN" dirty="0" err="1"/>
              <a:t>VSCode</a:t>
            </a:r>
            <a:r>
              <a:rPr lang="en-US" altLang="zh-CN" dirty="0"/>
              <a:t> </a:t>
            </a:r>
            <a:r>
              <a:rPr lang="zh-CN" altLang="en-US" dirty="0"/>
              <a:t>更加傻瓜且功能更强大，但是更臃肿也需要付费（除非用学习版</a:t>
            </a:r>
            <a:r>
              <a:rPr lang="en-US" altLang="zh-CN" dirty="0"/>
              <a:t>awa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765E54-D750-2B63-E503-093459DDEEC4}"/>
              </a:ext>
            </a:extLst>
          </p:cNvPr>
          <p:cNvSpPr txBox="1"/>
          <p:nvPr/>
        </p:nvSpPr>
        <p:spPr>
          <a:xfrm>
            <a:off x="801112" y="3967386"/>
            <a:ext cx="8739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文本编辑器 </a:t>
            </a:r>
            <a:r>
              <a:rPr lang="en-US" altLang="zh-CN" sz="2400" b="1" dirty="0"/>
              <a:t>+ </a:t>
            </a:r>
            <a:r>
              <a:rPr lang="zh-CN" altLang="en-US" sz="2400" b="1" dirty="0"/>
              <a:t>终端解释器执行（远程开发时不建议）</a:t>
            </a: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9910281-20B6-9277-A50A-8F38D2B21958}"/>
              </a:ext>
            </a:extLst>
          </p:cNvPr>
          <p:cNvSpPr txBox="1"/>
          <p:nvPr/>
        </p:nvSpPr>
        <p:spPr>
          <a:xfrm>
            <a:off x="873940" y="5461930"/>
            <a:ext cx="71689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Linux </a:t>
            </a:r>
            <a:r>
              <a:rPr lang="zh-CN" altLang="en-US" dirty="0"/>
              <a:t>命令行环境下，使用 </a:t>
            </a:r>
            <a:r>
              <a:rPr lang="en-US" altLang="zh-CN" dirty="0"/>
              <a:t>Vim/nano </a:t>
            </a:r>
            <a:r>
              <a:rPr lang="zh-CN" altLang="en-US" dirty="0"/>
              <a:t>编辑脚本，之后从终端直接执行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对某些甚至不支持 </a:t>
            </a:r>
            <a:r>
              <a:rPr lang="en-US" altLang="zh-CN" dirty="0" err="1"/>
              <a:t>VSCode</a:t>
            </a:r>
            <a:r>
              <a:rPr lang="en-US" altLang="zh-CN" dirty="0"/>
              <a:t> </a:t>
            </a:r>
            <a:r>
              <a:rPr lang="zh-CN" altLang="en-US" dirty="0"/>
              <a:t>远程 </a:t>
            </a:r>
            <a:r>
              <a:rPr lang="en-US" altLang="zh-CN" dirty="0"/>
              <a:t>ssh </a:t>
            </a:r>
            <a:r>
              <a:rPr lang="zh-CN" altLang="en-US" dirty="0"/>
              <a:t>的老服务器来说是优解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1A68DE-696D-B53F-76CD-C8A22E801A44}"/>
              </a:ext>
            </a:extLst>
          </p:cNvPr>
          <p:cNvSpPr txBox="1"/>
          <p:nvPr/>
        </p:nvSpPr>
        <p:spPr>
          <a:xfrm>
            <a:off x="873940" y="4887620"/>
            <a:ext cx="10444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大多数服务器环境都不会安装图形化界面（</a:t>
            </a:r>
            <a:r>
              <a:rPr lang="en-US" altLang="zh-CN" dirty="0"/>
              <a:t>GUI</a:t>
            </a:r>
            <a:r>
              <a:rPr lang="zh-CN" altLang="en-US" dirty="0"/>
              <a:t>）；需要通过 </a:t>
            </a:r>
            <a:r>
              <a:rPr lang="en-US" altLang="zh-CN" dirty="0" err="1"/>
              <a:t>VSCode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ssh </a:t>
            </a:r>
            <a:r>
              <a:rPr lang="zh-CN" altLang="en-US" dirty="0"/>
              <a:t>插件接入</a:t>
            </a:r>
          </a:p>
        </p:txBody>
      </p:sp>
    </p:spTree>
    <p:extLst>
      <p:ext uri="{BB962C8B-B14F-4D97-AF65-F5344CB8AC3E}">
        <p14:creationId xmlns:p14="http://schemas.microsoft.com/office/powerpoint/2010/main" val="1230258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390E2-0E09-295B-BDCE-ECF4A77E9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9663D5F-CCE9-8208-22F7-69C46A3E897B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878EE7-8DEC-0941-122A-3A18F5E747DC}"/>
              </a:ext>
            </a:extLst>
          </p:cNvPr>
          <p:cNvSpPr txBox="1"/>
          <p:nvPr/>
        </p:nvSpPr>
        <p:spPr>
          <a:xfrm>
            <a:off x="1475116" y="2305615"/>
            <a:ext cx="75308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实验考察内容（</a:t>
            </a:r>
            <a:r>
              <a:rPr lang="en-US" altLang="zh-CN" sz="2800" dirty="0"/>
              <a:t>Python </a:t>
            </a:r>
            <a:r>
              <a:rPr lang="zh-CN" altLang="en-US" sz="2800" dirty="0"/>
              <a:t>介绍、变量与变量类型）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环境介绍与配置（虚拟环境与开发环境）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b="1" dirty="0">
                <a:solidFill>
                  <a:schemeClr val="accent2"/>
                </a:solidFill>
              </a:rPr>
              <a:t>本次实验任务</a:t>
            </a:r>
            <a:endParaRPr lang="en-US" altLang="zh-CN" sz="2800" b="1" dirty="0">
              <a:solidFill>
                <a:schemeClr val="accent2"/>
              </a:solidFill>
            </a:endParaRPr>
          </a:p>
          <a:p>
            <a:endParaRPr lang="en-US" altLang="zh-CN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E7B198-7A34-B0A2-2BD3-54E5422310C6}"/>
              </a:ext>
            </a:extLst>
          </p:cNvPr>
          <p:cNvSpPr txBox="1"/>
          <p:nvPr/>
        </p:nvSpPr>
        <p:spPr>
          <a:xfrm>
            <a:off x="1475116" y="2758112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31684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1360</Words>
  <Application>Microsoft Office PowerPoint</Application>
  <PresentationFormat>宽屏</PresentationFormat>
  <Paragraphs>211</Paragraphs>
  <Slides>24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OvO QwQ</dc:creator>
  <cp:lastModifiedBy>OvO QwQ</cp:lastModifiedBy>
  <cp:revision>4</cp:revision>
  <dcterms:created xsi:type="dcterms:W3CDTF">2026-09-12T02:02:21Z</dcterms:created>
  <dcterms:modified xsi:type="dcterms:W3CDTF">2026-09-13T03:00:36Z</dcterms:modified>
</cp:coreProperties>
</file>