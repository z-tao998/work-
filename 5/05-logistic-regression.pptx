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6275F-E8CD-BAA0-72A4-E32DFBC5B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2C985D-13D0-FC29-BCCA-0FFF20ABA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542040-250E-E0A0-D550-2AFAEEF4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1989-A866-4EC8-ACEA-C8DF79C070C6}" type="datetimeFigureOut">
              <a:rPr lang="zh-CN" altLang="en-US" smtClean="0"/>
              <a:t>2026-10-28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1E6587-BB5D-B4E3-A6BB-F7825CCFC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E2964C-F1E3-EAD5-4849-3DE728557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6A1F6-5FB6-4356-B7C8-0CAC3ACC18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60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087C3-0108-F068-C37D-F8C47227E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5A06AE-EC45-16C4-C80B-45418EA70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5B1E6D-6577-4B7A-2F27-8E8B9ED0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1989-A866-4EC8-ACEA-C8DF79C070C6}" type="datetimeFigureOut">
              <a:rPr lang="zh-CN" altLang="en-US" smtClean="0"/>
              <a:t>2026-10-28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FBF02B-FDA8-4E00-B177-A0A3FC390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FAC71E-3CD0-114B-2F69-E30F56B67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6A1F6-5FB6-4356-B7C8-0CAC3ACC18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23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BFA3C8-7803-CB3A-8BF3-B7B940AC5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A12A59-B493-8E97-56C6-E13748938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1F00C3-AD27-A8D3-2B6E-01CECE2FB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1989-A866-4EC8-ACEA-C8DF79C070C6}" type="datetimeFigureOut">
              <a:rPr lang="zh-CN" altLang="en-US" smtClean="0"/>
              <a:t>2026-10-28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C97DC9-D624-FA6D-E985-ACA371D9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188AFB-7C96-6C81-A582-4DB140728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6A1F6-5FB6-4356-B7C8-0CAC3ACC18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889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15DAF-9643-0A8C-E902-ABD02B6C6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1C8893-625A-B268-2F1F-581812C0B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F0CBA4-DA09-9292-5D18-332F532E1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DD460B-260D-EB0C-07E1-B834BDFAA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1989-A866-4EC8-ACEA-C8DF79C070C6}" type="datetimeFigureOut">
              <a:rPr lang="zh-CN" altLang="en-US" smtClean="0"/>
              <a:t>2026-10-28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ECBDA1-A98F-C1F1-4CC6-F5DF882F5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2F11A0-9050-654D-FAC9-BD12D16C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6A1F6-5FB6-4356-B7C8-0CAC3ACC18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1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A1EFB-E9B2-EC0B-0DE3-261100EE1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5F5162-B348-CCED-F214-A84D987E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28B971-3AEE-6FFC-C46F-C42F7F286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17DBB3-08A4-6E2C-CF80-92926ED02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6381A1-7750-C793-8C45-0B335F616C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94428D-F589-9E7D-CB82-0DA466286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1989-A866-4EC8-ACEA-C8DF79C070C6}" type="datetimeFigureOut">
              <a:rPr lang="zh-CN" altLang="en-US" smtClean="0"/>
              <a:t>2026-10-28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6B4430-464E-68C3-D49E-2A7EB13E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18E9C7-615F-BD22-5D83-9DC01F0E6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6A1F6-5FB6-4356-B7C8-0CAC3ACC18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91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35E94-F9BC-80AA-5A2D-FA7F111B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FB1F9D-27BD-E495-B14B-978F8479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1989-A866-4EC8-ACEA-C8DF79C070C6}" type="datetimeFigureOut">
              <a:rPr lang="zh-CN" altLang="en-US" smtClean="0"/>
              <a:t>2026-10-28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A3FBB9-5F49-90CC-C2BE-D3598164B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C70EF1-DFD5-F747-2B22-36772E49E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6A1F6-5FB6-4356-B7C8-0CAC3ACC18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513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99D880-7EB5-C8E9-E440-61532C5D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1989-A866-4EC8-ACEA-C8DF79C070C6}" type="datetimeFigureOut">
              <a:rPr lang="zh-CN" altLang="en-US" smtClean="0"/>
              <a:t>2026-10-28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706894-E57B-473D-7D03-A5F5F99D2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A63EBF-892F-5250-6F66-6EE5D08F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6A1F6-5FB6-4356-B7C8-0CAC3ACC18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087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D12D71-9047-0D91-83A4-18910F5AC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BBDB22-BDF1-5F83-F3EA-4C95EAFA2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16A5C0-BB4E-3BAD-ED58-47C74B400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518DE0-718B-1670-FB7F-079DBFD3B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1989-A866-4EC8-ACEA-C8DF79C070C6}" type="datetimeFigureOut">
              <a:rPr lang="zh-CN" altLang="en-US" smtClean="0"/>
              <a:t>2026-10-28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42FF43-6133-A24C-07F2-53BE081D6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9CE6B2-C62A-1490-5ACD-F36C5407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6A1F6-5FB6-4356-B7C8-0CAC3ACC18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914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65EEDA-4937-E417-CF09-4E5BD917D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1189F7-D6C5-662C-ED44-48234882F6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64A9A2-ACD7-93FA-6687-6A3A54A42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B53E2C-0FA1-6B98-D168-354B3BB3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1989-A866-4EC8-ACEA-C8DF79C070C6}" type="datetimeFigureOut">
              <a:rPr lang="zh-CN" altLang="en-US" smtClean="0"/>
              <a:t>2026-10-28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186022-62E2-BA87-5901-818E05980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6F467F-AF89-A9F1-AB26-6E7E8226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6A1F6-5FB6-4356-B7C8-0CAC3ACC18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237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3DA9E-4605-23CB-9167-AF877E5E1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B305B9-02DD-3217-D69C-CCB6D0B25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513640-9F27-56DF-F931-485A05E2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1989-A866-4EC8-ACEA-C8DF79C070C6}" type="datetimeFigureOut">
              <a:rPr lang="zh-CN" altLang="en-US" smtClean="0"/>
              <a:t>2026-10-28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D8FD07-82D9-ECD7-0933-561D9BD03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87BD5-8C9C-DD58-5606-C6586BE28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6A1F6-5FB6-4356-B7C8-0CAC3ACC18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86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B579A6-3DFC-9C41-EC30-21D663299B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6BF88D-9D59-6F89-159D-D69FC240A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34F327-E0AD-9761-9F8A-66FF61F03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1989-A866-4EC8-ACEA-C8DF79C070C6}" type="datetimeFigureOut">
              <a:rPr lang="zh-CN" altLang="en-US" smtClean="0"/>
              <a:t>2026-10-28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A57695-DD9F-6D23-75A0-B9C07905B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774E34-7A9D-6AAE-D591-95ADBAC13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6A1F6-5FB6-4356-B7C8-0CAC3ACC18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693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7283EE8-3994-93F9-AFC1-4D4AA6E7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57507C-2D1F-B743-41C4-0125DD104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C6A216-C821-13D9-FF48-10645FCF1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851989-A866-4EC8-ACEA-C8DF79C070C6}" type="datetimeFigureOut">
              <a:rPr lang="zh-CN" altLang="en-US" smtClean="0"/>
              <a:t>2026-10-28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24C3C1-09CD-208F-3EBE-82FBB4DDD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5CCD13-6426-CEBC-19F0-D16D8FA44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6A1F6-5FB6-4356-B7C8-0CAC3ACC18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176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erhyi@mail.ustc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openai.com/api/docs/guides/latest-model?utm_source=chatgpt.com#gpt-6-astra-initiative-and-follow-through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F6725D3-B95D-93BD-7297-653ED46285CE}"/>
              </a:ext>
            </a:extLst>
          </p:cNvPr>
          <p:cNvSpPr txBox="1"/>
          <p:nvPr/>
        </p:nvSpPr>
        <p:spPr>
          <a:xfrm>
            <a:off x="4208303" y="2721114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/>
              <a:t>第五次基础实验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15280D-A837-1776-F217-D9FE9F0F6E72}"/>
              </a:ext>
            </a:extLst>
          </p:cNvPr>
          <p:cNvSpPr txBox="1"/>
          <p:nvPr/>
        </p:nvSpPr>
        <p:spPr>
          <a:xfrm>
            <a:off x="4768553" y="4425351"/>
            <a:ext cx="26548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SA26010061 </a:t>
            </a:r>
            <a:r>
              <a:rPr lang="zh-CN" altLang="en-US" dirty="0"/>
              <a:t>张建</a:t>
            </a:r>
            <a:endParaRPr lang="en-US" altLang="zh-CN" dirty="0"/>
          </a:p>
          <a:p>
            <a:pPr algn="ctr"/>
            <a:r>
              <a:rPr lang="en-US" altLang="zh-CN" dirty="0">
                <a:hlinkClick r:id="rId2"/>
              </a:rPr>
              <a:t>merhyi@mail.ustc.edu.cn</a:t>
            </a:r>
            <a:endParaRPr lang="en-US" altLang="zh-CN" dirty="0"/>
          </a:p>
          <a:p>
            <a:pPr algn="ctr"/>
            <a:r>
              <a:rPr lang="en-US" altLang="zh-CN" dirty="0"/>
              <a:t>2026.10.30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159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A58E1-5214-6CF6-8E59-06F8F861D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D22FA36-DEBB-89FB-0E7A-9665674677E2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9CF238-952C-DC22-4E6B-A640984AB36A}"/>
              </a:ext>
            </a:extLst>
          </p:cNvPr>
          <p:cNvSpPr txBox="1"/>
          <p:nvPr/>
        </p:nvSpPr>
        <p:spPr>
          <a:xfrm>
            <a:off x="1475115" y="2736502"/>
            <a:ext cx="97686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逻辑回归与深度学习范式</a:t>
            </a:r>
            <a:endParaRPr lang="en-US" altLang="zh-CN" sz="2800" dirty="0"/>
          </a:p>
          <a:p>
            <a:endParaRPr lang="en-US" altLang="zh-CN" sz="2800" dirty="0">
              <a:solidFill>
                <a:schemeClr val="accent2"/>
              </a:solidFill>
            </a:endParaRPr>
          </a:p>
          <a:p>
            <a:r>
              <a:rPr lang="en-US" altLang="zh-CN" sz="2800" dirty="0"/>
              <a:t>Agent</a:t>
            </a:r>
            <a:r>
              <a:rPr lang="zh-CN" altLang="en-US" sz="2800" dirty="0"/>
              <a:t>、提示词工程与 </a:t>
            </a:r>
            <a:r>
              <a:rPr lang="en-US" altLang="zh-CN" sz="2800" dirty="0"/>
              <a:t>Harness</a:t>
            </a:r>
          </a:p>
        </p:txBody>
      </p:sp>
    </p:spTree>
    <p:extLst>
      <p:ext uri="{BB962C8B-B14F-4D97-AF65-F5344CB8AC3E}">
        <p14:creationId xmlns:p14="http://schemas.microsoft.com/office/powerpoint/2010/main" val="3074034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D9651-19C7-38CC-EBC2-736DBDE0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B64482-2744-60E9-29C6-C153DCCDDC7C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AB4610-BC75-F888-B4FA-AFBBADE82081}"/>
              </a:ext>
            </a:extLst>
          </p:cNvPr>
          <p:cNvSpPr txBox="1"/>
          <p:nvPr/>
        </p:nvSpPr>
        <p:spPr>
          <a:xfrm>
            <a:off x="1475115" y="2736502"/>
            <a:ext cx="97686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</a:rPr>
              <a:t>逻辑回归与深度学习范式</a:t>
            </a:r>
            <a:endParaRPr lang="en-US" altLang="zh-CN" sz="2800" b="1" dirty="0">
              <a:solidFill>
                <a:schemeClr val="accent2"/>
              </a:solidFill>
            </a:endParaRPr>
          </a:p>
          <a:p>
            <a:endParaRPr lang="en-US" altLang="zh-CN" sz="2800" b="1" dirty="0">
              <a:solidFill>
                <a:schemeClr val="accent2"/>
              </a:solidFill>
            </a:endParaRPr>
          </a:p>
          <a:p>
            <a:r>
              <a:rPr lang="en-US" altLang="zh-CN" sz="2800" dirty="0"/>
              <a:t>Agent</a:t>
            </a:r>
            <a:r>
              <a:rPr lang="zh-CN" altLang="en-US" sz="2800" dirty="0"/>
              <a:t>、提示词工程与 </a:t>
            </a:r>
            <a:r>
              <a:rPr lang="en-US" altLang="zh-CN" sz="2800" dirty="0"/>
              <a:t>Harness</a:t>
            </a:r>
          </a:p>
        </p:txBody>
      </p:sp>
    </p:spTree>
    <p:extLst>
      <p:ext uri="{BB962C8B-B14F-4D97-AF65-F5344CB8AC3E}">
        <p14:creationId xmlns:p14="http://schemas.microsoft.com/office/powerpoint/2010/main" val="194571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71AA4E2-C923-AA91-DE0A-6EA872FD67D6}"/>
              </a:ext>
            </a:extLst>
          </p:cNvPr>
          <p:cNvSpPr txBox="1"/>
          <p:nvPr/>
        </p:nvSpPr>
        <p:spPr>
          <a:xfrm>
            <a:off x="724619" y="603849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逻辑回归：原理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1DCE4A7-771C-5617-B165-69A53F3A7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19" y="1743544"/>
            <a:ext cx="11202966" cy="38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794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152BBEA-169F-BB76-14C8-8A887A0F9123}"/>
              </a:ext>
            </a:extLst>
          </p:cNvPr>
          <p:cNvSpPr txBox="1"/>
          <p:nvPr/>
        </p:nvSpPr>
        <p:spPr>
          <a:xfrm>
            <a:off x="724619" y="603849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深度学习范式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C29B0B-E8E1-79BF-B9FB-C140F85207FB}"/>
              </a:ext>
            </a:extLst>
          </p:cNvPr>
          <p:cNvSpPr txBox="1"/>
          <p:nvPr/>
        </p:nvSpPr>
        <p:spPr>
          <a:xfrm>
            <a:off x="1109709" y="2583403"/>
            <a:ext cx="653255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b="1" dirty="0"/>
              <a:t>数据获取与预处理（数据清洗、特征工程、数据集划分等）</a:t>
            </a:r>
            <a:endParaRPr lang="en-US" altLang="zh-CN" b="1" dirty="0"/>
          </a:p>
          <a:p>
            <a:pPr marL="342900" indent="-342900">
              <a:buAutoNum type="arabicPeriod"/>
            </a:pPr>
            <a:endParaRPr lang="en-US" altLang="zh-CN" b="1" dirty="0"/>
          </a:p>
          <a:p>
            <a:pPr marL="342900" indent="-342900">
              <a:buAutoNum type="arabicPeriod"/>
            </a:pPr>
            <a:r>
              <a:rPr lang="zh-CN" altLang="en-US" b="1" dirty="0"/>
              <a:t>模型架构设计（损失函数、网络架构、层参数、工程技巧）</a:t>
            </a:r>
            <a:endParaRPr lang="en-US" altLang="zh-CN" b="1" dirty="0"/>
          </a:p>
          <a:p>
            <a:pPr marL="342900" indent="-342900">
              <a:buAutoNum type="arabicPeriod"/>
            </a:pPr>
            <a:endParaRPr lang="en-US" altLang="zh-CN" b="1" dirty="0"/>
          </a:p>
          <a:p>
            <a:pPr marL="342900" indent="-342900">
              <a:buAutoNum type="arabicPeriod"/>
            </a:pPr>
            <a:r>
              <a:rPr lang="zh-CN" altLang="en-US" b="1" dirty="0"/>
              <a:t>模型训练（验证集：超参数搜索、训练集：训练循环）</a:t>
            </a:r>
            <a:endParaRPr lang="en-US" altLang="zh-CN" b="1" dirty="0"/>
          </a:p>
          <a:p>
            <a:pPr marL="342900" indent="-342900">
              <a:buAutoNum type="arabicPeriod"/>
            </a:pPr>
            <a:endParaRPr lang="en-US" altLang="zh-CN" b="1" dirty="0"/>
          </a:p>
          <a:p>
            <a:pPr marL="342900" indent="-342900">
              <a:buAutoNum type="arabicPeriod"/>
            </a:pPr>
            <a:r>
              <a:rPr lang="zh-CN" altLang="en-US" b="1" dirty="0"/>
              <a:t>模型评估（测试集）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90D60D-E495-8C19-45D5-782E39C764D9}"/>
              </a:ext>
            </a:extLst>
          </p:cNvPr>
          <p:cNvSpPr txBox="1"/>
          <p:nvPr/>
        </p:nvSpPr>
        <p:spPr>
          <a:xfrm>
            <a:off x="7805432" y="2444891"/>
            <a:ext cx="3676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torch.utils.data.DataLoader</a:t>
            </a:r>
            <a:r>
              <a:rPr lang="en-US" altLang="zh-CN" dirty="0"/>
              <a:t>/Dataset</a:t>
            </a:r>
          </a:p>
          <a:p>
            <a:r>
              <a:rPr lang="en-US" altLang="zh-CN" dirty="0"/>
              <a:t>pandas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1162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70363-44C1-D205-2568-97537D21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4871EDC-DC7F-ABA0-73A2-9585C2F3A9E3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2CDAAE-8075-DF96-71E6-B00B253A0A23}"/>
              </a:ext>
            </a:extLst>
          </p:cNvPr>
          <p:cNvSpPr txBox="1"/>
          <p:nvPr/>
        </p:nvSpPr>
        <p:spPr>
          <a:xfrm>
            <a:off x="1475115" y="2736502"/>
            <a:ext cx="97686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逻辑回归与深度学习范式</a:t>
            </a:r>
            <a:endParaRPr lang="en-US" altLang="zh-CN" sz="2800" dirty="0"/>
          </a:p>
          <a:p>
            <a:endParaRPr lang="en-US" altLang="zh-CN" sz="2800" dirty="0">
              <a:solidFill>
                <a:schemeClr val="accent2"/>
              </a:solidFill>
            </a:endParaRPr>
          </a:p>
          <a:p>
            <a:r>
              <a:rPr lang="en-US" altLang="zh-CN" sz="2800" b="1" dirty="0">
                <a:solidFill>
                  <a:schemeClr val="accent2"/>
                </a:solidFill>
              </a:rPr>
              <a:t>Agent</a:t>
            </a:r>
            <a:r>
              <a:rPr lang="zh-CN" altLang="en-US" sz="2800" b="1" dirty="0">
                <a:solidFill>
                  <a:schemeClr val="accent2"/>
                </a:solidFill>
              </a:rPr>
              <a:t>、提示词工程与 </a:t>
            </a:r>
            <a:r>
              <a:rPr lang="en-US" altLang="zh-CN" sz="2800" b="1" dirty="0">
                <a:solidFill>
                  <a:schemeClr val="accent2"/>
                </a:solidFill>
              </a:rPr>
              <a:t>Harness</a:t>
            </a:r>
          </a:p>
        </p:txBody>
      </p:sp>
    </p:spTree>
    <p:extLst>
      <p:ext uri="{BB962C8B-B14F-4D97-AF65-F5344CB8AC3E}">
        <p14:creationId xmlns:p14="http://schemas.microsoft.com/office/powerpoint/2010/main" val="987704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6D22F2-C62B-596E-EAD7-FF25123FA734}"/>
              </a:ext>
            </a:extLst>
          </p:cNvPr>
          <p:cNvSpPr txBox="1"/>
          <p:nvPr/>
        </p:nvSpPr>
        <p:spPr>
          <a:xfrm>
            <a:off x="724619" y="603849"/>
            <a:ext cx="2839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Agent</a:t>
            </a:r>
            <a:r>
              <a:rPr lang="zh-CN" altLang="en-US" sz="3600" b="1" dirty="0"/>
              <a:t>：概念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4EDFF8-79AA-3EEC-E341-98351F54B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425" y="1710082"/>
            <a:ext cx="9641149" cy="145818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E329986-5771-9C6D-22F3-0DDA2B444DFD}"/>
              </a:ext>
            </a:extLst>
          </p:cNvPr>
          <p:cNvSpPr txBox="1"/>
          <p:nvPr/>
        </p:nvSpPr>
        <p:spPr>
          <a:xfrm>
            <a:off x="899531" y="4100678"/>
            <a:ext cx="5689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现在的 </a:t>
            </a:r>
            <a:r>
              <a:rPr lang="en-US" altLang="zh-CN" b="1" dirty="0"/>
              <a:t>Agent</a:t>
            </a:r>
            <a:r>
              <a:rPr lang="zh-CN" altLang="en-US" b="1" dirty="0"/>
              <a:t> </a:t>
            </a:r>
            <a:r>
              <a:rPr lang="en-US" altLang="zh-CN" b="1" dirty="0"/>
              <a:t>=</a:t>
            </a:r>
            <a:r>
              <a:rPr lang="zh-CN" altLang="en-US" b="1" dirty="0"/>
              <a:t> </a:t>
            </a:r>
            <a:r>
              <a:rPr lang="en-US" altLang="zh-CN" b="1" dirty="0"/>
              <a:t>LLM + Tool Calling (+ </a:t>
            </a:r>
            <a:r>
              <a:rPr lang="zh-CN" altLang="en-US" b="1" dirty="0"/>
              <a:t>显式 </a:t>
            </a:r>
            <a:r>
              <a:rPr lang="en-US" altLang="zh-CN" b="1" dirty="0"/>
              <a:t>Memory)</a:t>
            </a:r>
            <a:endParaRPr lang="zh-CN" altLang="en-US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79D0B2-E8FB-9738-4CEA-AF6FD65F68F1}"/>
              </a:ext>
            </a:extLst>
          </p:cNvPr>
          <p:cNvSpPr txBox="1"/>
          <p:nvPr/>
        </p:nvSpPr>
        <p:spPr>
          <a:xfrm>
            <a:off x="899531" y="5402426"/>
            <a:ext cx="3821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再进一步，</a:t>
            </a:r>
            <a:r>
              <a:rPr lang="en-US" altLang="zh-CN" b="1" dirty="0"/>
              <a:t>Agent = LLM + Harness</a:t>
            </a:r>
            <a:endParaRPr lang="zh-CN" altLang="en-US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4A6756-72D7-74F6-19CF-85E48A136ED8}"/>
              </a:ext>
            </a:extLst>
          </p:cNvPr>
          <p:cNvSpPr txBox="1"/>
          <p:nvPr/>
        </p:nvSpPr>
        <p:spPr>
          <a:xfrm>
            <a:off x="4839629" y="4641132"/>
            <a:ext cx="43781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短程情况下，</a:t>
            </a:r>
            <a:r>
              <a:rPr lang="en-US" altLang="zh-CN" sz="1600" dirty="0"/>
              <a:t>context </a:t>
            </a:r>
            <a:r>
              <a:rPr lang="zh-CN" altLang="en-US" sz="1600" dirty="0"/>
              <a:t>也可以被理解为一种记忆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B6AFEC3-73AD-EFD5-3D5C-9CC332002A2A}"/>
              </a:ext>
            </a:extLst>
          </p:cNvPr>
          <p:cNvSpPr txBox="1"/>
          <p:nvPr/>
        </p:nvSpPr>
        <p:spPr>
          <a:xfrm>
            <a:off x="899531" y="350507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粗略理解：</a:t>
            </a:r>
          </a:p>
        </p:txBody>
      </p:sp>
    </p:spTree>
    <p:extLst>
      <p:ext uri="{BB962C8B-B14F-4D97-AF65-F5344CB8AC3E}">
        <p14:creationId xmlns:p14="http://schemas.microsoft.com/office/powerpoint/2010/main" val="285896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B4F83A5-9609-D853-778F-31158AA0850B}"/>
              </a:ext>
            </a:extLst>
          </p:cNvPr>
          <p:cNvSpPr txBox="1"/>
          <p:nvPr/>
        </p:nvSpPr>
        <p:spPr>
          <a:xfrm>
            <a:off x="724619" y="603849"/>
            <a:ext cx="2637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Agent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Loop</a:t>
            </a:r>
            <a:endParaRPr lang="zh-CN" altLang="en-US" sz="36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45C12A-41C8-9E98-9F31-34AA4C941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24" y="1516566"/>
            <a:ext cx="11035551" cy="45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29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34C55AB-DA46-1495-4D51-FD96C01F2267}"/>
              </a:ext>
            </a:extLst>
          </p:cNvPr>
          <p:cNvSpPr txBox="1"/>
          <p:nvPr/>
        </p:nvSpPr>
        <p:spPr>
          <a:xfrm>
            <a:off x="724619" y="603849"/>
            <a:ext cx="4883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Harness </a:t>
            </a:r>
            <a:r>
              <a:rPr lang="zh-CN" altLang="en-US" sz="3600" b="1" dirty="0"/>
              <a:t>与 </a:t>
            </a:r>
            <a:r>
              <a:rPr lang="en-US" altLang="zh-CN" sz="3600" b="1" dirty="0"/>
              <a:t>Agent </a:t>
            </a:r>
            <a:r>
              <a:rPr lang="zh-CN" altLang="en-US" sz="3600" b="1" dirty="0"/>
              <a:t>项目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933BF8F-9ED9-C441-C6D3-5B9129855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19" y="1774975"/>
            <a:ext cx="10615961" cy="282075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D2DDD8C-0646-8DBB-4DC9-788ECCC65871}"/>
              </a:ext>
            </a:extLst>
          </p:cNvPr>
          <p:cNvSpPr txBox="1"/>
          <p:nvPr/>
        </p:nvSpPr>
        <p:spPr>
          <a:xfrm flipH="1">
            <a:off x="2928731" y="5400552"/>
            <a:ext cx="7096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Harness </a:t>
            </a:r>
            <a:r>
              <a:rPr lang="zh-CN" altLang="en-US" b="1" dirty="0"/>
              <a:t>对底层模型没有限制，它实际是一套软件系统</a:t>
            </a:r>
          </a:p>
        </p:txBody>
      </p:sp>
    </p:spTree>
    <p:extLst>
      <p:ext uri="{BB962C8B-B14F-4D97-AF65-F5344CB8AC3E}">
        <p14:creationId xmlns:p14="http://schemas.microsoft.com/office/powerpoint/2010/main" val="355716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F533-5531-F6BE-0A3F-15E5E9A0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35579B1-9F86-2C03-8E07-0BAD740B693C}"/>
              </a:ext>
            </a:extLst>
          </p:cNvPr>
          <p:cNvSpPr txBox="1"/>
          <p:nvPr/>
        </p:nvSpPr>
        <p:spPr>
          <a:xfrm>
            <a:off x="724619" y="603849"/>
            <a:ext cx="4883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Harness </a:t>
            </a:r>
            <a:r>
              <a:rPr lang="zh-CN" altLang="en-US" sz="3600" b="1" dirty="0"/>
              <a:t>与 </a:t>
            </a:r>
            <a:r>
              <a:rPr lang="en-US" altLang="zh-CN" sz="3600" b="1" dirty="0"/>
              <a:t>Agent </a:t>
            </a:r>
            <a:r>
              <a:rPr lang="zh-CN" altLang="en-US" sz="3600" b="1" dirty="0"/>
              <a:t>项目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533B99-AF4F-5AA8-6DFB-499D33139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415" y="3881382"/>
            <a:ext cx="7278884" cy="29430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1A68C23-CFE3-8FC1-7430-9BCAA43C8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343" y="1444489"/>
            <a:ext cx="5747982" cy="22425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51D2C07-7135-EC4D-28E6-765EC0CC6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415" y="1492436"/>
            <a:ext cx="4989944" cy="214668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33AA544-9EDD-01B4-2E75-F3581D80FCF0}"/>
              </a:ext>
            </a:extLst>
          </p:cNvPr>
          <p:cNvSpPr txBox="1"/>
          <p:nvPr/>
        </p:nvSpPr>
        <p:spPr>
          <a:xfrm>
            <a:off x="9090378" y="4475680"/>
            <a:ext cx="18004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完整软件系统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+</a:t>
            </a:r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持久化存储指令</a:t>
            </a:r>
          </a:p>
        </p:txBody>
      </p:sp>
    </p:spTree>
    <p:extLst>
      <p:ext uri="{BB962C8B-B14F-4D97-AF65-F5344CB8AC3E}">
        <p14:creationId xmlns:p14="http://schemas.microsoft.com/office/powerpoint/2010/main" val="1370351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C8078FE-7F2F-F3A0-E55D-50AFCBE51D81}"/>
              </a:ext>
            </a:extLst>
          </p:cNvPr>
          <p:cNvSpPr txBox="1"/>
          <p:nvPr/>
        </p:nvSpPr>
        <p:spPr>
          <a:xfrm>
            <a:off x="724619" y="603849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提示词工程入门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8FD251-08DE-5E65-DEEF-59DA693B13BF}"/>
              </a:ext>
            </a:extLst>
          </p:cNvPr>
          <p:cNvSpPr txBox="1"/>
          <p:nvPr/>
        </p:nvSpPr>
        <p:spPr>
          <a:xfrm>
            <a:off x="841511" y="1557131"/>
            <a:ext cx="104095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几条优先遵循的原则：</a:t>
            </a:r>
            <a:endParaRPr lang="en-US" altLang="zh-CN" dirty="0"/>
          </a:p>
          <a:p>
            <a:endParaRPr lang="en-US" altLang="zh-CN" dirty="0"/>
          </a:p>
          <a:p>
            <a:pPr marL="800100" lvl="1" indent="-342900">
              <a:buAutoNum type="arabicPeriod"/>
            </a:pPr>
            <a:r>
              <a:rPr lang="zh-CN" altLang="en-US" dirty="0"/>
              <a:t>不同模型有不同的技巧与风格</a:t>
            </a:r>
            <a:endParaRPr lang="en-US" altLang="zh-CN" dirty="0"/>
          </a:p>
          <a:p>
            <a:pPr marL="800100" lvl="1" indent="-342900">
              <a:buAutoNum type="arabicPeriod"/>
            </a:pPr>
            <a:endParaRPr lang="en-US" altLang="zh-CN" dirty="0"/>
          </a:p>
          <a:p>
            <a:pPr marL="800100" lvl="1" indent="-342900">
              <a:buAutoNum type="arabicPeriod"/>
            </a:pPr>
            <a:r>
              <a:rPr lang="zh-CN" altLang="en-US" dirty="0"/>
              <a:t>最基本的，是清楚自己 “在做什么”、“具体希望获得什么（期望效果、交付物）”</a:t>
            </a:r>
            <a:endParaRPr lang="en-US" altLang="zh-CN" dirty="0"/>
          </a:p>
          <a:p>
            <a:pPr marL="800100" lvl="1" indent="-342900">
              <a:buAutoNum type="arabicPeriod"/>
            </a:pPr>
            <a:endParaRPr lang="en-US" altLang="zh-CN" dirty="0"/>
          </a:p>
          <a:p>
            <a:pPr marL="800100" lvl="1" indent="-342900">
              <a:buAutoNum type="arabicPeriod"/>
            </a:pPr>
            <a:endParaRPr lang="en-US" altLang="zh-CN" dirty="0"/>
          </a:p>
          <a:p>
            <a:pPr marL="800100" lvl="1" indent="-342900">
              <a:buAutoNum type="arabicPeriod"/>
            </a:pPr>
            <a:r>
              <a:rPr lang="zh-CN" altLang="en-US" dirty="0"/>
              <a:t>少约束（少说不要），多鼓励（鼓励做</a:t>
            </a:r>
            <a:r>
              <a:rPr lang="en-US" altLang="zh-CN" dirty="0"/>
              <a:t>xxx</a:t>
            </a:r>
            <a:r>
              <a:rPr lang="zh-CN" altLang="en-US" dirty="0"/>
              <a:t>），对保守模型有效；</a:t>
            </a:r>
            <a:r>
              <a:rPr lang="zh-CN" altLang="en-US" b="1" dirty="0"/>
              <a:t>把硬约束留在软件层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5B19D5-3779-4786-2835-42398B02A8E7}"/>
              </a:ext>
            </a:extLst>
          </p:cNvPr>
          <p:cNvSpPr txBox="1"/>
          <p:nvPr/>
        </p:nvSpPr>
        <p:spPr>
          <a:xfrm>
            <a:off x="4088296" y="3090446"/>
            <a:ext cx="61350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将模型推理理解为搜索，那么最起码应当知道其两端：起点与终点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296974-7CDB-3001-CD73-7389400D13F2}"/>
              </a:ext>
            </a:extLst>
          </p:cNvPr>
          <p:cNvSpPr txBox="1"/>
          <p:nvPr/>
        </p:nvSpPr>
        <p:spPr>
          <a:xfrm>
            <a:off x="901811" y="4172406"/>
            <a:ext cx="96535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不同模型的参考（建议学习）：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GPT</a:t>
            </a:r>
            <a:r>
              <a:rPr lang="en-US" altLang="zh-CN" dirty="0"/>
              <a:t>: </a:t>
            </a:r>
            <a:r>
              <a:rPr lang="en-US" altLang="zh-CN" dirty="0">
                <a:hlinkClick r:id="rId2"/>
              </a:rPr>
              <a:t>https://developers.openai.com/api/docs/guides/latest-model?utm_source=chatgpt.com#gpt-6-astra-initiative-and-follow-through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Claude</a:t>
            </a:r>
            <a:r>
              <a:rPr lang="en-US" altLang="zh-CN" dirty="0"/>
              <a:t>: https://platform.claude.com/docs/en/build-with-claude/prompt-engineering/claude-prompting-best-practices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1994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1533D-404E-EFED-6741-DB6F1F2A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49B096D-A2FF-70A9-0907-1DA0FC78D690}"/>
              </a:ext>
            </a:extLst>
          </p:cNvPr>
          <p:cNvSpPr txBox="1"/>
          <p:nvPr/>
        </p:nvSpPr>
        <p:spPr>
          <a:xfrm>
            <a:off x="724619" y="603849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提示词工程入门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DE53257-EFDB-238D-69ED-F82C819DA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35" y="2302758"/>
            <a:ext cx="3589995" cy="358999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4298EF7-19E8-3C38-19E9-FCFA5104C447}"/>
              </a:ext>
            </a:extLst>
          </p:cNvPr>
          <p:cNvSpPr txBox="1"/>
          <p:nvPr/>
        </p:nvSpPr>
        <p:spPr>
          <a:xfrm>
            <a:off x="921027" y="1769166"/>
            <a:ext cx="9475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 </a:t>
            </a:r>
            <a:r>
              <a:rPr lang="en-US" altLang="zh-CN" b="1" dirty="0" err="1">
                <a:solidFill>
                  <a:schemeClr val="accent5"/>
                </a:solidFill>
              </a:rPr>
              <a:t>Deepseek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角色扮演型 </a:t>
            </a:r>
            <a:r>
              <a:rPr lang="en-US" altLang="zh-CN" dirty="0"/>
              <a:t>prompt</a:t>
            </a:r>
            <a:r>
              <a:rPr lang="zh-CN" altLang="en-US" dirty="0"/>
              <a:t>（硬汉 </a:t>
            </a:r>
            <a:r>
              <a:rPr lang="en-US" altLang="zh-CN" dirty="0"/>
              <a:t>prompt </a:t>
            </a:r>
            <a:r>
              <a:rPr lang="zh-CN" altLang="en-US" dirty="0"/>
              <a:t>似乎有效）：</a:t>
            </a:r>
            <a:endParaRPr lang="en-US" altLang="zh-CN" dirty="0"/>
          </a:p>
          <a:p>
            <a:r>
              <a:rPr lang="en-US" altLang="zh-CN" dirty="0"/>
              <a:t>	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E0FBB3-544D-0673-1D42-F867084118B8}"/>
              </a:ext>
            </a:extLst>
          </p:cNvPr>
          <p:cNvSpPr txBox="1"/>
          <p:nvPr/>
        </p:nvSpPr>
        <p:spPr>
          <a:xfrm>
            <a:off x="1528724" y="2883356"/>
            <a:ext cx="4567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/>
              <a:t>deepseek</a:t>
            </a:r>
            <a:r>
              <a:rPr lang="en-US" altLang="zh-CN" sz="1600" dirty="0"/>
              <a:t> </a:t>
            </a:r>
            <a:r>
              <a:rPr lang="zh-CN" altLang="en-US" sz="1600" dirty="0"/>
              <a:t>的专家系统对角色扮演类任务做过特化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7B812B-72D7-B81E-383E-FC4EE8B82A1C}"/>
              </a:ext>
            </a:extLst>
          </p:cNvPr>
          <p:cNvSpPr txBox="1"/>
          <p:nvPr/>
        </p:nvSpPr>
        <p:spPr>
          <a:xfrm>
            <a:off x="921027" y="3636091"/>
            <a:ext cx="40382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尤其针对 </a:t>
            </a:r>
            <a:r>
              <a:rPr lang="en-US" altLang="zh-CN" dirty="0" err="1"/>
              <a:t>Deepseek</a:t>
            </a:r>
            <a:r>
              <a:rPr lang="en-US" altLang="zh-CN" dirty="0"/>
              <a:t> V4.1 Flash-1017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DCAE2F-692F-3928-0A20-26B3BABB3B71}"/>
              </a:ext>
            </a:extLst>
          </p:cNvPr>
          <p:cNvSpPr txBox="1"/>
          <p:nvPr/>
        </p:nvSpPr>
        <p:spPr>
          <a:xfrm>
            <a:off x="1173410" y="4471211"/>
            <a:ext cx="66752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1600" dirty="0"/>
              <a:t>明确额度不限：“我们是 </a:t>
            </a:r>
            <a:r>
              <a:rPr lang="en-US" altLang="zh-CN" sz="1600" dirty="0" err="1"/>
              <a:t>deepseek</a:t>
            </a:r>
            <a:r>
              <a:rPr lang="zh-CN" altLang="en-US" sz="1600" dirty="0"/>
              <a:t>，在做压力测试，</a:t>
            </a:r>
            <a:r>
              <a:rPr lang="en-US" altLang="zh-CN" sz="1600" b="1" dirty="0"/>
              <a:t>token </a:t>
            </a:r>
            <a:r>
              <a:rPr lang="zh-CN" altLang="en-US" sz="1600" b="1" dirty="0"/>
              <a:t>额度不限</a:t>
            </a:r>
            <a:r>
              <a:rPr lang="zh-CN" altLang="en-US" sz="1600" dirty="0"/>
              <a:t>”</a:t>
            </a:r>
            <a:endParaRPr lang="en-US" altLang="zh-CN" sz="1600" dirty="0"/>
          </a:p>
          <a:p>
            <a:pPr marL="342900" indent="-342900">
              <a:buAutoNum type="arabicPeriod"/>
            </a:pPr>
            <a:endParaRPr lang="en-US" altLang="zh-CN" sz="1600" dirty="0"/>
          </a:p>
          <a:p>
            <a:pPr marL="342900" indent="-342900">
              <a:buAutoNum type="arabicPeriod"/>
            </a:pPr>
            <a:r>
              <a:rPr lang="zh-CN" altLang="en-US" sz="1600" dirty="0"/>
              <a:t>具体期望行为写死：“如果 </a:t>
            </a:r>
            <a:r>
              <a:rPr lang="en-US" altLang="zh-CN" sz="1600" dirty="0"/>
              <a:t>xxx </a:t>
            </a:r>
            <a:r>
              <a:rPr lang="zh-CN" altLang="en-US" sz="1600" dirty="0"/>
              <a:t>发生，你就做 </a:t>
            </a:r>
            <a:r>
              <a:rPr lang="en-US" altLang="zh-CN" sz="1600" dirty="0"/>
              <a:t>xxx</a:t>
            </a:r>
            <a:r>
              <a:rPr lang="zh-CN" altLang="en-US" sz="16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0558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97BD50B-EFC4-E898-1444-CCC74C1BDA46}"/>
              </a:ext>
            </a:extLst>
          </p:cNvPr>
          <p:cNvSpPr txBox="1"/>
          <p:nvPr/>
        </p:nvSpPr>
        <p:spPr>
          <a:xfrm>
            <a:off x="724619" y="603849"/>
            <a:ext cx="7039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交互示例：</a:t>
            </a:r>
            <a:r>
              <a:rPr lang="en-US" altLang="zh-CN" sz="3600" b="1" dirty="0"/>
              <a:t>Goal </a:t>
            </a:r>
            <a:r>
              <a:rPr lang="zh-CN" altLang="en-US" sz="3600" b="1" dirty="0"/>
              <a:t>模式和 </a:t>
            </a:r>
            <a:r>
              <a:rPr lang="en-US" altLang="zh-CN" sz="3600" b="1" dirty="0"/>
              <a:t>Plan </a:t>
            </a:r>
            <a:r>
              <a:rPr lang="zh-CN" altLang="en-US" sz="3600" b="1" dirty="0"/>
              <a:t>模式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A4523AC-682A-41DC-AF81-B2C6ADDD4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19" y="1986809"/>
            <a:ext cx="6200653" cy="130213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179FEF2-4E6F-7932-6AA5-A6D1D2CC1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19" y="3395684"/>
            <a:ext cx="6237800" cy="74259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908E260-667D-71C6-723B-806C9D1E0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19" y="4472490"/>
            <a:ext cx="5273000" cy="148359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CCC8E79-CAE7-6B41-C2D4-90F9469AA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0252" y="4490401"/>
            <a:ext cx="5577192" cy="146567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54EA8B0-5375-1E71-095F-B5D6E64D72DA}"/>
              </a:ext>
            </a:extLst>
          </p:cNvPr>
          <p:cNvSpPr txBox="1"/>
          <p:nvPr/>
        </p:nvSpPr>
        <p:spPr>
          <a:xfrm>
            <a:off x="7600122" y="2106954"/>
            <a:ext cx="378661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产物已发到课程群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通用或 </a:t>
            </a:r>
            <a:r>
              <a:rPr lang="en-US" altLang="zh-CN" dirty="0"/>
              <a:t>coding </a:t>
            </a:r>
            <a:r>
              <a:rPr lang="zh-CN" altLang="en-US" dirty="0"/>
              <a:t>模型不适合做 </a:t>
            </a:r>
            <a:r>
              <a:rPr lang="en-US" altLang="zh-CN" dirty="0"/>
              <a:t>PPT</a:t>
            </a:r>
            <a:r>
              <a:rPr lang="zh-CN" altLang="en-US" dirty="0"/>
              <a:t>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但是前端 </a:t>
            </a:r>
            <a:r>
              <a:rPr lang="en-US" altLang="zh-CN" dirty="0"/>
              <a:t>HTML </a:t>
            </a:r>
            <a:r>
              <a:rPr lang="zh-CN" altLang="en-US" dirty="0"/>
              <a:t>是有特化的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可惜这个上下文已经被污染了。</a:t>
            </a:r>
          </a:p>
        </p:txBody>
      </p:sp>
    </p:spTree>
    <p:extLst>
      <p:ext uri="{BB962C8B-B14F-4D97-AF65-F5344CB8AC3E}">
        <p14:creationId xmlns:p14="http://schemas.microsoft.com/office/powerpoint/2010/main" val="2224994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FBEC1-EC29-A331-37CA-FADC135B7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ACEE16E-77DB-A44C-E63B-4D8728200260}"/>
              </a:ext>
            </a:extLst>
          </p:cNvPr>
          <p:cNvSpPr txBox="1"/>
          <p:nvPr/>
        </p:nvSpPr>
        <p:spPr>
          <a:xfrm>
            <a:off x="724619" y="603849"/>
            <a:ext cx="70391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交互示例：</a:t>
            </a:r>
            <a:r>
              <a:rPr lang="en-US" altLang="zh-CN" sz="3600" b="1" dirty="0"/>
              <a:t>Goal </a:t>
            </a:r>
            <a:r>
              <a:rPr lang="zh-CN" altLang="en-US" sz="3600" b="1" dirty="0"/>
              <a:t>模式和 </a:t>
            </a:r>
            <a:r>
              <a:rPr lang="en-US" altLang="zh-CN" sz="3600" b="1" dirty="0"/>
              <a:t>Plan </a:t>
            </a:r>
            <a:r>
              <a:rPr lang="zh-CN" altLang="en-US" sz="3600" b="1" dirty="0"/>
              <a:t>模式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EDB7B1-D857-428F-2122-857989AC2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541" y="2339009"/>
            <a:ext cx="8854917" cy="289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15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456</Words>
  <Application>Microsoft Office PowerPoint</Application>
  <PresentationFormat>宽屏</PresentationFormat>
  <Paragraphs>75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OvO QwQ</dc:creator>
  <cp:lastModifiedBy>OvO QwQ</cp:lastModifiedBy>
  <cp:revision>1</cp:revision>
  <dcterms:created xsi:type="dcterms:W3CDTF">2026-10-28T14:42:14Z</dcterms:created>
  <dcterms:modified xsi:type="dcterms:W3CDTF">2026-10-28T15:50:21Z</dcterms:modified>
</cp:coreProperties>
</file>