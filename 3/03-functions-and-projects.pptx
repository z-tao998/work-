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2" autoAdjust="0"/>
    <p:restoredTop sz="94660"/>
  </p:normalViewPr>
  <p:slideViewPr>
    <p:cSldViewPr snapToGrid="0">
      <p:cViewPr varScale="1">
        <p:scale>
          <a:sx n="96" d="100"/>
          <a:sy n="96" d="100"/>
        </p:scale>
        <p:origin x="3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96DEA1-F9C8-A5E9-F1B9-45478687E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EF52B6-E1AF-DB46-430D-7ABAD483C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81069B-17D2-4517-BBED-00CBB627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FD21-83F4-4730-8709-0AD78762F810}" type="datetimeFigureOut">
              <a:rPr lang="zh-CN" altLang="en-US" smtClean="0"/>
              <a:t>2026-10-13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1448FA-788F-3D50-0001-9B923DDF0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42A088-2252-526E-6EF9-FF4B2D930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874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94B52A-14E1-CB5C-81AE-B74ED616D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C94667-5652-5EE7-AD99-C5E38E326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67D37B-DDB8-2093-E67D-1B722E314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FD21-83F4-4730-8709-0AD78762F810}" type="datetimeFigureOut">
              <a:rPr lang="zh-CN" altLang="en-US" smtClean="0"/>
              <a:t>2026-10-13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DA057A-6B18-8717-E39C-3383D13F3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CBFAFB-998B-D870-FDBA-5674B2F4B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429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D66AC7-32AB-8A13-8F81-0093A76FD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E91B7F-3732-582F-7284-D3EA7FE6D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0D5AFB-2DCB-327C-4389-EDA59AAF6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FD21-83F4-4730-8709-0AD78762F810}" type="datetimeFigureOut">
              <a:rPr lang="zh-CN" altLang="en-US" smtClean="0"/>
              <a:t>2026-10-13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EA19A2-6E7B-A941-21C5-736AEEE50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D731E1-798A-1A76-9B02-D19999C38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509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1DBED8-5884-7D53-178C-F3A6DC675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0D17A5-21FF-5DA8-BE34-C10CC51FB6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EEE49D-2BD4-92AA-AB2B-BE537A3A0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C3082A-F7A2-1C17-0BA8-0062DCF01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FD21-83F4-4730-8709-0AD78762F810}" type="datetimeFigureOut">
              <a:rPr lang="zh-CN" altLang="en-US" smtClean="0"/>
              <a:t>2026-10-13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12062B-6B3B-6CBC-9FB2-81682861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88A1B3-68EA-FE44-3012-B67B21C85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288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6E33F2-6DE6-6CCB-FCAB-53E149742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5DEF50-4F8C-5DF9-770C-DDAF3791E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8F6F9E-110A-BCEA-0872-7C68C3253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D0BDE94-467D-C44B-2BA2-4F27B75540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BABB52-CEF7-1D32-3196-1FF9AA87C4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E8E8435-1A70-AFDB-45F7-01AFDA269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FD21-83F4-4730-8709-0AD78762F810}" type="datetimeFigureOut">
              <a:rPr lang="zh-CN" altLang="en-US" smtClean="0"/>
              <a:t>2026-10-13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A22B8D-9396-599D-ADB2-DBAF2576D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98F88DF-4DD4-134B-5680-4D4AA1E0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257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C56FB-676C-6782-DEF8-12060E7A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CA6B5B-5275-53BF-1361-3D5A425DA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FD21-83F4-4730-8709-0AD78762F810}" type="datetimeFigureOut">
              <a:rPr lang="zh-CN" altLang="en-US" smtClean="0"/>
              <a:t>2026-10-13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04F042-55F1-F260-C3B3-05544A83B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A228F9-4D2A-C6FC-A7E0-B0C58E9F8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945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272A9E-CA3E-2572-0D37-94F0F74BE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FD21-83F4-4730-8709-0AD78762F810}" type="datetimeFigureOut">
              <a:rPr lang="zh-CN" altLang="en-US" smtClean="0"/>
              <a:t>2026-10-13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728DAA-92E9-C05F-869D-87C634E87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9A6176-287E-3DC7-0A59-9157C30E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262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33D410-2171-8285-8706-36D4504BC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0D1513-7054-456A-431E-9FC636DA6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C853B6-499C-C187-8597-3C8E2AE1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D4B5DD-C2FE-4023-5A79-D58289117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FD21-83F4-4730-8709-0AD78762F810}" type="datetimeFigureOut">
              <a:rPr lang="zh-CN" altLang="en-US" smtClean="0"/>
              <a:t>2026-10-13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C13D82-C2EB-62D2-8946-DBE17B44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FDD05E-F058-6176-F416-987335D4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877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B0805-D896-04EC-4949-7A16DE1C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C21373F-26EE-3ED2-1514-CBB87845C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D51332-2239-AB08-D0AA-BA5BEE3F4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5A093C-CA42-D873-5258-DE9240F2A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FD21-83F4-4730-8709-0AD78762F810}" type="datetimeFigureOut">
              <a:rPr lang="zh-CN" altLang="en-US" smtClean="0"/>
              <a:t>2026-10-13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2924FD-5115-E803-C61F-4C17567C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1452A5-2A8E-0A84-5ECA-D9B9803C3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373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56B524-8951-CAD9-9E38-09C067C1A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137A4F-059F-1729-A1B4-B9A98BAC0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4D57B2-138C-83EC-92A9-868AE09DB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FD21-83F4-4730-8709-0AD78762F810}" type="datetimeFigureOut">
              <a:rPr lang="zh-CN" altLang="en-US" smtClean="0"/>
              <a:t>2026-10-13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BB7913-5C3E-3E2F-FBE9-02D19C78E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5EB92C-7FA4-AB0F-C484-9B99B756D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61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41B7953-CFA7-1B3A-8A46-4CA196A5EB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3BD04B-BE33-0F1F-48E9-5ED1A3AA8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8CD078-CA2D-7F4F-575E-3934C85C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5FD21-83F4-4730-8709-0AD78762F810}" type="datetimeFigureOut">
              <a:rPr lang="zh-CN" altLang="en-US" smtClean="0"/>
              <a:t>2026-10-13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CB0ACE-4A2C-4EB5-E3E1-07FAE5DEB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F3E824-34B4-790C-7422-689F93478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6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E8A3C9F-1AA7-C5F3-56C6-8A955D38E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930B8D-A801-EF2F-59A5-F7C261481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138819-AF9E-0343-1297-241E2705F2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5FD21-83F4-4730-8709-0AD78762F810}" type="datetimeFigureOut">
              <a:rPr lang="zh-CN" altLang="en-US" smtClean="0"/>
              <a:t>2026-10-13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0D3613-87F7-5A70-F87A-C39B901E4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357E89-C039-EAD0-5892-E680989CD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C1DA89-2DF4-4C7E-A952-05BAE5238E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111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erhyi@mail.ustc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93FDF4B-88C7-A7B2-B128-0885E06782C1}"/>
              </a:ext>
            </a:extLst>
          </p:cNvPr>
          <p:cNvSpPr txBox="1"/>
          <p:nvPr/>
        </p:nvSpPr>
        <p:spPr>
          <a:xfrm>
            <a:off x="4208303" y="2721114"/>
            <a:ext cx="3775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/>
              <a:t>第三次基础实验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47C228-F866-1950-99CE-36B58BD42E53}"/>
              </a:ext>
            </a:extLst>
          </p:cNvPr>
          <p:cNvSpPr txBox="1"/>
          <p:nvPr/>
        </p:nvSpPr>
        <p:spPr>
          <a:xfrm>
            <a:off x="4768553" y="4425351"/>
            <a:ext cx="26548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SA26010061 </a:t>
            </a:r>
            <a:r>
              <a:rPr lang="zh-CN" altLang="en-US" dirty="0"/>
              <a:t>张建</a:t>
            </a:r>
            <a:endParaRPr lang="en-US" altLang="zh-CN" dirty="0"/>
          </a:p>
          <a:p>
            <a:pPr algn="ctr"/>
            <a:r>
              <a:rPr lang="en-US" altLang="zh-CN" dirty="0">
                <a:hlinkClick r:id="rId2"/>
              </a:rPr>
              <a:t>merhyi@mail.ustc.edu.cn</a:t>
            </a:r>
            <a:endParaRPr lang="en-US" altLang="zh-CN" dirty="0"/>
          </a:p>
          <a:p>
            <a:pPr algn="ctr"/>
            <a:r>
              <a:rPr lang="en-US" altLang="zh-CN" dirty="0"/>
              <a:t>2026.10.16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603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D772BC3-0EE8-AFE7-1C31-D2B7E00D4C1E}"/>
              </a:ext>
            </a:extLst>
          </p:cNvPr>
          <p:cNvSpPr txBox="1"/>
          <p:nvPr/>
        </p:nvSpPr>
        <p:spPr>
          <a:xfrm>
            <a:off x="724619" y="60384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目录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8460DCD-1A80-64E9-10C6-CE260FC6B015}"/>
              </a:ext>
            </a:extLst>
          </p:cNvPr>
          <p:cNvSpPr txBox="1"/>
          <p:nvPr/>
        </p:nvSpPr>
        <p:spPr>
          <a:xfrm>
            <a:off x="1475115" y="2305615"/>
            <a:ext cx="102117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函数、</a:t>
            </a:r>
            <a:r>
              <a:rPr lang="en-US" altLang="zh-CN" sz="2800" dirty="0"/>
              <a:t>Lambda </a:t>
            </a:r>
            <a:r>
              <a:rPr lang="zh-CN" altLang="en-US" sz="2800" dirty="0"/>
              <a:t>函数与函数式编程、闭包与装饰器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模块与包的定义、导入与使用；入口 </a:t>
            </a:r>
            <a:r>
              <a:rPr lang="en-US" altLang="zh-CN" sz="2800" dirty="0"/>
              <a:t>__main__</a:t>
            </a:r>
          </a:p>
          <a:p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442025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C02C3-2F70-B855-F3B1-BF92E9146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1F5D8E1-1F97-7B20-3DD8-599D8ADE9B0E}"/>
              </a:ext>
            </a:extLst>
          </p:cNvPr>
          <p:cNvSpPr txBox="1"/>
          <p:nvPr/>
        </p:nvSpPr>
        <p:spPr>
          <a:xfrm>
            <a:off x="724619" y="60384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目录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F2C885-6AE0-399F-D88D-0D78A32AC03D}"/>
              </a:ext>
            </a:extLst>
          </p:cNvPr>
          <p:cNvSpPr txBox="1"/>
          <p:nvPr/>
        </p:nvSpPr>
        <p:spPr>
          <a:xfrm>
            <a:off x="1475115" y="2305615"/>
            <a:ext cx="976861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/>
                </a:solidFill>
              </a:rPr>
              <a:t>函数、</a:t>
            </a:r>
            <a:r>
              <a:rPr lang="en-US" altLang="zh-CN" sz="2800" dirty="0">
                <a:solidFill>
                  <a:schemeClr val="accent2"/>
                </a:solidFill>
              </a:rPr>
              <a:t>Lambda </a:t>
            </a:r>
            <a:r>
              <a:rPr lang="zh-CN" altLang="en-US" sz="2800" dirty="0">
                <a:solidFill>
                  <a:schemeClr val="accent2"/>
                </a:solidFill>
              </a:rPr>
              <a:t>函数与函数式编程、闭包与装饰器</a:t>
            </a:r>
            <a:endParaRPr lang="en-US" altLang="zh-CN" sz="2800" dirty="0">
              <a:solidFill>
                <a:schemeClr val="accent2"/>
              </a:solidFill>
            </a:endParaRPr>
          </a:p>
          <a:p>
            <a:endParaRPr lang="en-US" altLang="zh-CN" sz="2800" dirty="0"/>
          </a:p>
          <a:p>
            <a:r>
              <a:rPr lang="zh-CN" altLang="en-US" sz="2800" dirty="0"/>
              <a:t>模块与包的定义、导入与使用；入口 </a:t>
            </a:r>
            <a:r>
              <a:rPr lang="en-US" altLang="zh-CN" sz="2800" dirty="0"/>
              <a:t>__main__</a:t>
            </a:r>
          </a:p>
          <a:p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282037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D20ABB7-9F39-3B72-2826-3B3BE6CC701E}"/>
              </a:ext>
            </a:extLst>
          </p:cNvPr>
          <p:cNvSpPr txBox="1"/>
          <p:nvPr/>
        </p:nvSpPr>
        <p:spPr>
          <a:xfrm>
            <a:off x="724619" y="60384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函数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49BABF-7182-1D43-F6C9-D680C925A786}"/>
              </a:ext>
            </a:extLst>
          </p:cNvPr>
          <p:cNvSpPr txBox="1"/>
          <p:nvPr/>
        </p:nvSpPr>
        <p:spPr>
          <a:xfrm>
            <a:off x="1074737" y="1663336"/>
            <a:ext cx="1004252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Python </a:t>
            </a:r>
            <a:r>
              <a:rPr lang="zh-CN" altLang="en-US" sz="2000" dirty="0"/>
              <a:t>中函数的基本用法和其它编程语言类似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def </a:t>
            </a:r>
            <a:r>
              <a:rPr lang="zh-CN" altLang="en-US" sz="2000" dirty="0"/>
              <a:t>关键字声明；局部变量与全局变量；递归函数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可以为变量手动注释其类型（类型提示）和默认值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zh-CN" altLang="en-US" sz="20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9DE4E46-E561-6F4F-EAC1-525D47E30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56" y="3605588"/>
            <a:ext cx="6321252" cy="31423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99FF040-0BCF-985E-54E9-5915AD28B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507" y="5176745"/>
            <a:ext cx="6057143" cy="1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891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6AF59-01A2-ED99-6FA6-661AA81C7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8C8A433-7D7C-987B-B141-B57BBC592545}"/>
              </a:ext>
            </a:extLst>
          </p:cNvPr>
          <p:cNvSpPr txBox="1"/>
          <p:nvPr/>
        </p:nvSpPr>
        <p:spPr>
          <a:xfrm>
            <a:off x="724619" y="603849"/>
            <a:ext cx="3871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*</a:t>
            </a:r>
            <a:r>
              <a:rPr lang="en-US" altLang="zh-CN" sz="3600" b="1" dirty="0" err="1"/>
              <a:t>args</a:t>
            </a:r>
            <a:r>
              <a:rPr lang="en-US" altLang="zh-CN" sz="3600" b="1" dirty="0"/>
              <a:t> </a:t>
            </a:r>
            <a:r>
              <a:rPr lang="zh-CN" altLang="en-US" sz="3600" b="1" dirty="0"/>
              <a:t>和 </a:t>
            </a:r>
            <a:r>
              <a:rPr lang="en-US" altLang="zh-CN" sz="3600" b="1" dirty="0"/>
              <a:t>**</a:t>
            </a:r>
            <a:r>
              <a:rPr lang="en-US" altLang="zh-CN" sz="3600" b="1" dirty="0" err="1"/>
              <a:t>kwargs</a:t>
            </a:r>
            <a:endParaRPr lang="zh-CN" altLang="en-US" sz="3600" b="1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DDDE78-1A57-EE03-C78F-4CC5CE80FA08}"/>
              </a:ext>
            </a:extLst>
          </p:cNvPr>
          <p:cNvSpPr txBox="1"/>
          <p:nvPr/>
        </p:nvSpPr>
        <p:spPr>
          <a:xfrm>
            <a:off x="724618" y="2382074"/>
            <a:ext cx="93810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*</a:t>
            </a:r>
            <a:r>
              <a:rPr lang="en-US" altLang="zh-CN" sz="2000" dirty="0" err="1"/>
              <a:t>args</a:t>
            </a:r>
            <a:r>
              <a:rPr lang="zh-CN" altLang="en-US" sz="2000" dirty="0"/>
              <a:t>：不定数量的传参列表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**</a:t>
            </a:r>
            <a:r>
              <a:rPr lang="en-US" altLang="zh-CN" sz="2000" dirty="0" err="1"/>
              <a:t>kwargs</a:t>
            </a:r>
            <a:r>
              <a:rPr lang="zh-CN" altLang="en-US" sz="2000" dirty="0"/>
              <a:t>：不定数量的传参字典</a:t>
            </a:r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9D2C386-E373-53E9-BBD8-3E9716938EA2}"/>
              </a:ext>
            </a:extLst>
          </p:cNvPr>
          <p:cNvSpPr txBox="1"/>
          <p:nvPr/>
        </p:nvSpPr>
        <p:spPr>
          <a:xfrm>
            <a:off x="724619" y="403481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与一般参数混用时必须</a:t>
            </a:r>
            <a:r>
              <a:rPr lang="zh-CN" altLang="en-US" sz="1800" b="1" dirty="0"/>
              <a:t>注意顺序</a:t>
            </a:r>
            <a:r>
              <a:rPr lang="zh-CN" altLang="en-US" sz="1800" dirty="0"/>
              <a:t>：</a:t>
            </a:r>
            <a:endParaRPr lang="en-US" altLang="zh-CN" sz="1800" dirty="0"/>
          </a:p>
          <a:p>
            <a:r>
              <a:rPr lang="zh-CN" altLang="en-US" sz="1800" dirty="0"/>
              <a:t>普通参数、</a:t>
            </a:r>
            <a:r>
              <a:rPr lang="en-US" altLang="zh-CN" sz="1800" dirty="0"/>
              <a:t>*</a:t>
            </a:r>
            <a:r>
              <a:rPr lang="en-US" altLang="zh-CN" sz="1800" dirty="0" err="1"/>
              <a:t>args</a:t>
            </a:r>
            <a:r>
              <a:rPr lang="zh-CN" altLang="en-US" sz="1800" dirty="0"/>
              <a:t>、带默认值参数、</a:t>
            </a:r>
            <a:r>
              <a:rPr lang="en-US" altLang="zh-CN" sz="1800" dirty="0"/>
              <a:t>**</a:t>
            </a:r>
            <a:r>
              <a:rPr lang="en-US" altLang="zh-CN" sz="1800" dirty="0" err="1"/>
              <a:t>kwargs</a:t>
            </a:r>
            <a:endParaRPr lang="zh-CN" altLang="en-US" sz="18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B156AFC-D58C-BD33-71A2-B864FFFCC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86" y="5497387"/>
            <a:ext cx="6592372" cy="116336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0557780-3C30-18B5-C905-6B5C1CA8C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152" y="1250180"/>
            <a:ext cx="6647628" cy="491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949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B366322-93E1-5F61-C471-20194754465B}"/>
              </a:ext>
            </a:extLst>
          </p:cNvPr>
          <p:cNvSpPr txBox="1"/>
          <p:nvPr/>
        </p:nvSpPr>
        <p:spPr>
          <a:xfrm>
            <a:off x="724619" y="603849"/>
            <a:ext cx="29081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Lambda </a:t>
            </a:r>
            <a:r>
              <a:rPr lang="zh-CN" altLang="en-US" sz="3600" b="1" dirty="0"/>
              <a:t>函数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77C8A-8E1D-DDF1-F807-5419435B2102}"/>
              </a:ext>
            </a:extLst>
          </p:cNvPr>
          <p:cNvSpPr txBox="1"/>
          <p:nvPr/>
        </p:nvSpPr>
        <p:spPr>
          <a:xfrm>
            <a:off x="724619" y="1676400"/>
            <a:ext cx="754405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无需 </a:t>
            </a:r>
            <a:r>
              <a:rPr lang="en-US" altLang="zh-CN" sz="2000" dirty="0"/>
              <a:t>def </a:t>
            </a:r>
            <a:r>
              <a:rPr lang="zh-CN" altLang="en-US" sz="2000" dirty="0"/>
              <a:t>关键字定义的单行轻量级函数（匿名函数）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lambda </a:t>
            </a:r>
            <a:r>
              <a:rPr lang="zh-CN" altLang="en-US" sz="2000" dirty="0"/>
              <a:t>参数（可以多个，用逗号隔开）</a:t>
            </a:r>
            <a:r>
              <a:rPr lang="en-US" altLang="zh-CN" sz="2000" dirty="0"/>
              <a:t>: </a:t>
            </a:r>
            <a:r>
              <a:rPr lang="zh-CN" altLang="en-US" sz="2000" dirty="0"/>
              <a:t>计算式（即 </a:t>
            </a:r>
            <a:r>
              <a:rPr lang="en-US" altLang="zh-CN" sz="2000" dirty="0"/>
              <a:t>return </a:t>
            </a:r>
            <a:r>
              <a:rPr lang="zh-CN" altLang="en-US" sz="2000" dirty="0"/>
              <a:t>值）</a:t>
            </a:r>
            <a:r>
              <a:rPr lang="en-US" altLang="zh-CN" sz="2000" dirty="0"/>
              <a:t> </a:t>
            </a:r>
          </a:p>
          <a:p>
            <a:endParaRPr lang="en-US" altLang="zh-CN" sz="2000" dirty="0"/>
          </a:p>
          <a:p>
            <a:endParaRPr lang="zh-CN" altLang="en-US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0140E34-8352-B28F-E280-7091B12E7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772" y="4695885"/>
            <a:ext cx="5571429" cy="97142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15EF0F9-6088-7A4E-08FF-19932266B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" y="3020399"/>
            <a:ext cx="5253609" cy="360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649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64A7538-3E5F-01C8-7C1B-CC0FDF2ADAAF}"/>
              </a:ext>
            </a:extLst>
          </p:cNvPr>
          <p:cNvSpPr txBox="1"/>
          <p:nvPr/>
        </p:nvSpPr>
        <p:spPr>
          <a:xfrm>
            <a:off x="724619" y="603849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函数式编程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8334A95-247C-20C4-194D-272A3AFFE3DB}"/>
              </a:ext>
            </a:extLst>
          </p:cNvPr>
          <p:cNvSpPr txBox="1"/>
          <p:nvPr/>
        </p:nvSpPr>
        <p:spPr>
          <a:xfrm>
            <a:off x="781725" y="1693333"/>
            <a:ext cx="95782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在函数式编程中，函数与变量的地位是对等的（</a:t>
            </a:r>
            <a:r>
              <a:rPr lang="zh-CN" altLang="en-US" sz="2000" b="1" dirty="0"/>
              <a:t>第一类对象</a:t>
            </a:r>
            <a:r>
              <a:rPr lang="zh-CN" altLang="en-US" sz="2000" dirty="0"/>
              <a:t>，</a:t>
            </a:r>
            <a:r>
              <a:rPr lang="en-US" altLang="zh-CN" sz="2000" dirty="0"/>
              <a:t>First-class Functions</a:t>
            </a:r>
            <a:r>
              <a:rPr lang="zh-CN" altLang="en-US" sz="2000" dirty="0"/>
              <a:t>）</a:t>
            </a:r>
            <a:endParaRPr lang="en-US" altLang="zh-CN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1C0547-6621-136C-5775-D1308A9716F8}"/>
              </a:ext>
            </a:extLst>
          </p:cNvPr>
          <p:cNvSpPr txBox="1"/>
          <p:nvPr/>
        </p:nvSpPr>
        <p:spPr>
          <a:xfrm>
            <a:off x="1294686" y="2258797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函数可以作为参数、返回值，乃至赋值给变量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DB88BA1-BC2D-0613-B1CD-E7D34EEF2D51}"/>
              </a:ext>
            </a:extLst>
          </p:cNvPr>
          <p:cNvSpPr txBox="1"/>
          <p:nvPr/>
        </p:nvSpPr>
        <p:spPr>
          <a:xfrm>
            <a:off x="817632" y="2935757"/>
            <a:ext cx="917110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纯函数</a:t>
            </a:r>
            <a:r>
              <a:rPr lang="zh-CN" altLang="en-US" sz="2000" dirty="0"/>
              <a:t>：</a:t>
            </a:r>
            <a:r>
              <a:rPr lang="en-US" altLang="zh-CN" sz="2000" dirty="0"/>
              <a:t>1. </a:t>
            </a:r>
            <a:r>
              <a:rPr lang="zh-CN" altLang="en-US" sz="2000" dirty="0"/>
              <a:t>相同输入得到相同输出；</a:t>
            </a:r>
            <a:r>
              <a:rPr lang="en-US" altLang="zh-CN" sz="2000" dirty="0"/>
              <a:t>2. </a:t>
            </a:r>
            <a:r>
              <a:rPr lang="zh-CN" altLang="en-US" sz="2000" dirty="0"/>
              <a:t>只负责计算，不修改外部变量，无</a:t>
            </a:r>
            <a:r>
              <a:rPr lang="zh-CN" altLang="en-US" sz="2000" b="1" dirty="0">
                <a:solidFill>
                  <a:schemeClr val="accent2"/>
                </a:solidFill>
              </a:rPr>
              <a:t>副作用</a:t>
            </a:r>
            <a:endParaRPr lang="en-US" altLang="zh-CN" sz="2000" b="1" dirty="0">
              <a:solidFill>
                <a:schemeClr val="accent2"/>
              </a:solidFill>
            </a:endParaRPr>
          </a:p>
          <a:p>
            <a:endParaRPr lang="en-US" altLang="zh-CN" sz="2000" b="1" dirty="0">
              <a:solidFill>
                <a:schemeClr val="accent2"/>
              </a:solidFill>
            </a:endParaRPr>
          </a:p>
          <a:p>
            <a:endParaRPr lang="zh-CN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A5B202-0961-C018-56D5-B655A40B6D5E}"/>
              </a:ext>
            </a:extLst>
          </p:cNvPr>
          <p:cNvSpPr txBox="1"/>
          <p:nvPr/>
        </p:nvSpPr>
        <p:spPr>
          <a:xfrm>
            <a:off x="1294686" y="3582088"/>
            <a:ext cx="352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lambda </a:t>
            </a:r>
            <a:r>
              <a:rPr lang="zh-CN" altLang="en-US" dirty="0"/>
              <a:t>函数是一类典型的纯函数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F4B18B-83D8-001A-3B9F-420A8D1F790A}"/>
              </a:ext>
            </a:extLst>
          </p:cNvPr>
          <p:cNvSpPr txBox="1"/>
          <p:nvPr/>
        </p:nvSpPr>
        <p:spPr>
          <a:xfrm>
            <a:off x="817631" y="4256726"/>
            <a:ext cx="90799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不可变性</a:t>
            </a:r>
            <a:r>
              <a:rPr lang="zh-CN" altLang="en-US" sz="2000" dirty="0"/>
              <a:t>：如果要对原数据进行修改，必须为它创建副本后对副本进行修改</a:t>
            </a:r>
            <a:endParaRPr lang="en-US" altLang="zh-CN" sz="2000" b="1" dirty="0">
              <a:solidFill>
                <a:schemeClr val="accent2"/>
              </a:solidFill>
            </a:endParaRPr>
          </a:p>
          <a:p>
            <a:endParaRPr lang="en-US" altLang="zh-CN" sz="2000" b="1" dirty="0">
              <a:solidFill>
                <a:schemeClr val="accent2"/>
              </a:solidFill>
            </a:endParaRPr>
          </a:p>
          <a:p>
            <a:endParaRPr lang="zh-CN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AEBC4DE-4AD8-2841-51A0-0D50C84C3A99}"/>
              </a:ext>
            </a:extLst>
          </p:cNvPr>
          <p:cNvSpPr txBox="1"/>
          <p:nvPr/>
        </p:nvSpPr>
        <p:spPr>
          <a:xfrm>
            <a:off x="1294686" y="4795335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认为数据被创建后就不应该被修改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BA7379-3F68-AFD3-8E65-9B128B167055}"/>
              </a:ext>
            </a:extLst>
          </p:cNvPr>
          <p:cNvSpPr txBox="1"/>
          <p:nvPr/>
        </p:nvSpPr>
        <p:spPr>
          <a:xfrm>
            <a:off x="553457" y="5810998"/>
            <a:ext cx="11194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函数式编程的三个工具：</a:t>
            </a:r>
            <a:r>
              <a:rPr lang="en-US" altLang="zh-CN" b="1" dirty="0"/>
              <a:t>Map</a:t>
            </a:r>
            <a:r>
              <a:rPr lang="zh-CN" altLang="en-US" b="1" dirty="0"/>
              <a:t>（对每个元素执行）、</a:t>
            </a:r>
            <a:r>
              <a:rPr lang="en-US" altLang="zh-CN" b="1" dirty="0"/>
              <a:t>Filter</a:t>
            </a:r>
            <a:r>
              <a:rPr lang="zh-CN" altLang="en-US" b="1" dirty="0"/>
              <a:t>（筛选元素）、</a:t>
            </a:r>
            <a:r>
              <a:rPr lang="en-US" altLang="zh-CN" b="1" dirty="0"/>
              <a:t>Reduce</a:t>
            </a:r>
            <a:r>
              <a:rPr lang="zh-CN" altLang="en-US" b="1" dirty="0"/>
              <a:t>（将多个元素聚合为一个）</a:t>
            </a:r>
          </a:p>
        </p:txBody>
      </p:sp>
    </p:spTree>
    <p:extLst>
      <p:ext uri="{BB962C8B-B14F-4D97-AF65-F5344CB8AC3E}">
        <p14:creationId xmlns:p14="http://schemas.microsoft.com/office/powerpoint/2010/main" val="2494976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FA525-C5A6-D209-E1B4-95A5F27DA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C83A14E-46FE-7B89-3364-B6C94DFE3B6E}"/>
              </a:ext>
            </a:extLst>
          </p:cNvPr>
          <p:cNvSpPr txBox="1"/>
          <p:nvPr/>
        </p:nvSpPr>
        <p:spPr>
          <a:xfrm>
            <a:off x="724619" y="603849"/>
            <a:ext cx="9268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函数式编程：示例（</a:t>
            </a:r>
            <a:r>
              <a:rPr lang="en-US" altLang="zh-CN" sz="3600" b="1" dirty="0"/>
              <a:t>Map</a:t>
            </a:r>
            <a:r>
              <a:rPr lang="zh-CN" altLang="en-US" sz="3600" b="1" dirty="0"/>
              <a:t>、</a:t>
            </a:r>
            <a:r>
              <a:rPr lang="en-US" altLang="zh-CN" sz="3600" b="1" dirty="0"/>
              <a:t>Filter</a:t>
            </a:r>
            <a:r>
              <a:rPr lang="zh-CN" altLang="en-US" sz="3600" b="1" dirty="0"/>
              <a:t>、</a:t>
            </a:r>
            <a:r>
              <a:rPr lang="en-US" altLang="zh-CN" sz="3600" b="1" dirty="0"/>
              <a:t>Reduce</a:t>
            </a:r>
            <a:r>
              <a:rPr lang="zh-CN" altLang="en-US" sz="3600" b="1" dirty="0"/>
              <a:t>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82ABEDE-E4E5-AB42-252C-CBC47443A568}"/>
              </a:ext>
            </a:extLst>
          </p:cNvPr>
          <p:cNvSpPr txBox="1"/>
          <p:nvPr/>
        </p:nvSpPr>
        <p:spPr>
          <a:xfrm>
            <a:off x="724619" y="5854041"/>
            <a:ext cx="6596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看起来挺优雅的，但是用多了可读性不好！（忍者代码）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DA29A37-1AC5-B56E-E319-49DE2B109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03" y="1607224"/>
            <a:ext cx="8614663" cy="402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775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10687-C40A-08AC-700F-FF060C8B8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44B8C86-AA0A-4248-A3B3-1E2C95BF2CB3}"/>
              </a:ext>
            </a:extLst>
          </p:cNvPr>
          <p:cNvSpPr txBox="1"/>
          <p:nvPr/>
        </p:nvSpPr>
        <p:spPr>
          <a:xfrm>
            <a:off x="724619" y="603849"/>
            <a:ext cx="37176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闭包（</a:t>
            </a:r>
            <a:r>
              <a:rPr lang="en-US" altLang="zh-CN" sz="3600" b="1" dirty="0"/>
              <a:t>Closure</a:t>
            </a:r>
            <a:r>
              <a:rPr lang="zh-CN" altLang="en-US" sz="3600" b="1" dirty="0"/>
              <a:t>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28060E1-A453-22D8-806B-D73F280B88ED}"/>
              </a:ext>
            </a:extLst>
          </p:cNvPr>
          <p:cNvSpPr txBox="1"/>
          <p:nvPr/>
        </p:nvSpPr>
        <p:spPr>
          <a:xfrm>
            <a:off x="724619" y="1583267"/>
            <a:ext cx="617348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构成一个闭包需要的三个条件：</a:t>
            </a:r>
            <a:endParaRPr lang="en-US" altLang="zh-CN" sz="2000" dirty="0"/>
          </a:p>
          <a:p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必须有一个内嵌函数（在函数中定义的函数）</a:t>
            </a:r>
            <a:endParaRPr lang="en-US" altLang="zh-CN" sz="2000" dirty="0"/>
          </a:p>
          <a:p>
            <a:pPr marL="342900" indent="-342900">
              <a:buAutoNum type="arabicPeriod"/>
            </a:pP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内嵌函数必须引用其外部函数的变量（自由变量）</a:t>
            </a:r>
            <a:endParaRPr lang="en-US" altLang="zh-CN" sz="2000" dirty="0"/>
          </a:p>
          <a:p>
            <a:pPr marL="342900" indent="-342900">
              <a:buAutoNum type="arabicPeriod"/>
            </a:pPr>
            <a:endParaRPr lang="en-US" altLang="zh-CN" sz="2000" dirty="0"/>
          </a:p>
          <a:p>
            <a:pPr marL="342900" indent="-342900">
              <a:buAutoNum type="arabicPeriod"/>
            </a:pPr>
            <a:r>
              <a:rPr lang="zh-CN" altLang="en-US" sz="2000" dirty="0"/>
              <a:t>外部函数必须以该内嵌函数为返回值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72C55E-8C83-4D5E-8FE9-8EC8CBFF6B99}"/>
              </a:ext>
            </a:extLst>
          </p:cNvPr>
          <p:cNvSpPr txBox="1"/>
          <p:nvPr/>
        </p:nvSpPr>
        <p:spPr>
          <a:xfrm>
            <a:off x="480963" y="4290123"/>
            <a:ext cx="641714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闭包能够保留外部函数中定义的变量数据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能够记住上一次调用的状态（若内嵌函数修改了自由变量）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每个函数变量都存储了自己的一份 “自由变量”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C85670-0819-2138-3E14-569C83C41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297" y="1601331"/>
            <a:ext cx="5218106" cy="436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756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C0D88-22E5-94B1-9392-9684FCF95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7F92E80-9B19-6E90-DF42-CAAB2567BD58}"/>
              </a:ext>
            </a:extLst>
          </p:cNvPr>
          <p:cNvSpPr txBox="1"/>
          <p:nvPr/>
        </p:nvSpPr>
        <p:spPr>
          <a:xfrm>
            <a:off x="724619" y="603849"/>
            <a:ext cx="88649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闭包示例：函数工厂（</a:t>
            </a:r>
            <a:r>
              <a:rPr lang="en-US" altLang="zh-CN" sz="3600" b="1" dirty="0"/>
              <a:t>Function Factory</a:t>
            </a:r>
            <a:r>
              <a:rPr lang="zh-CN" altLang="en-US" sz="3600" b="1" dirty="0"/>
              <a:t>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570B05-1C99-041A-A0AF-C964C1946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272" y="2384162"/>
            <a:ext cx="6225137" cy="350017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D134A86-DCBA-CE4A-2FE1-AF786A1DE7BE}"/>
              </a:ext>
            </a:extLst>
          </p:cNvPr>
          <p:cNvSpPr txBox="1"/>
          <p:nvPr/>
        </p:nvSpPr>
        <p:spPr>
          <a:xfrm>
            <a:off x="724619" y="2909094"/>
            <a:ext cx="4801314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闭包规定了这个函数的模板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通过变量 “实例化” 了自定义函数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dirty="0"/>
              <a:t>由于内嵌函数没有修改自由变量</a:t>
            </a:r>
            <a:endParaRPr lang="en-US" altLang="zh-CN" dirty="0"/>
          </a:p>
          <a:p>
            <a:r>
              <a:rPr lang="zh-CN" altLang="en-US" dirty="0"/>
              <a:t>因此这里的函数变量不会记住上次运行的状态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70766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8122-8AD5-B921-C1AC-E5BD2834A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12637AC-4A20-5EAD-6684-B638CF81F9B4}"/>
              </a:ext>
            </a:extLst>
          </p:cNvPr>
          <p:cNvSpPr txBox="1"/>
          <p:nvPr/>
        </p:nvSpPr>
        <p:spPr>
          <a:xfrm>
            <a:off x="724619" y="603849"/>
            <a:ext cx="68964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闭包示例：装饰器（</a:t>
            </a:r>
            <a:r>
              <a:rPr lang="en-US" altLang="zh-CN" sz="3600" b="1" dirty="0"/>
              <a:t>Decorator</a:t>
            </a:r>
            <a:r>
              <a:rPr lang="zh-CN" altLang="en-US" sz="3600" b="1" dirty="0"/>
              <a:t>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441AE81-1844-FDF9-2646-26A797E26A20}"/>
              </a:ext>
            </a:extLst>
          </p:cNvPr>
          <p:cNvSpPr txBox="1"/>
          <p:nvPr/>
        </p:nvSpPr>
        <p:spPr>
          <a:xfrm>
            <a:off x="724619" y="1710267"/>
            <a:ext cx="86485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可以理解为</a:t>
            </a:r>
            <a:r>
              <a:rPr lang="zh-CN" altLang="en-US" sz="2000" b="1" dirty="0"/>
              <a:t>泛函</a:t>
            </a:r>
            <a:r>
              <a:rPr lang="zh-CN" altLang="en-US" sz="2000" dirty="0"/>
              <a:t>：接收一个函数作为输入，并返回一个被套壳后的新函数。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CFBD5B-AD53-65D4-9B50-1A7CBA62E9FD}"/>
              </a:ext>
            </a:extLst>
          </p:cNvPr>
          <p:cNvSpPr txBox="1"/>
          <p:nvPr/>
        </p:nvSpPr>
        <p:spPr>
          <a:xfrm>
            <a:off x="1285669" y="2277533"/>
            <a:ext cx="7526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以函数作为输入，不同的函数引起不同的结果。泛函示例参照路径积分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97B8838-4000-CD9D-943F-E9068F47A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020" y="2977904"/>
            <a:ext cx="5791042" cy="366842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EC6A122-028D-CDFB-B8FE-C3DFCFCE1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409" y="4894838"/>
            <a:ext cx="5428571" cy="74285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01E7004-6A36-1597-A008-37346C94E956}"/>
              </a:ext>
            </a:extLst>
          </p:cNvPr>
          <p:cNvSpPr txBox="1"/>
          <p:nvPr/>
        </p:nvSpPr>
        <p:spPr>
          <a:xfrm>
            <a:off x="7044267" y="3309186"/>
            <a:ext cx="449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不修改原函数的情况下实现扩展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外壳必须使用 </a:t>
            </a:r>
            <a:r>
              <a:rPr lang="en-US" altLang="zh-CN" dirty="0"/>
              <a:t>*</a:t>
            </a:r>
            <a:r>
              <a:rPr lang="en-US" altLang="zh-CN" dirty="0" err="1"/>
              <a:t>args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/>
              <a:t>**</a:t>
            </a:r>
            <a:r>
              <a:rPr lang="en-US" altLang="zh-CN" dirty="0" err="1"/>
              <a:t>kwargs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4912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D0897-1ECF-E432-0E97-946CF8E0B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7C3188D-AC9E-8E4E-D855-4D6D44B5D519}"/>
              </a:ext>
            </a:extLst>
          </p:cNvPr>
          <p:cNvSpPr txBox="1"/>
          <p:nvPr/>
        </p:nvSpPr>
        <p:spPr>
          <a:xfrm>
            <a:off x="724619" y="603849"/>
            <a:ext cx="89562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综合示例：利用自由变量和装饰器优化算法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DFD5181-CAD3-6C90-B482-C3598E3D7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483" y="2142067"/>
            <a:ext cx="6215319" cy="424518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0D6F137-87A7-CBE3-98BB-DA280500F608}"/>
              </a:ext>
            </a:extLst>
          </p:cNvPr>
          <p:cNvSpPr txBox="1"/>
          <p:nvPr/>
        </p:nvSpPr>
        <p:spPr>
          <a:xfrm>
            <a:off x="665949" y="2142067"/>
            <a:ext cx="49824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能将斐波那契数列的计算从 </a:t>
            </a:r>
            <a:r>
              <a:rPr lang="en-US" altLang="zh-CN" dirty="0"/>
              <a:t>O(2^n) </a:t>
            </a:r>
            <a:r>
              <a:rPr lang="zh-CN" altLang="en-US" dirty="0"/>
              <a:t>优化至 </a:t>
            </a:r>
            <a:r>
              <a:rPr lang="en-US" altLang="zh-CN" dirty="0"/>
              <a:t>O(n)</a:t>
            </a:r>
          </a:p>
          <a:p>
            <a:endParaRPr lang="en-US" altLang="zh-CN" dirty="0"/>
          </a:p>
          <a:p>
            <a:r>
              <a:rPr lang="zh-CN" altLang="en-US" dirty="0"/>
              <a:t>装饰器特性在后端开发框架如 </a:t>
            </a:r>
            <a:r>
              <a:rPr lang="en-US" altLang="zh-CN" dirty="0"/>
              <a:t>Vue </a:t>
            </a:r>
            <a:r>
              <a:rPr lang="zh-CN" altLang="en-US" dirty="0"/>
              <a:t>中被常用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CD8ACE3-547E-D7E1-0A42-DAC05E59B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410" y="3429000"/>
            <a:ext cx="3914323" cy="59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027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AB0FE-AD6A-7E25-5E3D-0EECE4A3E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59C536-2522-6F28-CE5F-40B1AC4A4268}"/>
              </a:ext>
            </a:extLst>
          </p:cNvPr>
          <p:cNvSpPr txBox="1"/>
          <p:nvPr/>
        </p:nvSpPr>
        <p:spPr>
          <a:xfrm>
            <a:off x="724619" y="60384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目录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8CE9F4-BB3E-182A-718E-116594684DD4}"/>
              </a:ext>
            </a:extLst>
          </p:cNvPr>
          <p:cNvSpPr txBox="1"/>
          <p:nvPr/>
        </p:nvSpPr>
        <p:spPr>
          <a:xfrm>
            <a:off x="1475115" y="2305615"/>
            <a:ext cx="97686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函数、</a:t>
            </a:r>
            <a:r>
              <a:rPr lang="en-US" altLang="zh-CN" sz="2800" dirty="0"/>
              <a:t>Lambda </a:t>
            </a:r>
            <a:r>
              <a:rPr lang="zh-CN" altLang="en-US" sz="2800" dirty="0"/>
              <a:t>函数与函数式编程、闭包与装饰器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>
                <a:solidFill>
                  <a:schemeClr val="accent2"/>
                </a:solidFill>
              </a:rPr>
              <a:t>模块与包的定义、导入与使用；入口 </a:t>
            </a:r>
            <a:r>
              <a:rPr lang="en-US" altLang="zh-CN" sz="2800" dirty="0">
                <a:solidFill>
                  <a:schemeClr val="accent2"/>
                </a:solidFill>
              </a:rPr>
              <a:t>__main__</a:t>
            </a:r>
          </a:p>
        </p:txBody>
      </p:sp>
    </p:spTree>
    <p:extLst>
      <p:ext uri="{BB962C8B-B14F-4D97-AF65-F5344CB8AC3E}">
        <p14:creationId xmlns:p14="http://schemas.microsoft.com/office/powerpoint/2010/main" val="3761931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B2ED-D2AD-41E6-167B-C595E42CC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5048B05-041D-15BF-E948-6A4A5E1FFE7B}"/>
              </a:ext>
            </a:extLst>
          </p:cNvPr>
          <p:cNvSpPr txBox="1"/>
          <p:nvPr/>
        </p:nvSpPr>
        <p:spPr>
          <a:xfrm>
            <a:off x="724619" y="603849"/>
            <a:ext cx="30043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模块、包和库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D3D139-737D-6F9F-34B9-A45F0CECC92A}"/>
              </a:ext>
            </a:extLst>
          </p:cNvPr>
          <p:cNvSpPr txBox="1"/>
          <p:nvPr/>
        </p:nvSpPr>
        <p:spPr>
          <a:xfrm>
            <a:off x="724619" y="1879812"/>
            <a:ext cx="629851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在 </a:t>
            </a:r>
            <a:r>
              <a:rPr lang="en-US" altLang="zh-CN" sz="2000" dirty="0"/>
              <a:t>Python </a:t>
            </a:r>
            <a:r>
              <a:rPr lang="zh-CN" altLang="en-US" sz="2000" dirty="0"/>
              <a:t>中，一个 </a:t>
            </a:r>
            <a:r>
              <a:rPr lang="en-US" altLang="zh-CN" sz="2000" dirty="0"/>
              <a:t>.</a:t>
            </a:r>
            <a:r>
              <a:rPr lang="en-US" altLang="zh-CN" sz="2000" dirty="0" err="1"/>
              <a:t>py</a:t>
            </a:r>
            <a:r>
              <a:rPr lang="en-US" altLang="zh-CN" sz="2000" dirty="0"/>
              <a:t> </a:t>
            </a:r>
            <a:r>
              <a:rPr lang="zh-CN" altLang="en-US" sz="2000" dirty="0"/>
              <a:t>文件就是一个</a:t>
            </a:r>
            <a:r>
              <a:rPr lang="zh-CN" altLang="en-US" sz="2000" b="1" dirty="0"/>
              <a:t>模块（</a:t>
            </a:r>
            <a:r>
              <a:rPr lang="en-US" altLang="zh-CN" sz="2000" b="1" dirty="0"/>
              <a:t>module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dirty="0"/>
              <a:t>一个</a:t>
            </a:r>
            <a:r>
              <a:rPr lang="zh-CN" altLang="en-US" sz="2000" b="1" dirty="0"/>
              <a:t>包（</a:t>
            </a:r>
            <a:r>
              <a:rPr lang="en-US" altLang="zh-CN" sz="2000" b="1" dirty="0"/>
              <a:t>package</a:t>
            </a:r>
            <a:r>
              <a:rPr lang="zh-CN" altLang="en-US" sz="2000" b="1" dirty="0"/>
              <a:t>）</a:t>
            </a:r>
            <a:r>
              <a:rPr lang="zh-CN" altLang="en-US" sz="2000" dirty="0"/>
              <a:t>是一组模块的集合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一个</a:t>
            </a:r>
            <a:r>
              <a:rPr lang="zh-CN" altLang="en-US" sz="2000" b="1" dirty="0"/>
              <a:t>库（</a:t>
            </a:r>
            <a:r>
              <a:rPr lang="en-US" altLang="zh-CN" sz="2000" b="1" dirty="0"/>
              <a:t>library</a:t>
            </a:r>
            <a:r>
              <a:rPr lang="zh-CN" altLang="en-US" sz="2000" b="1" dirty="0"/>
              <a:t>）</a:t>
            </a:r>
            <a:r>
              <a:rPr lang="zh-CN" altLang="en-US" sz="2000" dirty="0"/>
              <a:t>是一组包的集合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28C7B89-E31A-C373-6FB6-2C2676D1B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197" y="3511028"/>
            <a:ext cx="6404082" cy="297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922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72D8DA4-3D2C-F77E-FE5E-D6F66D26D29C}"/>
              </a:ext>
            </a:extLst>
          </p:cNvPr>
          <p:cNvSpPr txBox="1"/>
          <p:nvPr/>
        </p:nvSpPr>
        <p:spPr>
          <a:xfrm>
            <a:off x="724619" y="603849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/>
              <a:t>包的创建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7392CF9-9F82-DF1C-3783-21FA9B692B0E}"/>
              </a:ext>
            </a:extLst>
          </p:cNvPr>
          <p:cNvSpPr txBox="1"/>
          <p:nvPr/>
        </p:nvSpPr>
        <p:spPr>
          <a:xfrm>
            <a:off x="1463962" y="1701799"/>
            <a:ext cx="92640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一个包通常是由多个 </a:t>
            </a:r>
            <a:r>
              <a:rPr lang="en-US" altLang="zh-CN" dirty="0"/>
              <a:t>.</a:t>
            </a:r>
            <a:r>
              <a:rPr lang="en-US" altLang="zh-CN" dirty="0" err="1"/>
              <a:t>py</a:t>
            </a:r>
            <a:r>
              <a:rPr lang="en-US" altLang="zh-CN" dirty="0"/>
              <a:t> </a:t>
            </a:r>
            <a:r>
              <a:rPr lang="zh-CN" altLang="en-US" dirty="0"/>
              <a:t>文件构成的文件夹，其必须包含 </a:t>
            </a:r>
            <a:r>
              <a:rPr lang="en-US" altLang="zh-CN" dirty="0"/>
              <a:t>__init__.py</a:t>
            </a:r>
            <a:r>
              <a:rPr lang="zh-CN" altLang="en-US" dirty="0"/>
              <a:t>，用来指定包的内容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否则，这个文件夹会被识别为常规文件夹；无法导入 </a:t>
            </a:r>
            <a:r>
              <a:rPr lang="en-US" altLang="zh-CN" dirty="0"/>
              <a:t>__init__.py </a:t>
            </a:r>
            <a:r>
              <a:rPr lang="zh-CN" altLang="en-US" dirty="0"/>
              <a:t>中未规定的模块和内容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16D3AE4-9FC3-485F-E976-7D921FEC5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962" y="3343285"/>
            <a:ext cx="2247619" cy="100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441BAB1-4F35-4198-E3D2-30595479C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144" y="3387833"/>
            <a:ext cx="1685714" cy="828571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983849F-256D-06CF-99C3-3F29AB8A4593}"/>
              </a:ext>
            </a:extLst>
          </p:cNvPr>
          <p:cNvCxnSpPr/>
          <p:nvPr/>
        </p:nvCxnSpPr>
        <p:spPr>
          <a:xfrm>
            <a:off x="3335867" y="3699933"/>
            <a:ext cx="1049866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52BFD068-B473-D245-64AC-DA62A53789AC}"/>
              </a:ext>
            </a:extLst>
          </p:cNvPr>
          <p:cNvSpPr/>
          <p:nvPr/>
        </p:nvSpPr>
        <p:spPr>
          <a:xfrm>
            <a:off x="1566333" y="3429000"/>
            <a:ext cx="1769534" cy="45720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9099E68-18E8-E88B-6FB5-769222576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800" y="3216404"/>
            <a:ext cx="4693880" cy="1000000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25F8304-FD9C-35D5-E178-1987BC2F64F5}"/>
              </a:ext>
            </a:extLst>
          </p:cNvPr>
          <p:cNvCxnSpPr>
            <a:cxnSpLocks/>
          </p:cNvCxnSpPr>
          <p:nvPr/>
        </p:nvCxnSpPr>
        <p:spPr>
          <a:xfrm>
            <a:off x="5884334" y="3657600"/>
            <a:ext cx="1532466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A25D7CCD-46CC-6EEC-C27C-65219E6D32B4}"/>
              </a:ext>
            </a:extLst>
          </p:cNvPr>
          <p:cNvSpPr txBox="1"/>
          <p:nvPr/>
        </p:nvSpPr>
        <p:spPr>
          <a:xfrm>
            <a:off x="8296809" y="4395990"/>
            <a:ext cx="389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虽然我搞错了概念但我就要命名为 </a:t>
            </a:r>
            <a:r>
              <a:rPr lang="en-US" altLang="zh-CN" sz="1400" dirty="0" err="1"/>
              <a:t>rational_module</a:t>
            </a:r>
            <a:r>
              <a:rPr lang="en-US" altLang="zh-CN" sz="1400" dirty="0"/>
              <a:t> awa</a:t>
            </a:r>
            <a:endParaRPr lang="zh-CN" altLang="en-US" sz="1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3ACC419-6C5E-B30C-02A1-E3A7A0608324}"/>
              </a:ext>
            </a:extLst>
          </p:cNvPr>
          <p:cNvSpPr/>
          <p:nvPr/>
        </p:nvSpPr>
        <p:spPr>
          <a:xfrm>
            <a:off x="4537609" y="3429000"/>
            <a:ext cx="1346725" cy="39898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C22F1A4-4A50-569D-F47A-47C7304D7F4E}"/>
              </a:ext>
            </a:extLst>
          </p:cNvPr>
          <p:cNvSpPr/>
          <p:nvPr/>
        </p:nvSpPr>
        <p:spPr>
          <a:xfrm>
            <a:off x="1566333" y="3827982"/>
            <a:ext cx="1769534" cy="45720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E9E663D-0DCA-9BB7-9907-495CC74B0810}"/>
              </a:ext>
            </a:extLst>
          </p:cNvPr>
          <p:cNvCxnSpPr>
            <a:cxnSpLocks/>
          </p:cNvCxnSpPr>
          <p:nvPr/>
        </p:nvCxnSpPr>
        <p:spPr>
          <a:xfrm>
            <a:off x="2451100" y="4343285"/>
            <a:ext cx="385233" cy="770582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75FEA7E0-57D0-F088-4EB7-CBEF28A544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4605" y="4657600"/>
            <a:ext cx="3394696" cy="2096178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C070BCC9-D0D2-DB9B-789B-F6C885D6DF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392" y="5733286"/>
            <a:ext cx="3394697" cy="102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728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0391577-7D0E-52D7-DE18-C1CF5E22E892}"/>
              </a:ext>
            </a:extLst>
          </p:cNvPr>
          <p:cNvSpPr txBox="1"/>
          <p:nvPr/>
        </p:nvSpPr>
        <p:spPr>
          <a:xfrm>
            <a:off x="724619" y="603849"/>
            <a:ext cx="53367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if __name__ == __main__:</a:t>
            </a:r>
            <a:endParaRPr lang="zh-CN" altLang="en-US" sz="3600" b="1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CCC7814-6890-395B-7850-3487EC817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774" y="2421467"/>
            <a:ext cx="5799852" cy="1713187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FF0DE1AC-E86A-171F-DC19-BF7FF83B7F5A}"/>
              </a:ext>
            </a:extLst>
          </p:cNvPr>
          <p:cNvSpPr txBox="1"/>
          <p:nvPr/>
        </p:nvSpPr>
        <p:spPr>
          <a:xfrm>
            <a:off x="724619" y="1592016"/>
            <a:ext cx="5057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终端里的结果是怎么回事呢？（伪思考题）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784C982-C3A5-0066-FA53-6B0A241DA30A}"/>
              </a:ext>
            </a:extLst>
          </p:cNvPr>
          <p:cNvSpPr txBox="1"/>
          <p:nvPr/>
        </p:nvSpPr>
        <p:spPr>
          <a:xfrm>
            <a:off x="6018795" y="1590430"/>
            <a:ext cx="4350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__main__ </a:t>
            </a:r>
            <a:r>
              <a:rPr lang="zh-CN" altLang="en-US" b="1" dirty="0">
                <a:solidFill>
                  <a:srgbClr val="FF0000"/>
                </a:solidFill>
              </a:rPr>
              <a:t>分支之外最好只有声明和定义！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26ECAF32-866A-FC76-722E-C60ED3D45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774" y="4696708"/>
            <a:ext cx="5639873" cy="1713187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598AC6FF-B4ED-269F-FB04-7EF1E9779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24" y="4804860"/>
            <a:ext cx="5782414" cy="1471265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77CD7848-77EF-4E70-5C82-FB0C153553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474" y="2421467"/>
            <a:ext cx="5804332" cy="159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855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767</Words>
  <Application>Microsoft Office PowerPoint</Application>
  <PresentationFormat>宽屏</PresentationFormat>
  <Paragraphs>88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OvO QwQ</dc:creator>
  <cp:lastModifiedBy>OvO QwQ</cp:lastModifiedBy>
  <cp:revision>9</cp:revision>
  <dcterms:created xsi:type="dcterms:W3CDTF">2026-04-16T03:50:44Z</dcterms:created>
  <dcterms:modified xsi:type="dcterms:W3CDTF">2026-10-13T15:45:47Z</dcterms:modified>
</cp:coreProperties>
</file>