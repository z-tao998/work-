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开场：这门课有两条主线，一条是把逻辑回归真正跑通，另一条是理解 Agent、Prompt 与 Harness。两条线会在同一个实验里汇合。建议用 2 分钟说明课程定位：不是从零写模型，而是接管一个遗留实验，用可验证的工作流完成它。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先给学生一张地图：左边是实验的模型线，右边是工程线。右边不是额外加戏，而是本课程真正想训练的能力：把任务拆开、用工具行动、用证据验收。后面的内容按这两条线交替展开。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先纠正一个常见误解：逻辑回归名字里有“回归”，做的是分类。用房价 vs 违约对比：连续值有数量含义，类别/概率没有。再快速过四个术语，为后面代码做铺垫。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先讲业务，不要一上来讲公式。让学生意识到：标签是什么、两类错误代价不同、为什么输出概率而不是硬分类。这为后面讲 sigmoid 和阈值做铺垫。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用大数字建立尺度感：47 列、44 维、8k/1k/1k、50% 正样本。提醒学生注意 PPT 与真实文件的差异：验证集和测试集各 1000，而不是 2000 全做测试。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这一页解决“44 维怎么来的”这个高频问题。带学生做减法：47 列先减 id、标签、subGrade。再说明 40+4 的构成。顺便处理原 PPT 的数据字典口径冲突：以实测列账本为准。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手册给的是 conda 方案，本次实际用 venv 也能完成；关键是隔离和验证。建议现场演示 import torch 和读 CSV，让学生看到“环境错误”和“代码错误”的表现不同。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逐行讲这五类转换：为什么删 id、日期怎么变成天数/月数、grade 的序数编码、employmentLength 的奇怪映射。强调这些不是“随便编的”，而是课程给的固定规则；先按规则跑通，再讨论是否合理。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先讲规则，再讲代码。注意 filter_NA 和 fill_mean 的顺序不能反：标签缺失的行要先删掉，否则均值填充会把标签也填上。最后用 isnull().sum() 做验收，形成“处理—检查”的闭环。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这一页只讲形状和泄漏。让学生形成肌肉记忆：先打印 shape，再写模型。MinMax 只在 train 上 fit 是常见考点；标签 1-D 和预测 2-D 的差异是后面 BCELoss 坑的伏笔。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强调职责分离：Dataset 只回答“第 i 条是什么”和“一共多少条”；DataLoader 负责切批、打乱、并行。让学生自己数一下 __len__ 返回什么、__getitem__ 返回什么形状。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解释 batch 的三个作用：控制内存、引入梯度噪声、决定一个 epoch 的更新次数。强调只打乱训练集；验证/测试保持顺序，指标才可对齐。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进入模型部分。先给学生一个承诺：只需要三个公式——线性分数、sigmoid、交叉熵。其余都是工程实现。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从线性回归讲起：为什么不能直接输出分数？因为概率必须在 0 到 1 之间。sigmoid 是单调的，把分数变成概率，同时保留排序。用手算 z=0、2、-2 三个点帮助学生建立直觉。公式（LaTeX）：$z=\mathbf{w}^{\top}\mathbf{x}+b$；$p=\sigma(z)=\frac{1}{1+e^{-z}}$。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这一页是推导核心。不要让学生死记公式：先讲伯努利似然，再取负对数，得到 BCE。右边的数值表说明为什么“自信且错误”会被重罚。最后强调：sigmoid 和 BCE 是成对出现的。公式（LaTeX）：$L=\prod_i p_i^{y_i}(1-p_i)^{1-y_i}$；$\mathrm{BCE}=-[y\log p+(1-y)\log(1-p)]$。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解释 L1/L2 的几何直觉：L1 的等高线是菱形，容易碰到坐标轴，所以稀疏；L2 是圆，权重整体变小。强调本实验选 L1 是课程配置，不代表它一定分数更高；我们的对照实验说明了这一点。公式（LaTeX）：$R_{L1}(w)=\lambda\sum_j|w_j|$；$R_{L2}(w)=\lambda\sum_j w_j^2$。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代码不要逐行念。抓三个关键点：参数形状、BCELoss 前的 flatten、概率 clamp。可以现场问：如果直接 BCELoss(p, y) 会发生什么？答案是广播成 (N,N)，损失含义完全变了。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形状只变一次：输入 (N,44)，乘完 (N,1)，sigmoid 后仍是 (N,1)。模型只有 45 个参数，所以如果效果不好，先怀疑特征和数据，而不是“模型不够大”。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先把配置表讲清楚。特别提醒 AdamW 的默认 weight_decay=0.01，很多同学以为只有 L1；这不是错，但要知道它存在。调参原则：一次只改一个变量，先跑 5 个 epoch。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五步是标准骨架。模板 c15 的顺序和变量名有教学风险，建议在课堂上指出：先验证后训练不影响梯度，但会让日志难读；变量遮蔽容易埋 bug。完成版 notebook 已改成清晰写法。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先问：如果全预测为 0，accuracy 是多少？50%——所以 50% 是基线。再用混淆矩阵讲 precision/recall 的权衡；AUC 衡量排序，不受阈值影响。我们的 AUC 0.69 说明信号中等，不要过度包装。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这张表是本次完成版实验的真实结果，和手册示例 Val 0.655 对齐。提醒学生：数字吻合不等于方法正确，要同时看口径、数据和代码；AUC 0.69 是中等信号，不要吹成“效果很好”。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教学生读曲线，而不是只看最后一个数。三条判据：gap 大→过拟合；两条都高→欠拟合；两条都低且接近→信息瓶颈。本实验属于第三种，所以 AUC 0.69 已经是这批特征的上限附近。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六个坑都来自本次真实调试记录。不要只给答案，讲症状和定位方法：打印 shape、检查 NaN、对比两次运行的指标、看验证曲线；dtype 和模板顺序是新手最容易忽略的。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把评分细则讲成“交付清单”，而不是“背知识点”。强调最后 1 分的 markdown 反思最容易被忽略，以及提交命名要求。提醒学生：不要用截图代替可运行证据。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从这里开始，从“模型怎么做”转向“工作怎么完成”。先说明：这不是另一门课，而是理解你正在使用的工具，以及如何让它可靠地完成实验。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先打破“Agent 是 LLM 带来的新东西”的误解。用扫地机器人讲感知—决策—行动，再给时间线。重点：经典 Agent 的定义比 LLM 早几十年，LLM 改变的是决策核心的表达方式。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用“想—做—看”讲 ReAct。强调模型不直接操作电脑，它输出 tool call，由 Harness 执行并回填。这是后面讲 Harness 的伏笔：没有工具和反馈，循环转不起来。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这是很容易被产品宣传模糊掉的区别。用表格讲清：不是“Agent 更高级”，而是适用场景不同。本实验的流程相对固定，workflow 也能完成；引入 Agent 的价值在于处理报错、探索文件和迭代。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 A/B/C 三档对比，让学生直观看到 Harness 的增量：不是模型变聪明了，而是能看到的、能做的、能验证的变多了。强调 C 档不是“更花哨”，而是多了权限、状态和验收。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 prompt 讲成“任务书”，不是咒语。五段结构：角色、任务、上下文、约束、输出。右边给一个可以直接用的实验 prompt。最后点出局限：prompt 不能替代工具、状态和验收。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用“注意力预算”解释 context rot，不需要讲 transformer 细节。三种策略对应三种任务：压缩适合连续对话，笔记适合长任务，子 agent 适合并行探索。结合本实验：只读相关文件、把结论写进 WORKLOG。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把七件套逐条落到本实验：loop 是改-跑-看；context 是手册/报错；tools 是文件与 python；permissions 是工作区写权限；memory 是 session/WORKLOG；orchestration 是子 agent；logging 是 metrics/run.log。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用三层楼梯收束：Prompt 管怎么说，Context 管看到什么，Harness 管能做什么、怎么算完成。AGENTS.md/GOAL.md 只是文件；验收必须外部化。引用 SWE-agent 的 ACI 作为证据。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 Agent 工作流落成七步，并给一份可直接改写的任务书。重点讲人工检查点：方法学、指标口径、提交。Agent 可以把实验跑通，但不能替你判断结果是否可信。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不回避风险。六类错误配六条缓解措施。最后一句是课程的核心态度：Agent 可以提出方案，但是否完成由证据决定。可以让学生举例：他们见过哪些“AI 说完成了但其实没跑”的情况。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课堂互动：不要直接讲答案，先让学生写。任务书练习可以现场点评一份；检查点练习引导到方法学、指标口径、提交；加验收练习可以引出“可验证性”的讨论。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用五句话收束整堂课。最后强调：模型能力只是上限，Harness 决定下限，验收决定能否交付。如果时间不够，这一页可以单独作为总结。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参考文献不逐条念。说明 OpenAlex/OpenAI 页面抓取限制，以及课程内部材料。鼓励学生从 AIMA 第 2 章、Anthropic 两篇、ReAct 开始读。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5029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F6B62"/>
                </a:solidFill>
                <a:latin typeface="Microsoft YaHei"/>
                <a:ea typeface="Microsoft YaHei"/>
              </a:rPr>
              <a:t>2025 人工智能实验课  ·  逻辑回归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34440"/>
            <a:ext cx="1060704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171717"/>
                </a:solidFill>
                <a:latin typeface="Microsoft YaHei"/>
                <a:ea typeface="Microsoft YaHei"/>
              </a:rPr>
              <a:t>从逻辑回归</a:t>
            </a:r>
          </a:p>
          <a:p>
            <a:pPr algn="l">
              <a:lnSpc>
                <a:spcPct val="102000"/>
              </a:lnSpc>
              <a:spcBef>
                <a:spcPts val="200"/>
              </a:spcBef>
              <a:spcAft>
                <a:spcPts val="0"/>
              </a:spcAft>
            </a:pPr>
            <a:r>
              <a:rPr sz="4600" b="1" i="0">
                <a:solidFill>
                  <a:srgbClr val="171717"/>
                </a:solidFill>
                <a:latin typeface="Microsoft YaHei"/>
                <a:ea typeface="Microsoft YaHei"/>
              </a:rPr>
              <a:t>到 </a:t>
            </a:r>
            <a:r>
              <a:rPr sz="4600" b="1" i="0">
                <a:solidFill>
                  <a:srgbClr val="0F6B62"/>
                </a:solidFill>
                <a:latin typeface="Microsoft YaHei"/>
                <a:ea typeface="Microsoft YaHei"/>
              </a:rPr>
              <a:t>Agentic Programming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358444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6F6A60"/>
                </a:solidFill>
                <a:latin typeface="Microsoft YaHei"/>
                <a:ea typeface="Microsoft YaHei"/>
              </a:rPr>
              <a:t>贷款违约预测实验课  ·  数据、模型与可验证的 Agent 工作流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4224528"/>
            <a:ext cx="2377440" cy="50292"/>
          </a:xfrm>
          <a:prstGeom prst="rect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587044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0F6B62"/>
                </a:solidFill>
                <a:latin typeface="Microsoft YaHei"/>
                <a:ea typeface="Microsoft YaHei"/>
              </a:rPr>
              <a:t>模型线  ×  工程线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58223" y="587044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6F6A60"/>
                </a:solidFill>
                <a:latin typeface="Microsoft YaHei"/>
                <a:ea typeface="Microsoft YaHei"/>
              </a:rPr>
              <a:t>2026 · 秋季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2623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01 / 39</a:t>
            </a:r>
          </a:p>
        </p:txBody>
      </p:sp>
      <p:sp>
        <p:nvSpPr>
          <p:cNvPr id="9" name="Rectangle 8"/>
          <p:cNvSpPr/>
          <p:nvPr/>
        </p:nvSpPr>
        <p:spPr>
          <a:xfrm>
            <a:off x="10378440" y="1325880"/>
            <a:ext cx="27432" cy="4297680"/>
          </a:xfrm>
          <a:prstGeom prst="rect">
            <a:avLst/>
          </a:prstGeom>
          <a:solidFill>
            <a:srgbClr val="D8D3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0" y="1417320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0F6B62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1417320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6F6A60"/>
                </a:solidFill>
                <a:latin typeface="Microsoft YaHei"/>
                <a:ea typeface="Microsoft YaHei"/>
              </a:rPr>
              <a:t>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2834640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0F6B62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2834640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6F6A60"/>
                </a:solidFill>
                <a:latin typeface="Microsoft YaHei"/>
                <a:ea typeface="Microsoft YaHei"/>
              </a:rPr>
              <a:t>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4251960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0F6B62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4251960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6F6A60"/>
                </a:solidFill>
                <a:latin typeface="Microsoft YaHei"/>
                <a:ea typeface="Microsoft YaHei"/>
              </a:rPr>
              <a:t>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导览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481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71717"/>
                </a:solidFill>
                <a:latin typeface="Microsoft YaHei"/>
                <a:ea typeface="Microsoft YaHei"/>
              </a:rPr>
              <a:t>这门课有两条主线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25296"/>
            <a:ext cx="658368" cy="41148"/>
          </a:xfrm>
          <a:prstGeom prst="rect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2025 逻辑回归实验  ·  Agentic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2623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02 / 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481328"/>
            <a:ext cx="5285232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82496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0F6B62"/>
                </a:solidFill>
                <a:latin typeface="Microsoft YaHei"/>
                <a:ea typeface="Microsoft YaHei"/>
              </a:rPr>
              <a:t>模型线 /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920240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F6A60"/>
                </a:solidFill>
                <a:latin typeface="Microsoft YaHei"/>
                <a:ea typeface="Microsoft YaHei"/>
              </a:rPr>
              <a:t>从一张表到可解释的概率</a:t>
            </a:r>
          </a:p>
        </p:txBody>
      </p:sp>
      <p:sp>
        <p:nvSpPr>
          <p:cNvPr id="10" name="Oval 9"/>
          <p:cNvSpPr/>
          <p:nvPr/>
        </p:nvSpPr>
        <p:spPr>
          <a:xfrm>
            <a:off x="896112" y="2414016"/>
            <a:ext cx="329184" cy="329184"/>
          </a:xfrm>
          <a:prstGeom prst="ellipse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2368296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171717"/>
                </a:solidFill>
                <a:latin typeface="Microsoft YaHei"/>
                <a:ea typeface="Microsoft YaHei"/>
              </a:rPr>
              <a:t>数据与清洗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688336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47 列 → 44 维；缺失值、日期、类别编码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054096"/>
            <a:ext cx="329184" cy="329184"/>
          </a:xfrm>
          <a:prstGeom prst="ellipse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3008376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171717"/>
                </a:solidFill>
                <a:latin typeface="Microsoft YaHei"/>
                <a:ea typeface="Microsoft YaHei"/>
              </a:rPr>
              <a:t>逻辑回归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28416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logit → sigmoid → BCE；L1/L2 正则化</a:t>
            </a:r>
          </a:p>
        </p:txBody>
      </p:sp>
      <p:sp>
        <p:nvSpPr>
          <p:cNvPr id="16" name="Oval 15"/>
          <p:cNvSpPr/>
          <p:nvPr/>
        </p:nvSpPr>
        <p:spPr>
          <a:xfrm>
            <a:off x="896112" y="3694175"/>
            <a:ext cx="329184" cy="329184"/>
          </a:xfrm>
          <a:prstGeom prst="ellipse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3648455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171717"/>
                </a:solidFill>
                <a:latin typeface="Microsoft YaHei"/>
                <a:ea typeface="Microsoft YaHei"/>
              </a:rPr>
              <a:t>训练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968495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Dataset / DataLoader；AdamW 100 epochs</a:t>
            </a:r>
          </a:p>
        </p:txBody>
      </p:sp>
      <p:sp>
        <p:nvSpPr>
          <p:cNvPr id="19" name="Oval 18"/>
          <p:cNvSpPr/>
          <p:nvPr/>
        </p:nvSpPr>
        <p:spPr>
          <a:xfrm>
            <a:off x="896112" y="4334256"/>
            <a:ext cx="329184" cy="329184"/>
          </a:xfrm>
          <a:prstGeom prst="ellipse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4288536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171717"/>
                </a:solidFill>
                <a:latin typeface="Microsoft YaHei"/>
                <a:ea typeface="Microsoft YaHei"/>
              </a:rPr>
              <a:t>评估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608576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混淆矩阵、Precision/Recall、ROC-AUC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1481328"/>
            <a:ext cx="5285232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1682496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B85C38"/>
                </a:solidFill>
                <a:latin typeface="Microsoft YaHei"/>
                <a:ea typeface="Microsoft YaHei"/>
              </a:rPr>
              <a:t>工程线 /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1920240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F6A60"/>
                </a:solidFill>
                <a:latin typeface="Microsoft YaHei"/>
                <a:ea typeface="Microsoft YaHei"/>
              </a:rPr>
              <a:t>从一句任务到可验收的交付</a:t>
            </a:r>
          </a:p>
        </p:txBody>
      </p:sp>
      <p:sp>
        <p:nvSpPr>
          <p:cNvPr id="25" name="Oval 24"/>
          <p:cNvSpPr/>
          <p:nvPr/>
        </p:nvSpPr>
        <p:spPr>
          <a:xfrm>
            <a:off x="6565392" y="2414016"/>
            <a:ext cx="329184" cy="329184"/>
          </a:xfrm>
          <a:prstGeom prst="ellipse">
            <a:avLst/>
          </a:prstGeom>
          <a:solidFill>
            <a:srgbClr val="B85C3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2592" y="2368296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171717"/>
                </a:solidFill>
                <a:latin typeface="Microsoft YaHei"/>
                <a:ea typeface="Microsoft YaHei"/>
              </a:rPr>
              <a:t>读任务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2592" y="2688336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手册、评分细则、数据与代码边界</a:t>
            </a:r>
          </a:p>
        </p:txBody>
      </p:sp>
      <p:sp>
        <p:nvSpPr>
          <p:cNvPr id="28" name="Oval 27"/>
          <p:cNvSpPr/>
          <p:nvPr/>
        </p:nvSpPr>
        <p:spPr>
          <a:xfrm>
            <a:off x="6565392" y="3054096"/>
            <a:ext cx="329184" cy="329184"/>
          </a:xfrm>
          <a:prstGeom prst="ellipse">
            <a:avLst/>
          </a:prstGeom>
          <a:solidFill>
            <a:srgbClr val="B85C3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2592" y="3008376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171717"/>
                </a:solidFill>
                <a:latin typeface="Microsoft YaHei"/>
                <a:ea typeface="Microsoft YaHei"/>
              </a:rPr>
              <a:t>规划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22592" y="3328416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把目标拆成可单独验证的小步</a:t>
            </a:r>
          </a:p>
        </p:txBody>
      </p:sp>
      <p:sp>
        <p:nvSpPr>
          <p:cNvPr id="31" name="Oval 30"/>
          <p:cNvSpPr/>
          <p:nvPr/>
        </p:nvSpPr>
        <p:spPr>
          <a:xfrm>
            <a:off x="6565392" y="3694175"/>
            <a:ext cx="329184" cy="329184"/>
          </a:xfrm>
          <a:prstGeom prst="ellipse">
            <a:avLst/>
          </a:prstGeom>
          <a:solidFill>
            <a:srgbClr val="B85C3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22592" y="3648455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171717"/>
                </a:solidFill>
                <a:latin typeface="Microsoft YaHei"/>
                <a:ea typeface="Microsoft YaHei"/>
              </a:rPr>
              <a:t>行动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22592" y="3968495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编辑、运行、看报错、再迭代</a:t>
            </a:r>
          </a:p>
        </p:txBody>
      </p:sp>
      <p:sp>
        <p:nvSpPr>
          <p:cNvPr id="34" name="Oval 33"/>
          <p:cNvSpPr/>
          <p:nvPr/>
        </p:nvSpPr>
        <p:spPr>
          <a:xfrm>
            <a:off x="6565392" y="4334256"/>
            <a:ext cx="329184" cy="329184"/>
          </a:xfrm>
          <a:prstGeom prst="ellipse">
            <a:avLst/>
          </a:prstGeom>
          <a:solidFill>
            <a:srgbClr val="B85C3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22592" y="4288536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171717"/>
                </a:solidFill>
                <a:latin typeface="Microsoft YaHei"/>
                <a:ea typeface="Microsoft YaHei"/>
              </a:rPr>
              <a:t>验收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2592" y="4608576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测试、指标、日志与人工复核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5376672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0F6B62"/>
                </a:solidFill>
                <a:latin typeface="Microsoft YaHei"/>
                <a:ea typeface="Microsoft YaHei"/>
              </a:rPr>
              <a:t>带走四件事：解释 · 实现 · 辨别 · 交付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742432"/>
            <a:ext cx="1094811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171717"/>
                </a:solidFill>
                <a:latin typeface="Microsoft YaHei"/>
                <a:ea typeface="Microsoft YaHei"/>
              </a:rPr>
              <a:t>两条线在同一个实验里汇合：用 Agent 完成一个可验证的逻辑回归实验。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导览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481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71717"/>
                </a:solidFill>
                <a:latin typeface="Microsoft YaHei"/>
                <a:ea typeface="Microsoft YaHei"/>
              </a:rPr>
              <a:t>从回归到分类：为什么要多一步？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25296"/>
            <a:ext cx="658368" cy="41148"/>
          </a:xfrm>
          <a:prstGeom prst="rect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2025 逻辑回归实验  ·  Agentic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2623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03 / 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481328"/>
            <a:ext cx="52578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645920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 i="0">
                <a:solidFill>
                  <a:srgbClr val="0F6B62"/>
                </a:solidFill>
                <a:latin typeface="Microsoft YaHei"/>
                <a:ea typeface="Microsoft YaHei"/>
              </a:rPr>
              <a:t>回归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171717"/>
                </a:solidFill>
                <a:latin typeface="Microsoft YaHei"/>
                <a:ea typeface="Microsoft YaHei"/>
              </a:rPr>
              <a:t>预测一个连续值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377440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房价、销量、温度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907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0F6B62"/>
                </a:solidFill>
                <a:latin typeface="Microsoft YaHei"/>
                <a:ea typeface="Microsoft YaHei"/>
              </a:rPr>
              <a:t>输出 2.7 有数量含义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62472" y="1481328"/>
            <a:ext cx="52578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216" y="1645920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 i="0">
                <a:solidFill>
                  <a:srgbClr val="B85C38"/>
                </a:solidFill>
                <a:latin typeface="Microsoft YaHei"/>
                <a:ea typeface="Microsoft YaHei"/>
              </a:rPr>
              <a:t>分类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216" y="2029968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171717"/>
                </a:solidFill>
                <a:latin typeface="Microsoft YaHei"/>
                <a:ea typeface="Microsoft YaHei"/>
              </a:rPr>
              <a:t>预测一个类别 / 概率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2377440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违约 / 不违约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2907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B85C38"/>
                </a:solidFill>
                <a:latin typeface="Microsoft YaHei"/>
                <a:ea typeface="Microsoft YaHei"/>
              </a:rPr>
              <a:t>输出 1.7 没有概率含义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822191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0F6B62"/>
                </a:solidFill>
                <a:latin typeface="Microsoft YaHei"/>
                <a:ea typeface="Microsoft YaHei"/>
              </a:rPr>
              <a:t>训练集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1912" y="3822191"/>
            <a:ext cx="6583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用来拟合参数的样本集合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4261104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0F6B62"/>
                </a:solidFill>
                <a:latin typeface="Microsoft YaHei"/>
                <a:ea typeface="Microsoft YaHei"/>
              </a:rPr>
              <a:t>样本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1912" y="4261104"/>
            <a:ext cx="6583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一条贷款记录，x⁽ⁱ⁾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4700016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0F6B62"/>
                </a:solidFill>
                <a:latin typeface="Microsoft YaHei"/>
                <a:ea typeface="Microsoft YaHei"/>
              </a:rPr>
              <a:t>标签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81912" y="4700016"/>
            <a:ext cx="6583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要预测的目标 y⁽ⁱ⁾ = isDefault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5138927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0F6B62"/>
                </a:solidFill>
                <a:latin typeface="Microsoft YaHei"/>
                <a:ea typeface="Microsoft YaHei"/>
              </a:rPr>
              <a:t>特征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81912" y="5138927"/>
            <a:ext cx="6583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用来预测的输入列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3822191"/>
            <a:ext cx="3749039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>
                <a:solidFill>
                  <a:srgbClr val="171717"/>
                </a:solidFill>
                <a:latin typeface="Microsoft YaHei"/>
                <a:ea typeface="Microsoft YaHei"/>
              </a:rPr>
              <a:t>逻辑回归的做法：
先算线性分数（logit），
再用 sigmoid 变成概率。
如果硬用线性回归：输出可能是 -0.3 或 1.7，无法当概率。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5669280"/>
            <a:ext cx="1094811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0F6B62"/>
                </a:solidFill>
                <a:latin typeface="Microsoft YaHei"/>
                <a:ea typeface="Microsoft YaHei"/>
              </a:rPr>
              <a:t>所以它不是“回归”房价，而是用回归的分数做二分类。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01 · 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481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71717"/>
                </a:solidFill>
                <a:latin typeface="Microsoft YaHei"/>
                <a:ea typeface="Microsoft YaHei"/>
              </a:rPr>
              <a:t>一笔贷款，要不要批？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25296"/>
            <a:ext cx="658368" cy="41148"/>
          </a:xfrm>
          <a:prstGeom prst="rect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2025 逻辑回归实验  ·  Agentic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2623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04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81328"/>
            <a:ext cx="5577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171717"/>
                </a:solidFill>
                <a:latin typeface="Microsoft YaHei"/>
                <a:ea typeface="Microsoft YaHei"/>
              </a:rPr>
              <a:t>某信贷平台的 10,000 条贷款记录。每条记录 47 个字段，标签是 isDefault：1 = 违约。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468880"/>
            <a:ext cx="54864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28000"/>
              </a:lnSpc>
              <a:spcAft>
                <a:spcPts val="800"/>
              </a:spcAft>
            </a:pPr>
            <a:r>
              <a:rPr sz="1350" b="1" i="0">
                <a:solidFill>
                  <a:srgbClr val="0F6B62"/>
                </a:solidFill>
                <a:latin typeface="Microsoft YaHei"/>
                <a:ea typeface="Microsoft YaHei"/>
              </a:rPr>
              <a:t>—  </a:t>
            </a:r>
            <a:r>
              <a:rPr sz="1350" b="0" i="0">
                <a:solidFill>
                  <a:srgbClr val="171717"/>
                </a:solidFill>
                <a:latin typeface="Microsoft YaHei"/>
                <a:ea typeface="Microsoft YaHei"/>
              </a:rPr>
              <a:t>47 个申请人字段：金额、期限、利率、收入、信用、就业……</a:t>
            </a:r>
          </a:p>
          <a:p>
            <a:pPr marL="274320" indent="-274320">
              <a:lnSpc>
                <a:spcPct val="128000"/>
              </a:lnSpc>
              <a:spcAft>
                <a:spcPts val="800"/>
              </a:spcAft>
            </a:pPr>
            <a:r>
              <a:rPr sz="1350" b="1" i="0">
                <a:solidFill>
                  <a:srgbClr val="0F6B62"/>
                </a:solidFill>
                <a:latin typeface="Microsoft YaHei"/>
                <a:ea typeface="Microsoft YaHei"/>
              </a:rPr>
              <a:t>—  </a:t>
            </a:r>
            <a:r>
              <a:rPr sz="1350" b="0" i="0">
                <a:solidFill>
                  <a:srgbClr val="171717"/>
                </a:solidFill>
                <a:latin typeface="Microsoft YaHei"/>
                <a:ea typeface="Microsoft YaHei"/>
              </a:rPr>
              <a:t>10,000 条历史记录；训练 8000 / 验证 1000 / 测试 1000</a:t>
            </a:r>
          </a:p>
          <a:p>
            <a:pPr marL="274320" indent="-274320">
              <a:lnSpc>
                <a:spcPct val="128000"/>
              </a:lnSpc>
              <a:spcAft>
                <a:spcPts val="800"/>
              </a:spcAft>
            </a:pPr>
            <a:r>
              <a:rPr sz="1350" b="1" i="0">
                <a:solidFill>
                  <a:srgbClr val="0F6B62"/>
                </a:solidFill>
                <a:latin typeface="Microsoft YaHei"/>
                <a:ea typeface="Microsoft YaHei"/>
              </a:rPr>
              <a:t>—  </a:t>
            </a:r>
            <a:r>
              <a:rPr sz="1350" b="0" i="0">
                <a:solidFill>
                  <a:srgbClr val="171717"/>
                </a:solidFill>
                <a:latin typeface="Microsoft YaHei"/>
                <a:ea typeface="Microsoft YaHei"/>
              </a:rPr>
              <a:t>标签 50.06% 为正样本——接近均衡，accuracy 有参考价值</a:t>
            </a:r>
          </a:p>
          <a:p>
            <a:pPr marL="274320" indent="-274320">
              <a:lnSpc>
                <a:spcPct val="128000"/>
              </a:lnSpc>
              <a:spcAft>
                <a:spcPts val="800"/>
              </a:spcAft>
            </a:pPr>
            <a:r>
              <a:rPr sz="1350" b="1" i="0">
                <a:solidFill>
                  <a:srgbClr val="0F6B62"/>
                </a:solidFill>
                <a:latin typeface="Microsoft YaHei"/>
                <a:ea typeface="Microsoft YaHei"/>
              </a:rPr>
              <a:t>—  </a:t>
            </a:r>
            <a:r>
              <a:rPr sz="1350" b="0" i="0">
                <a:solidFill>
                  <a:srgbClr val="171717"/>
                </a:solidFill>
                <a:latin typeface="Microsoft YaHei"/>
                <a:ea typeface="Microsoft YaHei"/>
              </a:rPr>
              <a:t>代价不对称：漏掉违约，和误拒好客户，是两种错误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81328"/>
            <a:ext cx="50749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1968" y="1627632"/>
            <a:ext cx="4709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0F6B62"/>
                </a:solidFill>
                <a:latin typeface="Microsoft YaHei"/>
                <a:ea typeface="Microsoft YaHei"/>
              </a:rPr>
              <a:t>47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2231136"/>
            <a:ext cx="4709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171717"/>
                </a:solidFill>
                <a:latin typeface="Microsoft YaHei"/>
                <a:ea typeface="Microsoft YaHei"/>
              </a:rPr>
              <a:t>输入字段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2542032"/>
            <a:ext cx="470916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含 15 列匿名行为计数特征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898648"/>
            <a:ext cx="50749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3044952"/>
            <a:ext cx="4709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0F6B62"/>
                </a:solidFill>
                <a:latin typeface="Microsoft YaHei"/>
                <a:ea typeface="Microsoft YaHei"/>
              </a:rPr>
              <a:t>10,000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3648456"/>
            <a:ext cx="4709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171717"/>
                </a:solidFill>
                <a:latin typeface="Microsoft YaHei"/>
                <a:ea typeface="Microsoft YaHei"/>
              </a:rPr>
              <a:t>历史贷款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3959352"/>
            <a:ext cx="470916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训练 / 验证 / 测试 = 8:1:1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315968"/>
            <a:ext cx="50749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4462272"/>
            <a:ext cx="4709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0F6B62"/>
                </a:solidFill>
                <a:latin typeface="Microsoft YaHei"/>
                <a:ea typeface="Microsoft YaHei"/>
              </a:rPr>
              <a:t>50.06%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5065776"/>
            <a:ext cx="4709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171717"/>
                </a:solidFill>
                <a:latin typeface="Microsoft YaHei"/>
                <a:ea typeface="Microsoft YaHei"/>
              </a:rPr>
              <a:t>训练集正样本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5376672"/>
            <a:ext cx="470916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接近 1:1，类别均衡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5806440"/>
            <a:ext cx="5669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F6B62"/>
                </a:solidFill>
                <a:latin typeface="Microsoft YaHei"/>
                <a:ea typeface="Microsoft YaHei"/>
              </a:rPr>
              <a:t>模型输出概率；阈值输出决策。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754880"/>
            <a:ext cx="5486400" cy="713232"/>
          </a:xfrm>
          <a:prstGeom prst="roundRect">
            <a:avLst>
              <a:gd name="adj" fmla="val 8000"/>
            </a:avLst>
          </a:prstGeom>
          <a:solidFill>
            <a:srgbClr val="E8F1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64608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F6A60"/>
                </a:solidFill>
                <a:latin typeface="Microsoft YaHei"/>
                <a:ea typeface="Microsoft YaHei"/>
              </a:rPr>
              <a:t>为什么用概率而不是硬标签？概率保留不确定性；阈值可以按业务代价调整。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01 · 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481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71717"/>
                </a:solidFill>
                <a:latin typeface="Microsoft YaHei"/>
                <a:ea typeface="Microsoft YaHei"/>
              </a:rPr>
              <a:t>数据全景：47 列，最后只留 44 维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25296"/>
            <a:ext cx="658368" cy="41148"/>
          </a:xfrm>
          <a:prstGeom prst="rect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2025 逻辑回归实验  ·  Agentic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2623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05 / 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444752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91056"/>
            <a:ext cx="2240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F6B62"/>
                </a:solidFill>
                <a:latin typeface="Microsoft YaHei"/>
                <a:ea typeface="Microsoft YaHei"/>
              </a:rPr>
              <a:t>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2240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171717"/>
                </a:solidFill>
                <a:latin typeface="Microsoft YaHei"/>
                <a:ea typeface="Microsoft YaHei"/>
              </a:rPr>
              <a:t>原始列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05456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id / 标签 / 特征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1444752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591056"/>
            <a:ext cx="2240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F6B62"/>
                </a:solidFill>
                <a:latin typeface="Microsoft YaHei"/>
                <a:ea typeface="Microsoft YaHei"/>
              </a:rPr>
              <a:t>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194560"/>
            <a:ext cx="2240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171717"/>
                </a:solidFill>
                <a:latin typeface="Microsoft YaHei"/>
                <a:ea typeface="Microsoft YaHei"/>
              </a:rPr>
              <a:t>输入特征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505456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去掉 id、标签、subGrade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08192" y="1444752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591056"/>
            <a:ext cx="2240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F6B62"/>
                </a:solidFill>
                <a:latin typeface="Microsoft YaHei"/>
                <a:ea typeface="Microsoft YaHei"/>
              </a:rPr>
              <a:t>8k / 1k / 1k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194560"/>
            <a:ext cx="2240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171717"/>
                </a:solidFill>
                <a:latin typeface="Microsoft YaHei"/>
                <a:ea typeface="Microsoft YaHei"/>
              </a:rPr>
              <a:t>train / val /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505456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共 10,000 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51392" y="1444752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1591056"/>
            <a:ext cx="2240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F6B62"/>
                </a:solidFill>
                <a:latin typeface="Microsoft YaHei"/>
                <a:ea typeface="Microsoft YaHei"/>
              </a:rPr>
              <a:t>50.06%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194560"/>
            <a:ext cx="2240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171717"/>
                </a:solidFill>
                <a:latin typeface="Microsoft YaHei"/>
                <a:ea typeface="Microsoft YaHei"/>
              </a:rPr>
              <a:t>训练集正样本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505456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4005 / 8000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295351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0F6B62"/>
                </a:solidFill>
                <a:latin typeface="Microsoft YaHei"/>
                <a:ea typeface="Microsoft YaHei"/>
              </a:rPr>
              <a:t>数据划分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" y="3246120"/>
            <a:ext cx="8705088" cy="402336"/>
          </a:xfrm>
          <a:prstGeom prst="roundRect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345168" y="3246120"/>
            <a:ext cx="1088136" cy="402336"/>
          </a:xfrm>
          <a:prstGeom prst="roundRect">
            <a:avLst/>
          </a:prstGeom>
          <a:solidFill>
            <a:srgbClr val="B85C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451592" y="3246120"/>
            <a:ext cx="1097280" cy="402336"/>
          </a:xfrm>
          <a:prstGeom prst="roundRect">
            <a:avLst/>
          </a:prstGeom>
          <a:solidFill>
            <a:srgbClr val="D9B3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33756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</a:rPr>
              <a:t>train 8000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33375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</a:rPr>
              <a:t>val 1000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88168" y="33375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</a:rPr>
              <a:t>test 1000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" y="3977639"/>
            <a:ext cx="3529584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096512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171717"/>
                </a:solidFill>
                <a:latin typeface="Microsoft YaHei"/>
                <a:ea typeface="Microsoft YaHei"/>
              </a:rPr>
              <a:t>42 数值*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389120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0F6B62"/>
                </a:solidFill>
                <a:latin typeface="Microsoft YaHei"/>
                <a:ea typeface="Microsoft YaHei"/>
              </a:rPr>
              <a:t>33 连续 + 9 离散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681728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F6A60"/>
                </a:solidFill>
                <a:latin typeface="Microsoft YaHei"/>
                <a:ea typeface="Microsoft YaHei"/>
              </a:rPr>
              <a:t>金额、利率、收入、工作年限计数……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79" y="3977639"/>
            <a:ext cx="3529584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98847" y="4096512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171717"/>
                </a:solidFill>
                <a:latin typeface="Microsoft YaHei"/>
                <a:ea typeface="Microsoft YaHei"/>
              </a:rPr>
              <a:t>5 类别*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98847" y="4389120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0F6B62"/>
                </a:solidFill>
                <a:latin typeface="Microsoft YaHei"/>
                <a:ea typeface="Microsoft YaHei"/>
              </a:rPr>
              <a:t>grade / employmentLength / 时间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98847" y="4681728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F6A60"/>
                </a:solidFill>
                <a:latin typeface="Microsoft YaHei"/>
                <a:ea typeface="Microsoft YaHei"/>
              </a:rPr>
              <a:t>清洗后转成数字，不丢语义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73567" y="3977639"/>
            <a:ext cx="3529584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74735" y="4096512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171717"/>
                </a:solidFill>
                <a:latin typeface="Microsoft YaHei"/>
                <a:ea typeface="Microsoft YaHei"/>
              </a:rPr>
              <a:t>15 匿名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74735" y="4389120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0F6B62"/>
                </a:solidFill>
                <a:latin typeface="Microsoft YaHei"/>
                <a:ea typeface="Microsoft YaHei"/>
              </a:rPr>
              <a:t>n0 – n14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74735" y="4681728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F6A60"/>
                </a:solidFill>
                <a:latin typeface="Microsoft YaHei"/>
                <a:ea typeface="Microsoft YaHei"/>
              </a:rPr>
              <a:t>申请人行为计数；含义未标注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" y="5577840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F6A60"/>
                </a:solidFill>
                <a:latin typeface="Microsoft YaHei"/>
                <a:ea typeface="Microsoft YaHei"/>
              </a:rPr>
              <a:t>注：任务 PPT 说“2000 测试”，实际文件拆成 val 1000 + test 1000；* 为数据字典口径，精确列账本见下页。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01 · 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481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71717"/>
                </a:solidFill>
                <a:latin typeface="Microsoft YaHei"/>
                <a:ea typeface="Microsoft YaHei"/>
              </a:rPr>
              <a:t>列账本：47 列怎么变成 44 维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25296"/>
            <a:ext cx="658368" cy="41148"/>
          </a:xfrm>
          <a:prstGeom prst="rect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2025 逻辑回归实验  ·  Agentic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2623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06 / 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554480"/>
            <a:ext cx="1828800" cy="1170432"/>
          </a:xfrm>
          <a:prstGeom prst="roundRect">
            <a:avLst>
              <a:gd name="adj" fmla="val 8000"/>
            </a:avLst>
          </a:prstGeom>
          <a:solidFill>
            <a:srgbClr val="0F6B62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82496"/>
            <a:ext cx="16093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16093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原始列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1554480"/>
            <a:ext cx="214884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07208" y="1682496"/>
            <a:ext cx="19293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400" b="1" i="0">
                <a:solidFill>
                  <a:srgbClr val="6F6A60"/>
                </a:solidFill>
                <a:latin typeface="Microsoft YaHei"/>
                <a:ea typeface="Microsoft YaHei"/>
              </a:rPr>
              <a:t>− 1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7208" y="2212848"/>
            <a:ext cx="1929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1554480"/>
            <a:ext cx="233172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84648" y="1682496"/>
            <a:ext cx="21122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400" b="1" i="0">
                <a:solidFill>
                  <a:srgbClr val="6F6A60"/>
                </a:solidFill>
                <a:latin typeface="Microsoft YaHei"/>
                <a:ea typeface="Microsoft YaHei"/>
              </a:rPr>
              <a:t>− 1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4648" y="2212848"/>
            <a:ext cx="2112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isDefault（标签）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1554480"/>
            <a:ext cx="19659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1682496"/>
            <a:ext cx="17465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400" b="1" i="0">
                <a:solidFill>
                  <a:srgbClr val="6F6A60"/>
                </a:solidFill>
                <a:latin typeface="Microsoft YaHei"/>
                <a:ea typeface="Microsoft YaHei"/>
              </a:rPr>
              <a:t>− 1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2212848"/>
            <a:ext cx="1746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subGrade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29800" y="1554480"/>
            <a:ext cx="1691640" cy="1170432"/>
          </a:xfrm>
          <a:prstGeom prst="roundRect">
            <a:avLst>
              <a:gd name="adj" fmla="val 8000"/>
            </a:avLst>
          </a:prstGeom>
          <a:solidFill>
            <a:srgbClr val="E8F1ED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39528" y="1682496"/>
            <a:ext cx="14721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400" b="1" i="0">
                <a:solidFill>
                  <a:srgbClr val="0F6B62"/>
                </a:solidFill>
                <a:latin typeface="Microsoft YaHei"/>
                <a:ea typeface="Microsoft YaHei"/>
              </a:rPr>
              <a:t>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39528" y="2212848"/>
            <a:ext cx="1472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输入特征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29718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171717"/>
                </a:solidFill>
                <a:latin typeface="Microsoft YaHei"/>
                <a:ea typeface="Microsoft YaHei"/>
              </a:rPr>
              <a:t>44 = 40 个原始数值列 + 4 个编码列（grade / employmentLength / issueDate / earliesCreditLine）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" y="3474720"/>
            <a:ext cx="3529584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611880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0F6B62"/>
                </a:solidFill>
                <a:latin typeface="Microsoft YaHei"/>
                <a:ea typeface="Microsoft YaHei"/>
              </a:rPr>
              <a:t>40 原始数值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3913632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30" b="0" i="0">
                <a:solidFill>
                  <a:srgbClr val="6F6A60"/>
                </a:solidFill>
                <a:latin typeface="Microsoft YaHei"/>
                <a:ea typeface="Microsoft YaHei"/>
              </a:rPr>
              <a:t>33 连续 + 9 离散，减去 id / 标签 / subGrade 后剩下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79" y="3474720"/>
            <a:ext cx="3529584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59" y="3611880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0F6B62"/>
                </a:solidFill>
                <a:latin typeface="Microsoft YaHei"/>
                <a:ea typeface="Microsoft YaHei"/>
              </a:rPr>
              <a:t>4 编码列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3913632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30" b="0" i="0">
                <a:solidFill>
                  <a:srgbClr val="6F6A60"/>
                </a:solidFill>
                <a:latin typeface="Microsoft YaHei"/>
                <a:ea typeface="Microsoft YaHei"/>
              </a:rPr>
              <a:t>grade A=1…G=7；employmentLength 1/n+1/12；两个日期转成天数/月数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73567" y="3474720"/>
            <a:ext cx="3529584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56447" y="3611880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0F6B62"/>
                </a:solidFill>
                <a:latin typeface="Microsoft YaHei"/>
                <a:ea typeface="Microsoft YaHei"/>
              </a:rPr>
              <a:t>1 个常量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56447" y="3913632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30" b="0" i="0">
                <a:solidFill>
                  <a:srgbClr val="6F6A60"/>
                </a:solidFill>
                <a:latin typeface="Microsoft YaHei"/>
                <a:ea typeface="Microsoft YaHei"/>
              </a:rPr>
              <a:t>policyCode 只有 1 个值；保留但在 MinMax 后恒为 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5138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F6A60"/>
                </a:solidFill>
                <a:latin typeface="Microsoft YaHei"/>
                <a:ea typeface="Microsoft YaHei"/>
              </a:rPr>
              <a:t>任务 PPT 的“42 数值 + 5 类别 + 15 匿名”是数据字典的近似说法，三组数字对不上；以这张列账本为准，学生自检写 train_input.size(1) == 44。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01 · 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481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71717"/>
                </a:solidFill>
                <a:latin typeface="Microsoft YaHei"/>
                <a:ea typeface="Microsoft YaHei"/>
              </a:rPr>
              <a:t>环境：三条命令跑起来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25296"/>
            <a:ext cx="658368" cy="41148"/>
          </a:xfrm>
          <a:prstGeom prst="rect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2025 逻辑回归实验  ·  Agentic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2623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07 / 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481328"/>
            <a:ext cx="5577840" cy="2331720"/>
          </a:xfrm>
          <a:prstGeom prst="roundRect">
            <a:avLst>
              <a:gd name="adj" fmla="val 8000"/>
            </a:avLst>
          </a:prstGeom>
          <a:solidFill>
            <a:srgbClr val="EFED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91056"/>
            <a:ext cx="5212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6F6A60"/>
                </a:solidFill>
                <a:latin typeface="Microsoft YaHei"/>
                <a:ea typeface="Microsoft YaHei"/>
              </a:rPr>
              <a:t>手册 §1.5.1 的最小环境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5193792" cy="1892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200" b="0" i="0">
                <a:solidFill>
                  <a:srgbClr val="171717"/>
                </a:solidFill>
                <a:latin typeface="Consolas"/>
              </a:rPr>
              <a:t>conda create -n logic python=3.9 -y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171717"/>
                </a:solidFill>
                <a:latin typeface="Consolas"/>
              </a:rPr>
              <a:t>conda activate logic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171717"/>
                </a:solidFill>
                <a:latin typeface="Consolas"/>
              </a:rPr>
              <a:t>pip install torch==2.6.0 numpy==1.26.4 \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171717"/>
                </a:solidFill>
                <a:latin typeface="Consolas"/>
              </a:rPr>
              <a:t>    pandas scikit-learn jupyter tqdm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4069080"/>
            <a:ext cx="5486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28000"/>
              </a:lnSpc>
              <a:spcAft>
                <a:spcPts val="600"/>
              </a:spcAft>
            </a:pPr>
            <a:r>
              <a:rPr sz="1200" b="1" i="0">
                <a:solidFill>
                  <a:srgbClr val="0F6B62"/>
                </a:solidFill>
                <a:latin typeface="Microsoft YaHei"/>
                <a:ea typeface="Microsoft YaHei"/>
              </a:rPr>
              <a:t>—  </a:t>
            </a:r>
            <a:r>
              <a:rPr sz="1200" b="0" i="0">
                <a:solidFill>
                  <a:srgbClr val="171717"/>
                </a:solidFill>
                <a:latin typeface="Microsoft YaHei"/>
                <a:ea typeface="Microsoft YaHei"/>
              </a:rPr>
              <a:t>Python 3.9+、PyTorch、Jupyter；版本不严格，能 import 即可</a:t>
            </a:r>
          </a:p>
          <a:p>
            <a:pPr marL="274320" indent="-274320">
              <a:lnSpc>
                <a:spcPct val="128000"/>
              </a:lnSpc>
              <a:spcAft>
                <a:spcPts val="600"/>
              </a:spcAft>
            </a:pPr>
            <a:r>
              <a:rPr sz="1200" b="1" i="0">
                <a:solidFill>
                  <a:srgbClr val="0F6B62"/>
                </a:solidFill>
                <a:latin typeface="Microsoft YaHei"/>
                <a:ea typeface="Microsoft YaHei"/>
              </a:rPr>
              <a:t>—  </a:t>
            </a:r>
            <a:r>
              <a:rPr sz="1200" b="0" i="0">
                <a:solidFill>
                  <a:srgbClr val="171717"/>
                </a:solidFill>
                <a:latin typeface="Microsoft YaHei"/>
                <a:ea typeface="Microsoft YaHei"/>
              </a:rPr>
              <a:t>VSCode 选择 logic / .venv 解释器，再打开 logic.ipynb</a:t>
            </a:r>
          </a:p>
          <a:p>
            <a:pPr marL="274320" indent="-274320">
              <a:lnSpc>
                <a:spcPct val="128000"/>
              </a:lnSpc>
              <a:spcAft>
                <a:spcPts val="600"/>
              </a:spcAft>
            </a:pPr>
            <a:r>
              <a:rPr sz="1200" b="1" i="0">
                <a:solidFill>
                  <a:srgbClr val="0F6B62"/>
                </a:solidFill>
                <a:latin typeface="Microsoft YaHei"/>
                <a:ea typeface="Microsoft YaHei"/>
              </a:rPr>
              <a:t>—  </a:t>
            </a:r>
            <a:r>
              <a:rPr sz="1200" b="0" i="0">
                <a:solidFill>
                  <a:srgbClr val="171717"/>
                </a:solidFill>
                <a:latin typeface="Microsoft YaHei"/>
                <a:ea typeface="Microsoft YaHei"/>
              </a:rPr>
              <a:t>先跑一个 import torch 和 print(torch.__version__)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81328"/>
            <a:ext cx="51206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38544" y="1682496"/>
            <a:ext cx="329184" cy="329184"/>
          </a:xfrm>
          <a:prstGeom prst="ellipse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77456" y="1664208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171717"/>
                </a:solidFill>
                <a:latin typeface="Microsoft YaHei"/>
                <a:ea typeface="Microsoft YaHei"/>
              </a:rPr>
              <a:t>先隔离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8544" y="2185416"/>
            <a:ext cx="464515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虚拟环境避免依赖冲突；本次使用 Python 3.11 + torch 2.14 CPU 验证。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834640"/>
            <a:ext cx="51206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38544" y="3035808"/>
            <a:ext cx="329184" cy="329184"/>
          </a:xfrm>
          <a:prstGeom prst="ellipse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77456" y="3017520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171717"/>
                </a:solidFill>
                <a:latin typeface="Microsoft YaHei"/>
                <a:ea typeface="Microsoft YaHei"/>
              </a:rPr>
              <a:t>再验证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38544" y="3538728"/>
            <a:ext cx="464515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import torch、读一个 CSV、打印 shape——三步确认环境真的可用。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187952"/>
            <a:ext cx="51206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38544" y="4389120"/>
            <a:ext cx="329184" cy="329184"/>
          </a:xfrm>
          <a:prstGeom prst="ellipse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77456" y="4370832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171717"/>
                </a:solidFill>
                <a:latin typeface="Microsoft YaHei"/>
                <a:ea typeface="Microsoft YaHei"/>
              </a:rPr>
              <a:t>后写模型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8544" y="4892040"/>
            <a:ext cx="464515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把“跑不通”和“模型不对”分开，排错会快很多。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5623560"/>
            <a:ext cx="10789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6F6A60"/>
                </a:solidFill>
                <a:latin typeface="Microsoft YaHei"/>
                <a:ea typeface="Microsoft YaHei"/>
              </a:rPr>
              <a:t>环境不是评分重点，但没有它，后面所有指标都无从谈起。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01 · 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481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71717"/>
                </a:solidFill>
                <a:latin typeface="Microsoft YaHei"/>
                <a:ea typeface="Microsoft YaHei"/>
              </a:rPr>
              <a:t>清洗：把语义变成数字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25296"/>
            <a:ext cx="658368" cy="41148"/>
          </a:xfrm>
          <a:prstGeom prst="rect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2025 逻辑回归实验  ·  Agentic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2623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08 / 39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" y="1481328"/>
          <a:ext cx="10927080" cy="29626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57400"/>
                <a:gridCol w="3886200"/>
                <a:gridCol w="4983480"/>
              </a:tblGrid>
              <a:tr h="493776"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100" b="1" i="0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</a:rPr>
                        <a:t>原始列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B9D2C9"/>
                      </a:solidFill>
                    </a:lnB>
                    <a:solidFill>
                      <a:srgbClr val="E8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100" b="1" i="0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</a:rPr>
                        <a:t>处理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B9D2C9"/>
                      </a:solidFill>
                    </a:lnB>
                    <a:solidFill>
                      <a:srgbClr val="E8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100" b="1" i="0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</a:rPr>
                        <a:t>结果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B9D2C9"/>
                      </a:solidFill>
                    </a:lnB>
                    <a:solidFill>
                      <a:srgbClr val="E8F1ED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100" b="1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id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10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唯一标识，与违约无关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10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删除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100" b="1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issueDate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10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yyyy-mm-dd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10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距最早日期的天数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100" b="1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earliesCreditLine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10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MMM-YYYY，如 Mar-2007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10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距最早月份的月数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100" b="1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grade / subGrade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10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等级 A–G 与子等级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10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删 subGrade；grade A=1 … G=7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100" b="1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employmentLength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10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“&lt; 1 year”“3 years”“10+ years”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10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1 / n+1 / 12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" y="5074920"/>
            <a:ext cx="10927080" cy="713232"/>
          </a:xfrm>
          <a:prstGeom prst="roundRect">
            <a:avLst>
              <a:gd name="adj" fmla="val 8000"/>
            </a:avLst>
          </a:prstGeom>
          <a:solidFill>
            <a:srgbClr val="E8F1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212080"/>
            <a:ext cx="10515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0F6B62"/>
                </a:solidFill>
                <a:latin typeface="Microsoft YaHei"/>
                <a:ea typeface="Microsoft YaHei"/>
              </a:rPr>
              <a:t>全部封装在 utils.py::data_utils.pipeline()；本实验不改 utils.py。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468112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6F6A60"/>
                </a:solidFill>
                <a:latin typeface="Microsoft YaHei"/>
                <a:ea typeface="Microsoft YaHei"/>
              </a:rPr>
              <a:t>转换完再 astype(float)，得到纯数值表；这一步决定了后面 44 维的形状。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01 · 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481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71717"/>
                </a:solidFill>
                <a:latin typeface="Microsoft YaHei"/>
                <a:ea typeface="Microsoft YaHei"/>
              </a:rPr>
              <a:t>缺失值：标签不能猜，特征可以填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25296"/>
            <a:ext cx="658368" cy="41148"/>
          </a:xfrm>
          <a:prstGeom prst="rect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2025 逻辑回归实验  ·  Agentic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2623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09 / 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481328"/>
            <a:ext cx="5623560" cy="2880360"/>
          </a:xfrm>
          <a:prstGeom prst="roundRect">
            <a:avLst>
              <a:gd name="adj" fmla="val 8000"/>
            </a:avLst>
          </a:prstGeom>
          <a:solidFill>
            <a:srgbClr val="EFED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91056"/>
            <a:ext cx="5257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6F6A60"/>
                </a:solidFill>
                <a:latin typeface="Microsoft YaHei"/>
                <a:ea typeface="Microsoft YaHei"/>
              </a:rPr>
              <a:t>先删标签缺失，再填特征均值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5239512" cy="2441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171717"/>
                </a:solidFill>
                <a:latin typeface="Consolas"/>
              </a:rPr>
              <a:t>def filter_NA(df):</a:t>
            </a:r>
          </a:p>
          <a:p>
            <a:pPr>
              <a:lnSpc>
                <a:spcPct val="110000"/>
              </a:lnSpc>
            </a:pPr>
            <a:r>
              <a:rPr sz="1050" b="0" i="0">
                <a:solidFill>
                  <a:srgbClr val="171717"/>
                </a:solidFill>
                <a:latin typeface="Consolas"/>
              </a:rPr>
              <a:t>    return df.dropna(subset=["isDefault"])</a:t>
            </a:r>
          </a:p>
          <a:p>
            <a:pPr>
              <a:lnSpc>
                <a:spcPct val="110000"/>
              </a:lnSpc>
            </a:pPr>
            <a:r>
              <a:rPr sz="1050" b="0" i="0">
                <a:solidFill>
                  <a:srgbClr val="171717"/>
                </a:solidFill>
                <a:latin typeface="Consolas"/>
              </a:rPr>
              <a:t> </a:t>
            </a:r>
          </a:p>
          <a:p>
            <a:pPr>
              <a:lnSpc>
                <a:spcPct val="110000"/>
              </a:lnSpc>
            </a:pPr>
            <a:r>
              <a:rPr sz="1050" b="0" i="0">
                <a:solidFill>
                  <a:srgbClr val="171717"/>
                </a:solidFill>
                <a:latin typeface="Consolas"/>
              </a:rPr>
              <a:t>def fill_mean(df):</a:t>
            </a:r>
          </a:p>
          <a:p>
            <a:pPr>
              <a:lnSpc>
                <a:spcPct val="110000"/>
              </a:lnSpc>
            </a:pPr>
            <a:r>
              <a:rPr sz="1050" b="0" i="0">
                <a:solidFill>
                  <a:srgbClr val="171717"/>
                </a:solidFill>
                <a:latin typeface="Consolas"/>
              </a:rPr>
              <a:t>    return df.fillna(df.mean(numeric_only=True))</a:t>
            </a:r>
          </a:p>
          <a:p>
            <a:pPr>
              <a:lnSpc>
                <a:spcPct val="110000"/>
              </a:lnSpc>
            </a:pPr>
            <a:r>
              <a:rPr sz="1050" b="0" i="0">
                <a:solidFill>
                  <a:srgbClr val="171717"/>
                </a:solidFill>
                <a:latin typeface="Consolas"/>
              </a:rPr>
              <a:t> </a:t>
            </a:r>
          </a:p>
          <a:p>
            <a:pPr>
              <a:lnSpc>
                <a:spcPct val="110000"/>
              </a:lnSpc>
            </a:pPr>
            <a:r>
              <a:rPr sz="1050" b="0" i="0">
                <a:solidFill>
                  <a:srgbClr val="171717"/>
                </a:solidFill>
                <a:latin typeface="Consolas"/>
              </a:rPr>
              <a:t>train, val, test = filter_NA(train), ...</a:t>
            </a:r>
          </a:p>
          <a:p>
            <a:pPr>
              <a:lnSpc>
                <a:spcPct val="110000"/>
              </a:lnSpc>
            </a:pPr>
            <a:r>
              <a:rPr sz="1050" b="0" i="0">
                <a:solidFill>
                  <a:srgbClr val="171717"/>
                </a:solidFill>
                <a:latin typeface="Consolas"/>
              </a:rPr>
              <a:t>train, val, test = fill_mean(train), 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4663440"/>
            <a:ext cx="5577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F6A60"/>
                </a:solidFill>
                <a:latin typeface="Microsoft YaHei"/>
                <a:ea typeface="Microsoft YaHei"/>
              </a:rPr>
              <a:t>训练集 5595 个缺失单元，19 列有缺失；n11 624、employmentLength 518、n0–n14 多数 325。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81328"/>
            <a:ext cx="512064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38544" y="1682496"/>
            <a:ext cx="4645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171717"/>
                </a:solidFill>
                <a:latin typeface="Microsoft YaHei"/>
                <a:ea typeface="Microsoft YaHei"/>
              </a:rPr>
              <a:t>标签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38544" y="2121408"/>
            <a:ext cx="464515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isDefault 为 NaN → 删除
标签无法从特征恢复；不能猜。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871216"/>
            <a:ext cx="512064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38544" y="3072384"/>
            <a:ext cx="4645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171717"/>
                </a:solidFill>
                <a:latin typeface="Microsoft YaHei"/>
                <a:ea typeface="Microsoft YaHei"/>
              </a:rPr>
              <a:t>特征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8544" y="3511296"/>
            <a:ext cx="464515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用同列均值填充
简单可解释的基线；中位数/模型填补也可以。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261104"/>
            <a:ext cx="512064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38544" y="4462272"/>
            <a:ext cx="4645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171717"/>
                </a:solidFill>
                <a:latin typeface="Microsoft YaHei"/>
                <a:ea typeface="Microsoft YaHei"/>
              </a:rPr>
              <a:t>验收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8544" y="4901184"/>
            <a:ext cx="464515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填充后 0 个 NaN
三份数据都要检查，不能只看 train。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01 · 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481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71717"/>
                </a:solidFill>
                <a:latin typeface="Microsoft YaHei"/>
                <a:ea typeface="Microsoft YaHei"/>
              </a:rPr>
              <a:t>从表到张量：先对齐形状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25296"/>
            <a:ext cx="658368" cy="41148"/>
          </a:xfrm>
          <a:prstGeom prst="rect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2025 逻辑回归实验  ·  Agentic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2623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10 / 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554480"/>
            <a:ext cx="2487168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682496"/>
            <a:ext cx="21579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i="0">
                <a:solidFill>
                  <a:srgbClr val="171717"/>
                </a:solidFill>
                <a:latin typeface="Microsoft YaHei"/>
                <a:ea typeface="Microsoft YaHei"/>
              </a:rPr>
              <a:t>DataFrame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956816"/>
            <a:ext cx="215798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F6A60"/>
                </a:solidFill>
                <a:latin typeface="Microsoft YaHei"/>
                <a:ea typeface="Microsoft YaHei"/>
              </a:rPr>
              <a:t>8000 × 44
float64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63824" y="2148840"/>
            <a:ext cx="128016" cy="0"/>
          </a:xfrm>
          <a:prstGeom prst="line">
            <a:avLst/>
          </a:prstGeom>
          <a:ln w="15240">
            <a:solidFill>
              <a:srgbClr val="0F6B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10128" y="1554480"/>
            <a:ext cx="2487168" cy="1188720"/>
          </a:xfrm>
          <a:prstGeom prst="roundRect">
            <a:avLst>
              <a:gd name="adj" fmla="val 8000"/>
            </a:avLst>
          </a:prstGeom>
          <a:solidFill>
            <a:srgbClr val="E8F1ED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682496"/>
            <a:ext cx="21579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i="0">
                <a:solidFill>
                  <a:srgbClr val="0F6B62"/>
                </a:solidFill>
                <a:latin typeface="Microsoft YaHei"/>
                <a:ea typeface="Microsoft YaHei"/>
              </a:rPr>
              <a:t>MinMaxScaler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956816"/>
            <a:ext cx="215798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F6A60"/>
                </a:solidFill>
                <a:latin typeface="Microsoft YaHei"/>
                <a:ea typeface="Microsoft YaHei"/>
              </a:rPr>
              <a:t>只在 train 上 fit
再 transform val/test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52160" y="2148840"/>
            <a:ext cx="128016" cy="0"/>
          </a:xfrm>
          <a:prstGeom prst="line">
            <a:avLst/>
          </a:prstGeom>
          <a:ln w="15240">
            <a:solidFill>
              <a:srgbClr val="0F6B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998464" y="1554480"/>
            <a:ext cx="2487168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63056" y="1682496"/>
            <a:ext cx="21579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i="0">
                <a:solidFill>
                  <a:srgbClr val="171717"/>
                </a:solidFill>
                <a:latin typeface="Microsoft YaHei"/>
                <a:ea typeface="Microsoft YaHei"/>
              </a:rPr>
              <a:t>Tensor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3056" y="1956816"/>
            <a:ext cx="215798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F6A60"/>
                </a:solidFill>
                <a:latin typeface="Microsoft YaHei"/>
                <a:ea typeface="Microsoft YaHei"/>
              </a:rPr>
              <a:t>X: (8000, 44)
float32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540496" y="2148840"/>
            <a:ext cx="128016" cy="0"/>
          </a:xfrm>
          <a:prstGeom prst="line">
            <a:avLst/>
          </a:prstGeom>
          <a:ln w="15240">
            <a:solidFill>
              <a:srgbClr val="0F6B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686800" y="1554480"/>
            <a:ext cx="2487168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51392" y="1682496"/>
            <a:ext cx="21579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i="0">
                <a:solidFill>
                  <a:srgbClr val="171717"/>
                </a:solidFill>
                <a:latin typeface="Microsoft YaHei"/>
                <a:ea typeface="Microsoft YaHei"/>
              </a:rPr>
              <a:t>Label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1392" y="1956816"/>
            <a:ext cx="215798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F6A60"/>
                </a:solidFill>
                <a:latin typeface="Microsoft YaHei"/>
                <a:ea typeface="Microsoft YaHei"/>
              </a:rPr>
              <a:t>y: (8000,)
0 /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3154680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0F6B62"/>
                </a:solidFill>
                <a:latin typeface="Microsoft YaHei"/>
                <a:ea typeface="Microsoft YaHei"/>
              </a:rPr>
              <a:t>三份数据的形状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3456432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6F6A60"/>
                </a:solidFill>
                <a:latin typeface="Microsoft YaHei"/>
                <a:ea typeface="Microsoft YaHei"/>
              </a:rPr>
              <a:t>X_train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10512" y="3456432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71717"/>
                </a:solidFill>
                <a:latin typeface="Consolas"/>
                <a:ea typeface="Consolas"/>
              </a:rPr>
              <a:t>(8000, 44)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79" y="3456432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6F6A60"/>
                </a:solidFill>
                <a:latin typeface="Microsoft YaHei"/>
                <a:ea typeface="Microsoft YaHei"/>
              </a:rPr>
              <a:t>X_val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399" y="3456432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71717"/>
                </a:solidFill>
                <a:latin typeface="Consolas"/>
                <a:ea typeface="Consolas"/>
              </a:rPr>
              <a:t>(1000, 44)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73567" y="3456432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6F6A60"/>
                </a:solidFill>
                <a:latin typeface="Microsoft YaHei"/>
                <a:ea typeface="Microsoft YaHei"/>
              </a:rPr>
              <a:t>X_test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62287" y="3456432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71717"/>
                </a:solidFill>
                <a:latin typeface="Consolas"/>
                <a:ea typeface="Consolas"/>
              </a:rPr>
              <a:t>(1000, 44)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4114800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6F6A60"/>
                </a:solidFill>
                <a:latin typeface="Microsoft YaHei"/>
                <a:ea typeface="Microsoft YaHei"/>
              </a:rPr>
              <a:t>y_train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10512" y="411480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71717"/>
                </a:solidFill>
                <a:latin typeface="Consolas"/>
                <a:ea typeface="Consolas"/>
              </a:rPr>
              <a:t>(8000,)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4114800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6F6A60"/>
                </a:solidFill>
                <a:latin typeface="Microsoft YaHei"/>
                <a:ea typeface="Microsoft YaHei"/>
              </a:rPr>
              <a:t>y_val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399" y="411480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71717"/>
                </a:solidFill>
                <a:latin typeface="Consolas"/>
                <a:ea typeface="Consolas"/>
              </a:rPr>
              <a:t>(1000,)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73567" y="4114800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6F6A60"/>
                </a:solidFill>
                <a:latin typeface="Microsoft YaHei"/>
                <a:ea typeface="Microsoft YaHei"/>
              </a:rPr>
              <a:t>y_test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62287" y="411480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71717"/>
                </a:solidFill>
                <a:latin typeface="Consolas"/>
                <a:ea typeface="Consolas"/>
              </a:rPr>
              <a:t>(1000,)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" y="4297680"/>
            <a:ext cx="10927080" cy="566928"/>
          </a:xfrm>
          <a:prstGeom prst="roundRect">
            <a:avLst>
              <a:gd name="adj" fmla="val 8000"/>
            </a:avLst>
          </a:prstGeom>
          <a:solidFill>
            <a:srgbClr val="E8F1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440740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0F6B62"/>
                </a:solidFill>
                <a:latin typeface="Microsoft YaHei"/>
                <a:ea typeface="Microsoft YaHei"/>
              </a:rPr>
              <a:t>为什么缩放：年收入/余额与利率的量级相差 3–4 个数量级；MinMax 让梯度更稳定。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" y="5074920"/>
            <a:ext cx="10927080" cy="786384"/>
          </a:xfrm>
          <a:prstGeom prst="roundRect">
            <a:avLst>
              <a:gd name="adj" fmla="val 8000"/>
            </a:avLst>
          </a:prstGeom>
          <a:solidFill>
            <a:srgbClr val="F3E4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212080"/>
            <a:ext cx="10515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B85C38"/>
                </a:solidFill>
                <a:latin typeface="Microsoft YaHei"/>
                <a:ea typeface="Microsoft YaHei"/>
              </a:rPr>
              <a:t>易错点：MinMaxScaler 只在 train 上 fit；否则测试集信息会泄漏到训练。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477256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6F6A60"/>
                </a:solidFill>
                <a:latin typeface="Microsoft YaHei"/>
                <a:ea typeface="Microsoft YaHei"/>
              </a:rPr>
              <a:t>标签保持 1-D，模型输出 2-D；后面会在 BCELoss 前统一 flatten。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01 · 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481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71717"/>
                </a:solidFill>
                <a:latin typeface="Microsoft YaHei"/>
                <a:ea typeface="Microsoft YaHei"/>
              </a:rPr>
              <a:t>MyDataset：两个魔术方法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25296"/>
            <a:ext cx="658368" cy="41148"/>
          </a:xfrm>
          <a:prstGeom prst="rect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2025 逻辑回归实验  ·  Agentic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2623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11 / 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481328"/>
            <a:ext cx="6537960" cy="3520440"/>
          </a:xfrm>
          <a:prstGeom prst="roundRect">
            <a:avLst>
              <a:gd name="adj" fmla="val 8000"/>
            </a:avLst>
          </a:prstGeom>
          <a:solidFill>
            <a:srgbClr val="EFED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91056"/>
            <a:ext cx="6172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6F6A60"/>
                </a:solidFill>
                <a:latin typeface="Microsoft YaHei"/>
                <a:ea typeface="Microsoft YaHei"/>
              </a:rPr>
              <a:t>数据集只负责“一条样本”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6153912" cy="30815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80" b="0" i="0">
                <a:solidFill>
                  <a:srgbClr val="171717"/>
                </a:solidFill>
                <a:latin typeface="Consolas"/>
              </a:rPr>
              <a:t>class MyDataset(Dataset):</a:t>
            </a:r>
          </a:p>
          <a:p>
            <a:pPr>
              <a:lnSpc>
                <a:spcPct val="110000"/>
              </a:lnSpc>
            </a:pPr>
            <a:r>
              <a:rPr sz="1080" b="0" i="0">
                <a:solidFill>
                  <a:srgbClr val="171717"/>
                </a:solidFill>
                <a:latin typeface="Consolas"/>
              </a:rPr>
              <a:t>    def __init__(self, *tensors):</a:t>
            </a:r>
          </a:p>
          <a:p>
            <a:pPr>
              <a:lnSpc>
                <a:spcPct val="110000"/>
              </a:lnSpc>
            </a:pPr>
            <a:r>
              <a:rPr sz="1080" b="0" i="0">
                <a:solidFill>
                  <a:srgbClr val="171717"/>
                </a:solidFill>
                <a:latin typeface="Consolas"/>
              </a:rPr>
              <a:t>        assert all(t.size(0) == tensors[0].size(0)</a:t>
            </a:r>
          </a:p>
          <a:p>
            <a:pPr>
              <a:lnSpc>
                <a:spcPct val="110000"/>
              </a:lnSpc>
            </a:pPr>
            <a:r>
              <a:rPr sz="1080" b="0" i="0">
                <a:solidFill>
                  <a:srgbClr val="171717"/>
                </a:solidFill>
                <a:latin typeface="Consolas"/>
              </a:rPr>
              <a:t>                   for t in tensors)</a:t>
            </a:r>
          </a:p>
          <a:p>
            <a:pPr>
              <a:lnSpc>
                <a:spcPct val="110000"/>
              </a:lnSpc>
            </a:pPr>
            <a:r>
              <a:rPr sz="1080" b="0" i="0">
                <a:solidFill>
                  <a:srgbClr val="171717"/>
                </a:solidFill>
                <a:latin typeface="Consolas"/>
              </a:rPr>
              <a:t>        self.tensor = tensors</a:t>
            </a:r>
          </a:p>
          <a:p>
            <a:pPr>
              <a:lnSpc>
                <a:spcPct val="110000"/>
              </a:lnSpc>
            </a:pPr>
            <a:r>
              <a:rPr sz="1080" b="0" i="0">
                <a:solidFill>
                  <a:srgbClr val="171717"/>
                </a:solidFill>
                <a:latin typeface="Consolas"/>
              </a:rPr>
              <a:t> </a:t>
            </a:r>
          </a:p>
          <a:p>
            <a:pPr>
              <a:lnSpc>
                <a:spcPct val="110000"/>
              </a:lnSpc>
            </a:pPr>
            <a:r>
              <a:rPr sz="1080" b="0" i="0">
                <a:solidFill>
                  <a:srgbClr val="171717"/>
                </a:solidFill>
                <a:latin typeface="Consolas"/>
              </a:rPr>
              <a:t>    def __len__(self):</a:t>
            </a:r>
          </a:p>
          <a:p>
            <a:pPr>
              <a:lnSpc>
                <a:spcPct val="110000"/>
              </a:lnSpc>
            </a:pPr>
            <a:r>
              <a:rPr sz="1080" b="0" i="0">
                <a:solidFill>
                  <a:srgbClr val="171717"/>
                </a:solidFill>
                <a:latin typeface="Consolas"/>
              </a:rPr>
              <a:t>        return self.tensor[0].size(0)</a:t>
            </a:r>
          </a:p>
          <a:p>
            <a:pPr>
              <a:lnSpc>
                <a:spcPct val="110000"/>
              </a:lnSpc>
            </a:pPr>
            <a:r>
              <a:rPr sz="1080" b="0" i="0">
                <a:solidFill>
                  <a:srgbClr val="171717"/>
                </a:solidFill>
                <a:latin typeface="Consolas"/>
              </a:rPr>
              <a:t> </a:t>
            </a:r>
          </a:p>
          <a:p>
            <a:pPr>
              <a:lnSpc>
                <a:spcPct val="110000"/>
              </a:lnSpc>
            </a:pPr>
            <a:r>
              <a:rPr sz="1080" b="0" i="0">
                <a:solidFill>
                  <a:srgbClr val="171717"/>
                </a:solidFill>
                <a:latin typeface="Consolas"/>
              </a:rPr>
              <a:t>    def __getitem__(self, index):</a:t>
            </a:r>
          </a:p>
          <a:p>
            <a:pPr>
              <a:lnSpc>
                <a:spcPct val="110000"/>
              </a:lnSpc>
            </a:pPr>
            <a:r>
              <a:rPr sz="1080" b="0" i="0">
                <a:solidFill>
                  <a:srgbClr val="171717"/>
                </a:solidFill>
                <a:latin typeface="Consolas"/>
              </a:rPr>
              <a:t>        return tuple(t[index] for t in self.tensor)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5212080"/>
            <a:ext cx="6537960" cy="502920"/>
          </a:xfrm>
          <a:prstGeom prst="roundRect">
            <a:avLst>
              <a:gd name="adj" fmla="val 8000"/>
            </a:avLst>
          </a:prstGeom>
          <a:solidFill>
            <a:srgbClr val="E8F1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30352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30" b="1" i="0">
                <a:solidFill>
                  <a:srgbClr val="0F6B62"/>
                </a:solidFill>
                <a:latin typeface="Microsoft YaHei"/>
                <a:ea typeface="Microsoft YaHei"/>
              </a:rPr>
              <a:t>assert 各张量首维一致：形状错误应该在构造 Dataset 时就暴露，而不是训练到一半。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481328"/>
            <a:ext cx="3977639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81544" y="1682496"/>
            <a:ext cx="35021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i="0">
                <a:solidFill>
                  <a:srgbClr val="171717"/>
                </a:solidFill>
                <a:latin typeface="Microsoft YaHei"/>
                <a:ea typeface="Microsoft YaHei"/>
              </a:rPr>
              <a:t>__len__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1544" y="2121408"/>
            <a:ext cx="3502151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返回 8000
DataLoader 用它算 batch 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2898648"/>
            <a:ext cx="3977639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81544" y="3099816"/>
            <a:ext cx="35021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i="0">
                <a:solidFill>
                  <a:srgbClr val="171717"/>
                </a:solidFill>
                <a:latin typeface="Microsoft YaHei"/>
                <a:ea typeface="Microsoft YaHei"/>
              </a:rPr>
              <a:t>__getitem__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81544" y="3538728"/>
            <a:ext cx="3502151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返回 (x_i, y_i)
x: (44,), y: 标量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4315968"/>
            <a:ext cx="3977639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81544" y="4517136"/>
            <a:ext cx="35021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i="0">
                <a:solidFill>
                  <a:srgbClr val="171717"/>
                </a:solidFill>
                <a:latin typeface="Microsoft YaHei"/>
                <a:ea typeface="Microsoft YaHei"/>
              </a:rPr>
              <a:t>谁负责批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81544" y="4956048"/>
            <a:ext cx="3502151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DataLoader
负责 batch / shuffle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5806440"/>
            <a:ext cx="1094811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0F6B62"/>
                </a:solidFill>
                <a:latin typeface="Microsoft YaHei"/>
                <a:ea typeface="Microsoft YaHei"/>
              </a:rPr>
              <a:t>Dataset 负责“一条”，DataLoader 负责“一批”。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01 · 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481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71717"/>
                </a:solidFill>
                <a:latin typeface="Microsoft YaHei"/>
                <a:ea typeface="Microsoft YaHei"/>
              </a:rPr>
              <a:t>DataLoader：把 8000 行切成 125 个 batch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25296"/>
            <a:ext cx="658368" cy="41148"/>
          </a:xfrm>
          <a:prstGeom prst="rect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2025 逻辑回归实验  ·  Agentic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2623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12 / 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481328"/>
            <a:ext cx="6035040" cy="2743200"/>
          </a:xfrm>
          <a:prstGeom prst="roundRect">
            <a:avLst>
              <a:gd name="adj" fmla="val 8000"/>
            </a:avLst>
          </a:prstGeom>
          <a:solidFill>
            <a:srgbClr val="EFED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91056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6F6A60"/>
                </a:solidFill>
                <a:latin typeface="Microsoft YaHei"/>
                <a:ea typeface="Microsoft YaHei"/>
              </a:rPr>
              <a:t>batch=64；只打乱 train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5650992" cy="23042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 b="0" i="0">
                <a:solidFill>
                  <a:srgbClr val="171717"/>
                </a:solidFill>
                <a:latin typeface="Consolas"/>
              </a:rPr>
              <a:t>train_loader = DataLoader(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171717"/>
                </a:solidFill>
                <a:latin typeface="Consolas"/>
              </a:rPr>
              <a:t>    MyDataset(X_train, y_train),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171717"/>
                </a:solidFill>
                <a:latin typeface="Consolas"/>
              </a:rPr>
              <a:t>    batch_size=64, shuffle=True)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171717"/>
                </a:solidFill>
                <a:latin typeface="Consolas"/>
              </a:rPr>
              <a:t> 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171717"/>
                </a:solidFill>
                <a:latin typeface="Consolas"/>
              </a:rPr>
              <a:t>val_loader = DataLoader(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171717"/>
                </a:solidFill>
                <a:latin typeface="Consolas"/>
              </a:rPr>
              <a:t>    MyDataset(X_val, y_val),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171717"/>
                </a:solidFill>
                <a:latin typeface="Consolas"/>
              </a:rPr>
              <a:t>    batch_size=64, shuffle=False)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4480560"/>
            <a:ext cx="585216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28000"/>
              </a:lnSpc>
              <a:spcAft>
                <a:spcPts val="400"/>
              </a:spcAft>
            </a:pPr>
            <a:r>
              <a:rPr sz="1080" b="1" i="0">
                <a:solidFill>
                  <a:srgbClr val="0F6B62"/>
                </a:solidFill>
                <a:latin typeface="Microsoft YaHei"/>
                <a:ea typeface="Microsoft YaHei"/>
              </a:rPr>
              <a:t>—  </a:t>
            </a:r>
            <a:r>
              <a:rPr sz="1080" b="0" i="0">
                <a:solidFill>
                  <a:srgbClr val="171717"/>
                </a:solidFill>
                <a:latin typeface="Microsoft YaHei"/>
                <a:ea typeface="Microsoft YaHei"/>
              </a:rPr>
              <a:t>训练：125 个 batch / epoch（8000 ÷ 64，向上取整）</a:t>
            </a:r>
          </a:p>
          <a:p>
            <a:pPr marL="274320" indent="-274320">
              <a:lnSpc>
                <a:spcPct val="128000"/>
              </a:lnSpc>
              <a:spcAft>
                <a:spcPts val="400"/>
              </a:spcAft>
            </a:pPr>
            <a:r>
              <a:rPr sz="1080" b="1" i="0">
                <a:solidFill>
                  <a:srgbClr val="0F6B62"/>
                </a:solidFill>
                <a:latin typeface="Microsoft YaHei"/>
                <a:ea typeface="Microsoft YaHei"/>
              </a:rPr>
              <a:t>—  </a:t>
            </a:r>
            <a:r>
              <a:rPr sz="1080" b="0" i="0">
                <a:solidFill>
                  <a:srgbClr val="171717"/>
                </a:solidFill>
                <a:latin typeface="Microsoft YaHei"/>
                <a:ea typeface="Microsoft YaHei"/>
              </a:rPr>
              <a:t>验证/测试：16 个 batch / epoch（1000 ÷ 64，末批 40）</a:t>
            </a:r>
          </a:p>
          <a:p>
            <a:pPr marL="274320" indent="-274320">
              <a:lnSpc>
                <a:spcPct val="128000"/>
              </a:lnSpc>
              <a:spcAft>
                <a:spcPts val="400"/>
              </a:spcAft>
            </a:pPr>
            <a:r>
              <a:rPr sz="1080" b="1" i="0">
                <a:solidFill>
                  <a:srgbClr val="0F6B62"/>
                </a:solidFill>
                <a:latin typeface="Microsoft YaHei"/>
                <a:ea typeface="Microsoft YaHei"/>
              </a:rPr>
              <a:t>—  </a:t>
            </a:r>
            <a:r>
              <a:rPr sz="1080" b="0" i="0">
                <a:solidFill>
                  <a:srgbClr val="171717"/>
                </a:solidFill>
                <a:latin typeface="Microsoft YaHei"/>
                <a:ea typeface="Microsoft YaHei"/>
              </a:rPr>
              <a:t>shuffle=False 让评估顺序固定，方便复现</a:t>
            </a:r>
          </a:p>
          <a:p>
            <a:pPr marL="274320" indent="-274320">
              <a:lnSpc>
                <a:spcPct val="128000"/>
              </a:lnSpc>
              <a:spcAft>
                <a:spcPts val="400"/>
              </a:spcAft>
            </a:pPr>
            <a:r>
              <a:rPr sz="1080" b="1" i="0">
                <a:solidFill>
                  <a:srgbClr val="0F6B62"/>
                </a:solidFill>
                <a:latin typeface="Microsoft YaHei"/>
                <a:ea typeface="Microsoft YaHei"/>
              </a:rPr>
              <a:t>—  </a:t>
            </a:r>
            <a:r>
              <a:rPr sz="1080" b="0" i="0">
                <a:solidFill>
                  <a:srgbClr val="171717"/>
                </a:solidFill>
                <a:latin typeface="Microsoft YaHei"/>
                <a:ea typeface="Microsoft YaHei"/>
              </a:rPr>
              <a:t>训练 shuffle 用独立 generator，避免验证集迭代消耗全局 RNG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1481328"/>
            <a:ext cx="48006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22008" y="1627632"/>
            <a:ext cx="44348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F6B62"/>
                </a:solidFill>
                <a:latin typeface="Microsoft YaHei"/>
                <a:ea typeface="Microsoft YaHei"/>
              </a:rPr>
              <a:t>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8" y="2231136"/>
            <a:ext cx="4434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171717"/>
                </a:solidFill>
                <a:latin typeface="Microsoft YaHei"/>
                <a:ea typeface="Microsoft YaHei"/>
              </a:rPr>
              <a:t>每批样本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2008" y="2542032"/>
            <a:ext cx="443484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显存/内存与梯度噪声的折中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2944368"/>
            <a:ext cx="48006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22008" y="3090672"/>
            <a:ext cx="44348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F6B62"/>
                </a:solidFill>
                <a:latin typeface="Microsoft YaHei"/>
                <a:ea typeface="Microsoft YaHei"/>
              </a:rPr>
              <a:t>125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2008" y="3694176"/>
            <a:ext cx="4434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171717"/>
                </a:solidFill>
                <a:latin typeface="Microsoft YaHei"/>
                <a:ea typeface="Microsoft YaHei"/>
              </a:rPr>
              <a:t>train batch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2008" y="4005072"/>
            <a:ext cx="443484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一个 epoch 更新 125 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4407408"/>
            <a:ext cx="48006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22008" y="4553712"/>
            <a:ext cx="44348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F6B62"/>
                </a:solidFill>
                <a:latin typeface="Microsoft YaHei"/>
                <a:ea typeface="Microsoft YaHei"/>
              </a:rPr>
              <a:t>16 / 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2008" y="5157216"/>
            <a:ext cx="4434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171717"/>
                </a:solidFill>
                <a:latin typeface="Microsoft YaHei"/>
                <a:ea typeface="Microsoft YaHei"/>
              </a:rPr>
              <a:t>val / 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22008" y="5468112"/>
            <a:ext cx="443484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只做前向，不打乱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594360"/>
            <a:ext cx="2743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7800" b="1" i="0">
                <a:solidFill>
                  <a:srgbClr val="CFE3DC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2057400"/>
            <a:ext cx="1051560" cy="54864"/>
          </a:xfrm>
          <a:prstGeom prst="rect">
            <a:avLst/>
          </a:prstGeom>
          <a:solidFill>
            <a:srgbClr val="CFE3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2331720"/>
            <a:ext cx="89611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Microsoft YaHei"/>
                <a:ea typeface="Microsoft YaHei"/>
              </a:rPr>
              <a:t>从分数到概率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3246120"/>
            <a:ext cx="8229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C9C3B6"/>
                </a:solidFill>
                <a:latin typeface="Microsoft YaHei"/>
                <a:ea typeface="Microsoft YaHei"/>
              </a:rPr>
              <a:t>logit → sigmoid → BCE → 正则化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922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B9B3A6"/>
                </a:solidFill>
                <a:latin typeface="Microsoft YaHei"/>
                <a:ea typeface="Microsoft YaHei"/>
              </a:rPr>
              <a:t>2025 逻辑回归实验  ·  Agentic Programming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2623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>
                <a:solidFill>
                  <a:srgbClr val="B9B3A6"/>
                </a:solidFill>
                <a:latin typeface="Microsoft YaHei"/>
                <a:ea typeface="Microsoft YaHei"/>
              </a:rPr>
              <a:t>13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10896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CFE3DC"/>
                </a:solidFill>
                <a:latin typeface="Microsoft YaHei"/>
                <a:ea typeface="Microsoft YaHei"/>
              </a:rPr>
              <a:t>02 · 模型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02 · 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481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71717"/>
                </a:solidFill>
                <a:latin typeface="Microsoft YaHei"/>
                <a:ea typeface="Microsoft YaHei"/>
              </a:rPr>
              <a:t>逻辑回归 = 线性分数 + sigmoid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25296"/>
            <a:ext cx="658368" cy="41148"/>
          </a:xfrm>
          <a:prstGeom prst="rect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2025 逻辑回归实验  ·  Agentic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2623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14 / 39</a:t>
            </a:r>
          </a:p>
        </p:txBody>
      </p:sp>
      <p:pic>
        <p:nvPicPr>
          <p:cNvPr id="7" name="Picture 6" descr="formula_log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444752"/>
            <a:ext cx="3474720" cy="795798"/>
          </a:xfrm>
          <a:prstGeom prst="rect">
            <a:avLst/>
          </a:prstGeom>
        </p:spPr>
      </p:pic>
      <p:pic>
        <p:nvPicPr>
          <p:cNvPr id="8" name="Picture 7" descr="formula_sigmo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304288"/>
            <a:ext cx="3977639" cy="7633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" y="3246120"/>
            <a:ext cx="41605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28000"/>
              </a:lnSpc>
              <a:spcAft>
                <a:spcPts val="900"/>
              </a:spcAft>
            </a:pPr>
            <a:r>
              <a:rPr sz="1250" b="1" i="0">
                <a:solidFill>
                  <a:srgbClr val="0F6B62"/>
                </a:solidFill>
                <a:latin typeface="Microsoft YaHei"/>
                <a:ea typeface="Microsoft YaHei"/>
              </a:rPr>
              <a:t>—  </a:t>
            </a:r>
            <a:r>
              <a:rPr sz="1250" b="0" i="0">
                <a:solidFill>
                  <a:srgbClr val="171717"/>
                </a:solidFill>
                <a:latin typeface="Microsoft YaHei"/>
                <a:ea typeface="Microsoft YaHei"/>
              </a:rPr>
              <a:t>线性分数没有边界：(-∞, +∞)</a:t>
            </a:r>
          </a:p>
          <a:p>
            <a:pPr marL="274320" indent="-274320">
              <a:lnSpc>
                <a:spcPct val="128000"/>
              </a:lnSpc>
              <a:spcAft>
                <a:spcPts val="900"/>
              </a:spcAft>
            </a:pPr>
            <a:r>
              <a:rPr sz="1250" b="1" i="0">
                <a:solidFill>
                  <a:srgbClr val="0F6B62"/>
                </a:solidFill>
                <a:latin typeface="Microsoft YaHei"/>
                <a:ea typeface="Microsoft YaHei"/>
              </a:rPr>
              <a:t>—  </a:t>
            </a:r>
            <a:r>
              <a:rPr sz="1250" b="0" i="0">
                <a:solidFill>
                  <a:srgbClr val="171717"/>
                </a:solidFill>
                <a:latin typeface="Microsoft YaHei"/>
                <a:ea typeface="Microsoft YaHei"/>
              </a:rPr>
              <a:t>sigmoid 把它压到 (0, 1)，变成概率</a:t>
            </a:r>
          </a:p>
          <a:p>
            <a:pPr marL="274320" indent="-274320">
              <a:lnSpc>
                <a:spcPct val="128000"/>
              </a:lnSpc>
              <a:spcAft>
                <a:spcPts val="900"/>
              </a:spcAft>
            </a:pPr>
            <a:r>
              <a:rPr sz="1250" b="1" i="0">
                <a:solidFill>
                  <a:srgbClr val="0F6B62"/>
                </a:solidFill>
                <a:latin typeface="Microsoft YaHei"/>
                <a:ea typeface="Microsoft YaHei"/>
              </a:rPr>
              <a:t>—  </a:t>
            </a:r>
            <a:r>
              <a:rPr sz="1250" b="0" i="0">
                <a:solidFill>
                  <a:srgbClr val="171717"/>
                </a:solidFill>
                <a:latin typeface="Microsoft YaHei"/>
                <a:ea typeface="Microsoft YaHei"/>
              </a:rPr>
              <a:t>z 为 0 时概率 0.5；±2 时约 0.88 / 0.12</a:t>
            </a:r>
          </a:p>
          <a:p>
            <a:pPr marL="274320" indent="-274320">
              <a:lnSpc>
                <a:spcPct val="128000"/>
              </a:lnSpc>
              <a:spcAft>
                <a:spcPts val="900"/>
              </a:spcAft>
            </a:pPr>
            <a:r>
              <a:rPr sz="1250" b="1" i="0">
                <a:solidFill>
                  <a:srgbClr val="0F6B62"/>
                </a:solidFill>
                <a:latin typeface="Microsoft YaHei"/>
                <a:ea typeface="Microsoft YaHei"/>
              </a:rPr>
              <a:t>—  </a:t>
            </a:r>
            <a:r>
              <a:rPr sz="1250" b="0" i="0">
                <a:solidFill>
                  <a:srgbClr val="171717"/>
                </a:solidFill>
                <a:latin typeface="Microsoft YaHei"/>
                <a:ea typeface="Microsoft YaHei"/>
              </a:rPr>
              <a:t>p 是“违约概率”，不是硬标签</a:t>
            </a:r>
          </a:p>
        </p:txBody>
      </p:sp>
      <p:pic>
        <p:nvPicPr>
          <p:cNvPr id="10" name="Picture 9" descr="sigmo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444752"/>
            <a:ext cx="6583680" cy="367911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02 · 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481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71717"/>
                </a:solidFill>
                <a:latin typeface="Microsoft YaHei"/>
                <a:ea typeface="Microsoft YaHei"/>
              </a:rPr>
              <a:t>为什么是交叉熵？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25296"/>
            <a:ext cx="658368" cy="41148"/>
          </a:xfrm>
          <a:prstGeom prst="rect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2025 逻辑回归实验  ·  Agentic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2623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15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81328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6F6A60"/>
                </a:solidFill>
                <a:latin typeface="Microsoft YaHei"/>
                <a:ea typeface="Microsoft YaHei"/>
              </a:rPr>
              <a:t>把每个样本看成一次伯努利试验：</a:t>
            </a:r>
          </a:p>
        </p:txBody>
      </p:sp>
      <p:pic>
        <p:nvPicPr>
          <p:cNvPr id="8" name="Picture 7" descr="formula_pro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847088"/>
            <a:ext cx="5120640" cy="373136"/>
          </a:xfrm>
          <a:prstGeom prst="rect">
            <a:avLst/>
          </a:prstGeom>
        </p:spPr>
      </p:pic>
      <p:pic>
        <p:nvPicPr>
          <p:cNvPr id="9" name="Picture 8" descr="formula_likeliho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286000"/>
            <a:ext cx="4754880" cy="730065"/>
          </a:xfrm>
          <a:prstGeom prst="rect">
            <a:avLst/>
          </a:prstGeom>
        </p:spPr>
      </p:pic>
      <p:pic>
        <p:nvPicPr>
          <p:cNvPr id="10" name="Picture 9" descr="formula_b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090672"/>
            <a:ext cx="5212080" cy="39438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" y="3611880"/>
            <a:ext cx="57607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F6A60"/>
                </a:solidFill>
                <a:latin typeface="Microsoft YaHei"/>
                <a:ea typeface="Microsoft YaHei"/>
              </a:rPr>
              <a:t>最大化似然 = 最小化负对数似然。对数把连乘变成连加，也让“自信且错误”的惩罚更大。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407408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0F6B62"/>
                </a:solidFill>
                <a:latin typeface="Microsoft YaHei"/>
                <a:ea typeface="Microsoft YaHei"/>
              </a:rPr>
              <a:t>1 写似然  →  2 取对数  →  3 加负号  =  BCE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629400" y="1572768"/>
          <a:ext cx="4800600" cy="2011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25880"/>
                <a:gridCol w="1508760"/>
                <a:gridCol w="1965960"/>
              </a:tblGrid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sz="1150" b="1" i="0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</a:rPr>
                        <a:t>真实 y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B9D2C9"/>
                      </a:solidFill>
                    </a:lnB>
                    <a:solidFill>
                      <a:srgbClr val="E8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sz="1150" b="1" i="0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</a:rPr>
                        <a:t>预测 p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B9D2C9"/>
                      </a:solidFill>
                    </a:lnB>
                    <a:solidFill>
                      <a:srgbClr val="E8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sz="1150" b="1" i="0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</a:rPr>
                        <a:t>BCE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B9D2C9"/>
                      </a:solidFill>
                    </a:lnB>
                    <a:solidFill>
                      <a:srgbClr val="E8F1E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sz="11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sz="11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0.90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sz="11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0.105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sz="11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sz="11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0.10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sz="11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2.303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sz="11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sz="11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0.10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sz="11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0.105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sz="11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sz="11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0.90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sz="11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2.303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629400" y="4160520"/>
            <a:ext cx="4800600" cy="868680"/>
          </a:xfrm>
          <a:prstGeom prst="roundRect">
            <a:avLst>
              <a:gd name="adj" fmla="val 8000"/>
            </a:avLst>
          </a:prstGeom>
          <a:solidFill>
            <a:srgbClr val="F3E4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4297680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B85C38"/>
                </a:solidFill>
                <a:latin typeface="Microsoft YaHei"/>
                <a:ea typeface="Microsoft YaHei"/>
              </a:rPr>
              <a:t>注意：p=0.10 时，真实 y=1 的损失是 2.303。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457200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BCE 对“自信且错误”的惩罚急剧增大。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4406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0F6B62"/>
                </a:solidFill>
                <a:latin typeface="Microsoft YaHei"/>
                <a:ea typeface="Microsoft YaHei"/>
              </a:rPr>
              <a:t>逻辑回归的损失不是随便选的：它就是 sigmoid + 伯努利分布的负对数似然。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02 · 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481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71717"/>
                </a:solidFill>
                <a:latin typeface="Microsoft YaHei"/>
                <a:ea typeface="Microsoft YaHei"/>
              </a:rPr>
              <a:t>正则化：别把噪声当规律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25296"/>
            <a:ext cx="658368" cy="41148"/>
          </a:xfrm>
          <a:prstGeom prst="rect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2025 逻辑回归实验  ·  Agentic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2623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16 / 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481328"/>
            <a:ext cx="5285232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6459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 i="0">
                <a:solidFill>
                  <a:srgbClr val="0F6B62"/>
                </a:solidFill>
                <a:latin typeface="Microsoft YaHei"/>
                <a:ea typeface="Microsoft YaHei"/>
              </a:rPr>
              <a:t>L1</a:t>
            </a:r>
          </a:p>
        </p:txBody>
      </p:sp>
      <p:pic>
        <p:nvPicPr>
          <p:cNvPr id="9" name="Picture 8" descr="formula_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792" y="1700784"/>
            <a:ext cx="3520440" cy="5585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7824" y="2450592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171717"/>
                </a:solidFill>
                <a:latin typeface="Microsoft YaHei"/>
                <a:ea typeface="Microsoft YaHei"/>
              </a:rPr>
              <a:t>稀疏：很多权重变成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761488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适用：特征多、想要可解释时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9904" y="1481328"/>
            <a:ext cx="5285232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6459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 i="0">
                <a:solidFill>
                  <a:srgbClr val="B85C38"/>
                </a:solidFill>
                <a:latin typeface="Microsoft YaHei"/>
                <a:ea typeface="Microsoft YaHei"/>
              </a:rPr>
              <a:t>L2</a:t>
            </a:r>
          </a:p>
        </p:txBody>
      </p:sp>
      <p:pic>
        <p:nvPicPr>
          <p:cNvPr id="14" name="Picture 13" descr="formula_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904" y="1700784"/>
            <a:ext cx="3520440" cy="71903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45936" y="2450592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171717"/>
                </a:solidFill>
                <a:latin typeface="Microsoft YaHei"/>
                <a:ea typeface="Microsoft YaHei"/>
              </a:rPr>
              <a:t>收缩：权重变小但不为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2761488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适用：想要更平滑的解时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32186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0F6B62"/>
                </a:solidFill>
                <a:latin typeface="Microsoft YaHei"/>
                <a:ea typeface="Microsoft YaHei"/>
              </a:rPr>
              <a:t>本实验：34/44 个权重 ≈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32186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B85C38"/>
                </a:solidFill>
                <a:latin typeface="Microsoft YaHei"/>
                <a:ea typeface="Microsoft YaHei"/>
              </a:rPr>
              <a:t>本实验：权重整体缩小，但不为 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4114800"/>
            <a:ext cx="10927080" cy="1325880"/>
          </a:xfrm>
          <a:prstGeom prst="roundRect">
            <a:avLst>
              <a:gd name="adj" fmla="val 8000"/>
            </a:avLst>
          </a:prstGeom>
          <a:solidFill>
            <a:srgbClr val="E8F1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261104"/>
            <a:ext cx="10424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0F6B62"/>
                </a:solidFill>
                <a:latin typeface="Microsoft YaHei"/>
                <a:ea typeface="Microsoft YaHei"/>
              </a:rPr>
              <a:t>本实验：L1 + norm_weight = 0.005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572000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71717"/>
                </a:solidFill>
                <a:latin typeface="Microsoft YaHei"/>
                <a:ea typeface="Microsoft YaHei"/>
              </a:rPr>
              <a:t>L1 范数从 31.5 降到 3.61；34 个权重≈0。测试 AUC 与 L2/无正则接近（0.6897 / 0.6914 / 0.6921）——L1 的主要收益是稀疏与可解释，不是更高的分数。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02 · 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481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71717"/>
                </a:solidFill>
                <a:latin typeface="Microsoft YaHei"/>
                <a:ea typeface="Microsoft YaHei"/>
              </a:rPr>
              <a:t>模型实现：一个类，三个关键点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25296"/>
            <a:ext cx="658368" cy="41148"/>
          </a:xfrm>
          <a:prstGeom prst="rect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2025 逻辑回归实验  ·  Agentic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2623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17 / 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444752"/>
            <a:ext cx="6629400" cy="3794760"/>
          </a:xfrm>
          <a:prstGeom prst="roundRect">
            <a:avLst>
              <a:gd name="adj" fmla="val 8000"/>
            </a:avLst>
          </a:prstGeom>
          <a:solidFill>
            <a:srgbClr val="EFED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6263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6F6A60"/>
                </a:solidFill>
                <a:latin typeface="Microsoft YaHei"/>
                <a:ea typeface="Microsoft YaHei"/>
              </a:rPr>
              <a:t>模型 + 损失（节选）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92224"/>
            <a:ext cx="6245352" cy="33558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19" b="0" i="0">
                <a:solidFill>
                  <a:srgbClr val="171717"/>
                </a:solidFill>
                <a:latin typeface="Consolas"/>
              </a:rPr>
              <a:t>class LogisticRegression(nn.Module):</a:t>
            </a:r>
          </a:p>
          <a:p>
            <a:pPr>
              <a:lnSpc>
                <a:spcPct val="110000"/>
              </a:lnSpc>
            </a:pPr>
            <a:r>
              <a:rPr sz="1019" b="0" i="0">
                <a:solidFill>
                  <a:srgbClr val="171717"/>
                </a:solidFill>
                <a:latin typeface="Consolas"/>
              </a:rPr>
              <a:t>    def __init__(self, d, norm="l1"):</a:t>
            </a:r>
          </a:p>
          <a:p>
            <a:pPr>
              <a:lnSpc>
                <a:spcPct val="110000"/>
              </a:lnSpc>
            </a:pPr>
            <a:r>
              <a:rPr sz="1019" b="0" i="0">
                <a:solidFill>
                  <a:srgbClr val="171717"/>
                </a:solidFill>
                <a:latin typeface="Consolas"/>
              </a:rPr>
              <a:t>        self.w = nn.Parameter(torch.randn(d, 1))</a:t>
            </a:r>
          </a:p>
          <a:p>
            <a:pPr>
              <a:lnSpc>
                <a:spcPct val="110000"/>
              </a:lnSpc>
            </a:pPr>
            <a:r>
              <a:rPr sz="1019" b="0" i="0">
                <a:solidFill>
                  <a:srgbClr val="171717"/>
                </a:solidFill>
                <a:latin typeface="Consolas"/>
              </a:rPr>
              <a:t>        self.b = nn.Parameter(torch.randn(1))</a:t>
            </a:r>
          </a:p>
          <a:p>
            <a:pPr>
              <a:lnSpc>
                <a:spcPct val="110000"/>
              </a:lnSpc>
            </a:pPr>
            <a:r>
              <a:rPr sz="1019" b="0" i="0">
                <a:solidFill>
                  <a:srgbClr val="171717"/>
                </a:solidFill>
                <a:latin typeface="Consolas"/>
              </a:rPr>
              <a:t> </a:t>
            </a:r>
          </a:p>
          <a:p>
            <a:pPr>
              <a:lnSpc>
                <a:spcPct val="110000"/>
              </a:lnSpc>
            </a:pPr>
            <a:r>
              <a:rPr sz="1019" b="0" i="0">
                <a:solidFill>
                  <a:srgbClr val="171717"/>
                </a:solidFill>
                <a:latin typeface="Consolas"/>
              </a:rPr>
              <a:t>    def l1_norm(self):</a:t>
            </a:r>
          </a:p>
          <a:p>
            <a:pPr>
              <a:lnSpc>
                <a:spcPct val="110000"/>
              </a:lnSpc>
            </a:pPr>
            <a:r>
              <a:rPr sz="1019" b="0" i="0">
                <a:solidFill>
                  <a:srgbClr val="171717"/>
                </a:solidFill>
                <a:latin typeface="Consolas"/>
              </a:rPr>
              <a:t>        return torch.abs(self.w).sum()</a:t>
            </a:r>
          </a:p>
          <a:p>
            <a:pPr>
              <a:lnSpc>
                <a:spcPct val="110000"/>
              </a:lnSpc>
            </a:pPr>
            <a:r>
              <a:rPr sz="1019" b="0" i="0">
                <a:solidFill>
                  <a:srgbClr val="171717"/>
                </a:solidFill>
                <a:latin typeface="Consolas"/>
              </a:rPr>
              <a:t> </a:t>
            </a:r>
          </a:p>
          <a:p>
            <a:pPr>
              <a:lnSpc>
                <a:spcPct val="110000"/>
              </a:lnSpc>
            </a:pPr>
            <a:r>
              <a:rPr sz="1019" b="0" i="0">
                <a:solidFill>
                  <a:srgbClr val="171717"/>
                </a:solidFill>
                <a:latin typeface="Consolas"/>
              </a:rPr>
              <a:t>    def l2_norm(self):</a:t>
            </a:r>
          </a:p>
          <a:p>
            <a:pPr>
              <a:lnSpc>
                <a:spcPct val="110000"/>
              </a:lnSpc>
            </a:pPr>
            <a:r>
              <a:rPr sz="1019" b="0" i="0">
                <a:solidFill>
                  <a:srgbClr val="171717"/>
                </a:solidFill>
                <a:latin typeface="Consolas"/>
              </a:rPr>
              <a:t>        return (self.w ** 2).sum()</a:t>
            </a:r>
          </a:p>
          <a:p>
            <a:pPr>
              <a:lnSpc>
                <a:spcPct val="110000"/>
              </a:lnSpc>
            </a:pPr>
            <a:r>
              <a:rPr sz="1019" b="0" i="0">
                <a:solidFill>
                  <a:srgbClr val="171717"/>
                </a:solidFill>
                <a:latin typeface="Consolas"/>
              </a:rPr>
              <a:t> </a:t>
            </a:r>
          </a:p>
          <a:p>
            <a:pPr>
              <a:lnSpc>
                <a:spcPct val="110000"/>
              </a:lnSpc>
            </a:pPr>
            <a:r>
              <a:rPr sz="1019" b="0" i="0">
                <a:solidFill>
                  <a:srgbClr val="171717"/>
                </a:solidFill>
                <a:latin typeface="Consolas"/>
              </a:rPr>
              <a:t>    def forward(self, x):</a:t>
            </a:r>
          </a:p>
          <a:p>
            <a:pPr>
              <a:lnSpc>
                <a:spcPct val="110000"/>
              </a:lnSpc>
            </a:pPr>
            <a:r>
              <a:rPr sz="1019" b="0" i="0">
                <a:solidFill>
                  <a:srgbClr val="171717"/>
                </a:solidFill>
                <a:latin typeface="Consolas"/>
              </a:rPr>
              <a:t>        return torch.sigmoid(x @ self.w + self.b)</a:t>
            </a:r>
          </a:p>
          <a:p>
            <a:pPr>
              <a:lnSpc>
                <a:spcPct val="110000"/>
              </a:lnSpc>
            </a:pPr>
            <a:r>
              <a:rPr sz="1019" b="0" i="0">
                <a:solidFill>
                  <a:srgbClr val="171717"/>
                </a:solidFill>
                <a:latin typeface="Consolas"/>
              </a:rPr>
              <a:t> </a:t>
            </a:r>
          </a:p>
          <a:p>
            <a:pPr>
              <a:lnSpc>
                <a:spcPct val="110000"/>
              </a:lnSpc>
            </a:pPr>
            <a:r>
              <a:rPr sz="1019" b="0" i="0">
                <a:solidFill>
                  <a:srgbClr val="171717"/>
                </a:solidFill>
                <a:latin typeface="Consolas"/>
              </a:rPr>
              <a:t>def criterion(p, y):</a:t>
            </a:r>
          </a:p>
          <a:p>
            <a:pPr>
              <a:lnSpc>
                <a:spcPct val="110000"/>
              </a:lnSpc>
            </a:pPr>
            <a:r>
              <a:rPr sz="1019" b="0" i="0">
                <a:solidFill>
                  <a:srgbClr val="171717"/>
                </a:solidFill>
                <a:latin typeface="Consolas"/>
              </a:rPr>
              <a:t>    p = torch.clamp(p.view(-1), 1e-7, 1 - 1e-7)</a:t>
            </a:r>
          </a:p>
          <a:p>
            <a:pPr>
              <a:lnSpc>
                <a:spcPct val="110000"/>
              </a:lnSpc>
            </a:pPr>
            <a:r>
              <a:rPr sz="1019" b="0" i="0">
                <a:solidFill>
                  <a:srgbClr val="171717"/>
                </a:solidFill>
                <a:latin typeface="Consolas"/>
              </a:rPr>
              <a:t>    return nn.BCELoss()(p, y.view(-1))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5413248"/>
            <a:ext cx="65836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i="0">
                <a:solidFill>
                  <a:srgbClr val="6F6A60"/>
                </a:solidFill>
                <a:latin typeface="Microsoft YaHei"/>
                <a:ea typeface="Microsoft YaHei"/>
              </a:rPr>
              <a:t>参数只有 45 个；模型部分对应 4 个 TODO：init / l1_norm / l2_norm / sigmoid / forward / criterion。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481328"/>
            <a:ext cx="393192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27264" y="1682496"/>
            <a:ext cx="34564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171717"/>
                </a:solidFill>
                <a:latin typeface="Microsoft YaHei"/>
                <a:ea typeface="Microsoft YaHei"/>
              </a:rPr>
              <a:t>形状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7264" y="2121408"/>
            <a:ext cx="345643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p: (N, 1)
y: (N,)
→ 先 flatten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2962656"/>
            <a:ext cx="393192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27264" y="3163824"/>
            <a:ext cx="34564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171717"/>
                </a:solidFill>
                <a:latin typeface="Microsoft YaHei"/>
                <a:ea typeface="Microsoft YaHei"/>
              </a:rPr>
              <a:t>数值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27264" y="3602736"/>
            <a:ext cx="345643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sigmoid 饱和
→ clamp
防 log(0)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4443984"/>
            <a:ext cx="393192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27264" y="4645152"/>
            <a:ext cx="34564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171717"/>
                </a:solidFill>
                <a:latin typeface="Microsoft YaHei"/>
                <a:ea typeface="Microsoft YaHei"/>
              </a:rPr>
              <a:t>正则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27264" y="5084064"/>
            <a:ext cx="345643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normnize()
L1 / L2
一行切换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02 · 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481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71717"/>
                </a:solidFill>
                <a:latin typeface="Microsoft YaHei"/>
                <a:ea typeface="Microsoft YaHei"/>
              </a:rPr>
              <a:t>forward：形状只变一次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25296"/>
            <a:ext cx="658368" cy="41148"/>
          </a:xfrm>
          <a:prstGeom prst="rect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2025 逻辑回归实验  ·  Agentic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2623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18 / 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600200"/>
            <a:ext cx="248716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737360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171717"/>
                </a:solidFill>
                <a:latin typeface="Consolas"/>
                <a:ea typeface="Consolas"/>
              </a:rPr>
              <a:t>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066543"/>
            <a:ext cx="21579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0F6B62"/>
                </a:solidFill>
                <a:latin typeface="Consolas"/>
                <a:ea typeface="Consolas"/>
              </a:rPr>
              <a:t>(N, 44)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377440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80" b="0" i="0">
                <a:solidFill>
                  <a:srgbClr val="6F6A60"/>
                </a:solidFill>
                <a:latin typeface="Microsoft YaHei"/>
                <a:ea typeface="Microsoft YaHei"/>
              </a:rPr>
              <a:t>一个 batch 的输入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63824" y="2212848"/>
            <a:ext cx="128016" cy="0"/>
          </a:xfrm>
          <a:prstGeom prst="line">
            <a:avLst/>
          </a:prstGeom>
          <a:ln w="15240">
            <a:solidFill>
              <a:srgbClr val="0F6B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10128" y="1600200"/>
            <a:ext cx="248716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737360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171717"/>
                </a:solidFill>
                <a:latin typeface="Consolas"/>
                <a:ea typeface="Consolas"/>
              </a:rPr>
              <a:t>x @ 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066543"/>
            <a:ext cx="21579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0F6B62"/>
                </a:solidFill>
                <a:latin typeface="Consolas"/>
                <a:ea typeface="Consolas"/>
              </a:rPr>
              <a:t>(N, 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377440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80" b="0" i="0">
                <a:solidFill>
                  <a:srgbClr val="6F6A60"/>
                </a:solidFill>
                <a:latin typeface="Microsoft YaHei"/>
                <a:ea typeface="Microsoft YaHei"/>
              </a:rPr>
              <a:t>w: (44, 1)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52160" y="2212848"/>
            <a:ext cx="128016" cy="0"/>
          </a:xfrm>
          <a:prstGeom prst="line">
            <a:avLst/>
          </a:prstGeom>
          <a:ln w="15240">
            <a:solidFill>
              <a:srgbClr val="0F6B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998464" y="1600200"/>
            <a:ext cx="248716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3056" y="1737360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171717"/>
                </a:solidFill>
                <a:latin typeface="Consolas"/>
                <a:ea typeface="Consolas"/>
              </a:rPr>
              <a:t>+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2066543"/>
            <a:ext cx="21579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0F6B62"/>
                </a:solidFill>
                <a:latin typeface="Consolas"/>
                <a:ea typeface="Consolas"/>
              </a:rPr>
              <a:t>(N, 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3056" y="2377440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80" b="0" i="0">
                <a:solidFill>
                  <a:srgbClr val="6F6A60"/>
                </a:solidFill>
                <a:latin typeface="Microsoft YaHei"/>
                <a:ea typeface="Microsoft YaHei"/>
              </a:rPr>
              <a:t>b: (1,)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540496" y="2212848"/>
            <a:ext cx="128016" cy="0"/>
          </a:xfrm>
          <a:prstGeom prst="line">
            <a:avLst/>
          </a:prstGeom>
          <a:ln w="15240">
            <a:solidFill>
              <a:srgbClr val="0F6B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686800" y="1600200"/>
            <a:ext cx="248716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51392" y="1737360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171717"/>
                </a:solidFill>
                <a:latin typeface="Consolas"/>
                <a:ea typeface="Consolas"/>
              </a:rPr>
              <a:t>sigmoid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51392" y="2066543"/>
            <a:ext cx="21579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0F6B62"/>
                </a:solidFill>
                <a:latin typeface="Consolas"/>
                <a:ea typeface="Consolas"/>
              </a:rPr>
              <a:t>(N, 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1392" y="2377440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80" b="0" i="0">
                <a:solidFill>
                  <a:srgbClr val="6F6A60"/>
                </a:solidFill>
                <a:latin typeface="Microsoft YaHei"/>
                <a:ea typeface="Microsoft YaHei"/>
              </a:rPr>
              <a:t>概率，值域 (0,1)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32461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171717"/>
                </a:solidFill>
                <a:latin typeface="Microsoft YaHei"/>
                <a:ea typeface="Microsoft YaHei"/>
              </a:rPr>
              <a:t>参数只有 44 × 1 + 1 = 45 个；模型很小，瓶颈在特征，不在容量。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" y="3840480"/>
            <a:ext cx="5166360" cy="1417320"/>
          </a:xfrm>
          <a:prstGeom prst="roundRect">
            <a:avLst>
              <a:gd name="adj" fmla="val 8000"/>
            </a:avLst>
          </a:prstGeom>
          <a:solidFill>
            <a:srgbClr val="E8F1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977639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0F6B62"/>
                </a:solidFill>
                <a:latin typeface="Microsoft YaHei"/>
                <a:ea typeface="Microsoft YaHei"/>
              </a:rPr>
              <a:t>为什么后面要 flatten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25196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BCELoss 期望 (N,) 的概率和标签；模型输出 (N,1)，所以在 criterion 里 view(-1)。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89320" y="3840480"/>
            <a:ext cx="5532120" cy="1417320"/>
          </a:xfrm>
          <a:prstGeom prst="roundRect">
            <a:avLst>
              <a:gd name="adj" fmla="val 8000"/>
            </a:avLst>
          </a:prstGeom>
          <a:solidFill>
            <a:srgbClr val="F3E4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0488" y="3977639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B85C38"/>
                </a:solidFill>
                <a:latin typeface="Microsoft YaHei"/>
                <a:ea typeface="Microsoft YaHei"/>
              </a:rPr>
              <a:t>常见错误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0488" y="425196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直接 BCELoss(pred, y) 会把 (N,1) 与 (N,) 广播成 (N,N)；loss 仍然是一个数，但含义已经错了。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02 · 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481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71717"/>
                </a:solidFill>
                <a:latin typeface="Microsoft YaHei"/>
                <a:ea typeface="Microsoft YaHei"/>
              </a:rPr>
              <a:t>训练配置：一屏看懂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25296"/>
            <a:ext cx="658368" cy="41148"/>
          </a:xfrm>
          <a:prstGeom prst="rect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2025 逻辑回归实验  ·  Agentic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2623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19 / 39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" y="1481328"/>
          <a:ext cx="6537960" cy="336499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17320"/>
                <a:gridCol w="1417320"/>
                <a:gridCol w="37033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19" b="1" i="0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</a:rPr>
                        <a:t>项目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B9D2C9"/>
                      </a:solidFill>
                    </a:lnB>
                    <a:solidFill>
                      <a:srgbClr val="E8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19" b="1" i="0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</a:rPr>
                        <a:t>值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B9D2C9"/>
                      </a:solidFill>
                    </a:lnB>
                    <a:solidFill>
                      <a:srgbClr val="E8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19" b="1" i="0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</a:rPr>
                        <a:t>说明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B9D2C9"/>
                      </a:solidFill>
                    </a:lnB>
                    <a:solidFill>
                      <a:srgbClr val="E8F1E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19" b="1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optimizer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19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AdamW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19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自适应学习率 + 解耦权重衰减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19" b="1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lr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19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0.005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19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手册配置；不要一上来调太大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19" b="1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epochs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19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100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19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本数据约 10 秒跑完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19" b="1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batch_size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19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64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19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125 个 train batch / epoch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19" b="1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正则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19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L1, 0.005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19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norm_weight；加在 BCE 上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19" b="1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阈值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19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0.5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19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概率 → 0/1 的决策边界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19" b="1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seed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19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42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19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参数初始化 + DataLoader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498079" y="1481328"/>
            <a:ext cx="40233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35823" y="1682496"/>
            <a:ext cx="3547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171717"/>
                </a:solidFill>
                <a:latin typeface="Microsoft YaHei"/>
                <a:ea typeface="Microsoft YaHei"/>
              </a:rPr>
              <a:t>AdamW 的默认值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35823" y="2121408"/>
            <a:ext cx="3547872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80" b="0" i="0">
                <a:solidFill>
                  <a:srgbClr val="6F6A60"/>
                </a:solidFill>
                <a:latin typeface="Microsoft YaHei"/>
                <a:ea typeface="Microsoft YaHei"/>
              </a:rPr>
              <a:t>weight_decay=0.01 是模板默认，等于额外 L2 衰减；本实验没有关掉它。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2898648"/>
            <a:ext cx="40233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35823" y="3099816"/>
            <a:ext cx="3547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171717"/>
                </a:solidFill>
                <a:latin typeface="Microsoft YaHei"/>
                <a:ea typeface="Microsoft YaHei"/>
              </a:rPr>
              <a:t>学习率 0.005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35823" y="3538728"/>
            <a:ext cx="3547872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80" b="0" i="0">
                <a:solidFill>
                  <a:srgbClr val="6F6A60"/>
                </a:solidFill>
                <a:latin typeface="Microsoft YaHei"/>
                <a:ea typeface="Microsoft YaHei"/>
              </a:rPr>
              <a:t>太大震荡，太小收敛慢；先跑 5 个 epoch 看 loss 是否下降。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4315968"/>
            <a:ext cx="40233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35823" y="4517136"/>
            <a:ext cx="3547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171717"/>
                </a:solidFill>
                <a:latin typeface="Microsoft YaHei"/>
                <a:ea typeface="Microsoft YaHei"/>
              </a:rPr>
              <a:t>100 个 epoch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23" y="4956048"/>
            <a:ext cx="3547872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80" b="0" i="0">
                <a:solidFill>
                  <a:srgbClr val="6F6A60"/>
                </a:solidFill>
                <a:latin typeface="Microsoft YaHei"/>
                <a:ea typeface="Microsoft YaHei"/>
              </a:rPr>
              <a:t>在这个数据上 10 秒左右；先跑通，再谈早停与调参。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34924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配置不是越复杂越好：先把 5 个 epoch 跑通，再逐项改；每次只改一个变量。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02 · 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481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71717"/>
                </a:solidFill>
                <a:latin typeface="Microsoft YaHei"/>
                <a:ea typeface="Microsoft YaHei"/>
              </a:rPr>
              <a:t>训练循环：五步 + 一次验证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25296"/>
            <a:ext cx="658368" cy="41148"/>
          </a:xfrm>
          <a:prstGeom prst="rect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2025 逻辑回归实验  ·  Agentic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2623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20 / 39</a:t>
            </a:r>
          </a:p>
        </p:txBody>
      </p:sp>
      <p:sp>
        <p:nvSpPr>
          <p:cNvPr id="7" name="Oval 6"/>
          <p:cNvSpPr/>
          <p:nvPr/>
        </p:nvSpPr>
        <p:spPr>
          <a:xfrm>
            <a:off x="621792" y="1481328"/>
            <a:ext cx="347472" cy="347472"/>
          </a:xfrm>
          <a:prstGeom prst="ellipse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63040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171717"/>
                </a:solidFill>
                <a:latin typeface="Consolas"/>
                <a:ea typeface="Consolas"/>
              </a:rPr>
              <a:t>zero_grad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9152" y="1472184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6F6A60"/>
                </a:solidFill>
                <a:latin typeface="Microsoft YaHei"/>
                <a:ea typeface="Microsoft YaHei"/>
              </a:rPr>
              <a:t>清空上一轮梯度</a:t>
            </a:r>
          </a:p>
        </p:txBody>
      </p:sp>
      <p:sp>
        <p:nvSpPr>
          <p:cNvPr id="10" name="Oval 9"/>
          <p:cNvSpPr/>
          <p:nvPr/>
        </p:nvSpPr>
        <p:spPr>
          <a:xfrm>
            <a:off x="621792" y="2212848"/>
            <a:ext cx="347472" cy="347472"/>
          </a:xfrm>
          <a:prstGeom prst="ellipse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194560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171717"/>
                </a:solidFill>
                <a:latin typeface="Consolas"/>
                <a:ea typeface="Consolas"/>
              </a:rPr>
              <a:t>forward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9152" y="2203704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6F6A60"/>
                </a:solidFill>
                <a:latin typeface="Microsoft YaHei"/>
                <a:ea typeface="Microsoft YaHei"/>
              </a:rPr>
              <a:t>p = model(xb)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" y="2944368"/>
            <a:ext cx="347472" cy="347472"/>
          </a:xfrm>
          <a:prstGeom prst="ellipse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926080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171717"/>
                </a:solidFill>
                <a:latin typeface="Consolas"/>
                <a:ea typeface="Consolas"/>
              </a:rPr>
              <a:t>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9152" y="2935224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6F6A60"/>
                </a:solidFill>
                <a:latin typeface="Microsoft YaHei"/>
                <a:ea typeface="Microsoft YaHei"/>
              </a:rPr>
              <a:t>BCE + 正则项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" y="3675888"/>
            <a:ext cx="347472" cy="347472"/>
          </a:xfrm>
          <a:prstGeom prst="ellipse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657600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171717"/>
                </a:solidFill>
                <a:latin typeface="Consolas"/>
                <a:ea typeface="Consolas"/>
              </a:rPr>
              <a:t>backward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59152" y="3666744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6F6A60"/>
                </a:solidFill>
                <a:latin typeface="Microsoft YaHei"/>
                <a:ea typeface="Microsoft YaHei"/>
              </a:rPr>
              <a:t>自动求梯度</a:t>
            </a:r>
          </a:p>
        </p:txBody>
      </p:sp>
      <p:sp>
        <p:nvSpPr>
          <p:cNvPr id="19" name="Oval 18"/>
          <p:cNvSpPr/>
          <p:nvPr/>
        </p:nvSpPr>
        <p:spPr>
          <a:xfrm>
            <a:off x="621792" y="4407408"/>
            <a:ext cx="347472" cy="347472"/>
          </a:xfrm>
          <a:prstGeom prst="ellipse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389120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171717"/>
                </a:solidFill>
                <a:latin typeface="Consolas"/>
                <a:ea typeface="Consolas"/>
              </a:rPr>
              <a:t>step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59152" y="4398264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6F6A60"/>
                </a:solidFill>
                <a:latin typeface="Microsoft YaHei"/>
                <a:ea typeface="Microsoft YaHei"/>
              </a:rPr>
              <a:t>AdamW 更新参数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5303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80" b="1" i="0">
                <a:solidFill>
                  <a:srgbClr val="0F6B62"/>
                </a:solidFill>
                <a:latin typeface="Microsoft YaHei"/>
                <a:ea typeface="Microsoft YaHei"/>
              </a:rPr>
              <a:t>每个 epoch 后：model.eval() + no_grad() 跑验证集。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1481328"/>
            <a:ext cx="5577840" cy="2560320"/>
          </a:xfrm>
          <a:prstGeom prst="roundRect">
            <a:avLst>
              <a:gd name="adj" fmla="val 8000"/>
            </a:avLst>
          </a:prstGeom>
          <a:solidFill>
            <a:srgbClr val="EFED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0488" y="1591056"/>
            <a:ext cx="5212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6F6A60"/>
                </a:solidFill>
                <a:latin typeface="Microsoft YaHei"/>
                <a:ea typeface="Microsoft YaHei"/>
              </a:rPr>
              <a:t>内层循环：六行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0488" y="1828800"/>
            <a:ext cx="5193792" cy="21214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80" b="0" i="0">
                <a:solidFill>
                  <a:srgbClr val="171717"/>
                </a:solidFill>
                <a:latin typeface="Consolas"/>
              </a:rPr>
              <a:t>for xb, yb in train_loader:</a:t>
            </a:r>
          </a:p>
          <a:p>
            <a:pPr>
              <a:lnSpc>
                <a:spcPct val="110000"/>
              </a:lnSpc>
            </a:pPr>
            <a:r>
              <a:rPr sz="1080" b="0" i="0">
                <a:solidFill>
                  <a:srgbClr val="171717"/>
                </a:solidFill>
                <a:latin typeface="Consolas"/>
              </a:rPr>
              <a:t>    opt.zero_grad()</a:t>
            </a:r>
          </a:p>
          <a:p>
            <a:pPr>
              <a:lnSpc>
                <a:spcPct val="110000"/>
              </a:lnSpc>
            </a:pPr>
            <a:r>
              <a:rPr sz="1080" b="0" i="0">
                <a:solidFill>
                  <a:srgbClr val="171717"/>
                </a:solidFill>
                <a:latin typeface="Consolas"/>
              </a:rPr>
              <a:t>    p = model(xb)</a:t>
            </a:r>
          </a:p>
          <a:p>
            <a:pPr>
              <a:lnSpc>
                <a:spcPct val="110000"/>
              </a:lnSpc>
            </a:pPr>
            <a:r>
              <a:rPr sz="1080" b="0" i="0">
                <a:solidFill>
                  <a:srgbClr val="171717"/>
                </a:solidFill>
                <a:latin typeface="Consolas"/>
              </a:rPr>
              <a:t>    loss = criterion(p, yb) + 0.005 * model.normnize()</a:t>
            </a:r>
          </a:p>
          <a:p>
            <a:pPr>
              <a:lnSpc>
                <a:spcPct val="110000"/>
              </a:lnSpc>
            </a:pPr>
            <a:r>
              <a:rPr sz="1080" b="0" i="0">
                <a:solidFill>
                  <a:srgbClr val="171717"/>
                </a:solidFill>
                <a:latin typeface="Consolas"/>
              </a:rPr>
              <a:t>    loss.backward()</a:t>
            </a:r>
          </a:p>
          <a:p>
            <a:pPr>
              <a:lnSpc>
                <a:spcPct val="110000"/>
              </a:lnSpc>
            </a:pPr>
            <a:r>
              <a:rPr sz="1080" b="0" i="0">
                <a:solidFill>
                  <a:srgbClr val="171717"/>
                </a:solidFill>
                <a:latin typeface="Consolas"/>
              </a:rPr>
              <a:t>    opt.step()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89320" y="4297680"/>
            <a:ext cx="5577840" cy="1234440"/>
          </a:xfrm>
          <a:prstGeom prst="roundRect">
            <a:avLst>
              <a:gd name="adj" fmla="val 8000"/>
            </a:avLst>
          </a:prstGeom>
          <a:solidFill>
            <a:srgbClr val="F3E4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4425696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B85C38"/>
                </a:solidFill>
                <a:latin typeface="Microsoft YaHei"/>
                <a:ea typeface="Microsoft YaHei"/>
              </a:rPr>
              <a:t>模板里的三个小问题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690872"/>
            <a:ext cx="5212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30" b="0" i="0">
                <a:solidFill>
                  <a:srgbClr val="6F6A60"/>
                </a:solidFill>
                <a:latin typeface="Microsoft YaHei"/>
                <a:ea typeface="Microsoft YaHei"/>
              </a:rPr>
              <a:t>① 先验证后训练；② val_input/val_label 覆盖外层变量；③ 每个 batch 新建 loss_fn。建议改成先训练后验证，变量名用 xb/yb。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02 · 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481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71717"/>
                </a:solidFill>
                <a:latin typeface="Microsoft YaHei"/>
                <a:ea typeface="Microsoft YaHei"/>
              </a:rPr>
              <a:t>评估：别被 50% 骗了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25296"/>
            <a:ext cx="658368" cy="41148"/>
          </a:xfrm>
          <a:prstGeom prst="rect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2025 逻辑回归实验  ·  Agentic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2623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21 / 39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" y="1481328"/>
          <a:ext cx="4160520" cy="1371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17320"/>
                <a:gridCol w="1371600"/>
                <a:gridCol w="1371600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</a:pPr>
                      <a:r>
                        <a:rPr sz="1200" b="1" i="0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</a:rPr>
                        <a:t/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B9D2C9"/>
                      </a:solidFill>
                    </a:lnB>
                    <a:solidFill>
                      <a:srgbClr val="E8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sz="1200" b="1" i="0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</a:rPr>
                        <a:t>Pred 0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B9D2C9"/>
                      </a:solidFill>
                    </a:lnB>
                    <a:solidFill>
                      <a:srgbClr val="E8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sz="1200" b="1" i="0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</a:rPr>
                        <a:t>Pred 1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B9D2C9"/>
                      </a:solidFill>
                    </a:lnB>
                    <a:solidFill>
                      <a:srgbClr val="E8F1E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</a:pPr>
                      <a:r>
                        <a:rPr sz="1200" b="1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True 0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sz="120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328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sz="120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182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</a:pPr>
                      <a:r>
                        <a:rPr sz="1200" b="1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True 1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sz="120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183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sz="120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307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792" y="3520440"/>
            <a:ext cx="4160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6F6A60"/>
                </a:solidFill>
                <a:latin typeface="Microsoft YaHei"/>
                <a:ea typeface="Microsoft YaHei"/>
              </a:rPr>
              <a:t>测试集，阈值 = 0.5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931920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6F6A60"/>
                </a:solidFill>
                <a:latin typeface="Microsoft YaHei"/>
                <a:ea typeface="Microsoft YaHei"/>
              </a:rP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9072" y="387705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F6B62"/>
                </a:solidFill>
                <a:latin typeface="Microsoft YaHei"/>
                <a:ea typeface="Microsoft YaHei"/>
              </a:rPr>
              <a:t>0.635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0632" y="3931920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6F6A60"/>
                </a:solidFill>
                <a:latin typeface="Microsoft YaHei"/>
                <a:ea typeface="Microsoft YaHei"/>
              </a:rPr>
              <a:t>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67912" y="387705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F6B62"/>
                </a:solidFill>
                <a:latin typeface="Microsoft YaHei"/>
                <a:ea typeface="Microsoft YaHei"/>
              </a:rPr>
              <a:t>0.628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59028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6F6A60"/>
                </a:solidFill>
                <a:latin typeface="Microsoft YaHei"/>
                <a:ea typeface="Microsoft YaHei"/>
              </a:rPr>
              <a:t>Recall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9072" y="453542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F6B62"/>
                </a:solidFill>
                <a:latin typeface="Microsoft YaHei"/>
                <a:ea typeface="Microsoft YaHei"/>
              </a:rPr>
              <a:t>0.627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0632" y="459028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6F6A60"/>
                </a:solidFill>
                <a:latin typeface="Microsoft YaHei"/>
                <a:ea typeface="Microsoft YaHei"/>
              </a:rPr>
              <a:t>F1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453542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F6B62"/>
                </a:solidFill>
                <a:latin typeface="Microsoft YaHei"/>
                <a:ea typeface="Microsoft YaHei"/>
              </a:rPr>
              <a:t>0.627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248656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6F6A60"/>
                </a:solidFill>
                <a:latin typeface="Microsoft YaHei"/>
                <a:ea typeface="Microsoft YaHei"/>
              </a:rPr>
              <a:t>ROC-AUC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19072" y="519379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F6B62"/>
                </a:solidFill>
                <a:latin typeface="Microsoft YaHei"/>
                <a:ea typeface="Microsoft YaHei"/>
              </a:rPr>
              <a:t>0.690</a:t>
            </a:r>
          </a:p>
        </p:txBody>
      </p:sp>
      <p:pic>
        <p:nvPicPr>
          <p:cNvPr id="19" name="Picture 18" descr="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417320"/>
            <a:ext cx="6263640" cy="294368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49240" y="448056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171717"/>
                </a:solidFill>
                <a:latin typeface="Microsoft YaHei"/>
                <a:ea typeface="Microsoft YaHei"/>
              </a:rPr>
              <a:t>AUC 与阈值无关；阈值升高通常 precision↑、recall↓。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493776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6F6A60"/>
                </a:solidFill>
                <a:latin typeface="Microsoft YaHei"/>
                <a:ea typeface="Microsoft YaHei"/>
              </a:rPr>
              <a:t>本数据接近 1:1，所以 accuracy 有参考价值；类别不均衡时不能只看它。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02 · 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481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71717"/>
                </a:solidFill>
                <a:latin typeface="Microsoft YaHei"/>
                <a:ea typeface="Microsoft YaHei"/>
              </a:rPr>
              <a:t>结果：0.635 / 0.690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25296"/>
            <a:ext cx="658368" cy="41148"/>
          </a:xfrm>
          <a:prstGeom prst="rect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2025 逻辑回归实验  ·  Agentic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2623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22 / 39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" y="1417320"/>
          <a:ext cx="10012679" cy="14630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74519"/>
                <a:gridCol w="1600200"/>
                <a:gridCol w="1737360"/>
                <a:gridCol w="1508760"/>
                <a:gridCol w="1463040"/>
                <a:gridCol w="182880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</a:pPr>
                      <a:r>
                        <a:rPr sz="1050" b="1" i="0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</a:rPr>
                        <a:t>数据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B9D2C9"/>
                      </a:solidFill>
                    </a:lnB>
                    <a:solidFill>
                      <a:srgbClr val="E8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sz="1050" b="1" i="0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</a:rPr>
                        <a:t>Accuracy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B9D2C9"/>
                      </a:solidFill>
                    </a:lnB>
                    <a:solidFill>
                      <a:srgbClr val="E8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sz="1050" b="1" i="0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</a:rPr>
                        <a:t>Precision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B9D2C9"/>
                      </a:solidFill>
                    </a:lnB>
                    <a:solidFill>
                      <a:srgbClr val="E8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sz="1050" b="1" i="0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</a:rPr>
                        <a:t>Recall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B9D2C9"/>
                      </a:solidFill>
                    </a:lnB>
                    <a:solidFill>
                      <a:srgbClr val="E8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sz="1050" b="1" i="0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</a:rPr>
                        <a:t>F1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B9D2C9"/>
                      </a:solidFill>
                    </a:lnB>
                    <a:solidFill>
                      <a:srgbClr val="E8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sz="1050" b="1" i="0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</a:rPr>
                        <a:t>ROC-AUC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B9D2C9"/>
                      </a:solidFill>
                    </a:lnB>
                    <a:solidFill>
                      <a:srgbClr val="E8F1E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</a:pPr>
                      <a:r>
                        <a:rPr sz="10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train (8000)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sz="10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0.6446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sz="10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0.6453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sz="10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0.6442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sz="10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0.6448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sz="10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0.7005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</a:pPr>
                      <a:r>
                        <a:rPr sz="10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val (1000)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sz="10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0.6550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sz="10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0.6606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sz="10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0.6515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sz="10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0.6560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sz="10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0.6969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</a:pPr>
                      <a:r>
                        <a:rPr sz="10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test (1000)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sz="10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0.6350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sz="10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0.6278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sz="10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0.6265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sz="10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0.6272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sz="10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0.6897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127248"/>
            <a:ext cx="7178040" cy="260588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2440" y="3127248"/>
            <a:ext cx="3456432" cy="2514600"/>
          </a:xfrm>
          <a:prstGeom prst="roundRect">
            <a:avLst>
              <a:gd name="adj" fmla="val 8000"/>
            </a:avLst>
          </a:prstGeom>
          <a:solidFill>
            <a:srgbClr val="E8F1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4464" y="3291840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0F6B62"/>
                </a:solidFill>
                <a:latin typeface="Microsoft YaHei"/>
                <a:ea typeface="Microsoft YaHei"/>
              </a:rPr>
              <a:t>与手册对齐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4464" y="3584448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0F6B62"/>
                </a:solidFill>
                <a:latin typeface="Microsoft YaHei"/>
                <a:ea typeface="Microsoft YaHei"/>
              </a:rPr>
              <a:t>Val 0.6550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406908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F6A60"/>
                </a:solidFill>
                <a:latin typeface="Microsoft YaHei"/>
                <a:ea typeface="Microsoft YaHei"/>
              </a:rPr>
              <a:t>手册示例是 0.655；数字吻合说明管线与配置符合预期，但不是正确性证明。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4464" y="4846320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171717"/>
                </a:solidFill>
                <a:latin typeface="Microsoft YaHei"/>
                <a:ea typeface="Microsoft YaHei"/>
              </a:rPr>
              <a:t>Test AUC 0.6897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5138928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171717"/>
                </a:solidFill>
                <a:latin typeface="Microsoft YaHei"/>
                <a:ea typeface="Microsoft YaHei"/>
              </a:rPr>
              <a:t>L1 范数 3.61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57607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i="0">
                <a:solidFill>
                  <a:srgbClr val="6F6A60"/>
                </a:solidFill>
                <a:latin typeface="Microsoft YaHei"/>
                <a:ea typeface="Microsoft YaHei"/>
              </a:rPr>
              <a:t>50% 是基线；1000 条测试集标准误约 1.5pt；sklearn 线性基线 AUC 0.692、HGB 0.695——0.69 已接近这批特征的上限，不要过度解读 1% 差异。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02 · 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481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71717"/>
                </a:solidFill>
                <a:latin typeface="Microsoft YaHei"/>
                <a:ea typeface="Microsoft YaHei"/>
              </a:rPr>
              <a:t>曲线在说什么：过拟合、欠拟合还是瓶颈？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25296"/>
            <a:ext cx="658368" cy="41148"/>
          </a:xfrm>
          <a:prstGeom prst="rect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2025 逻辑回归实验  ·  Agentic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2623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23 / 39</a:t>
            </a:r>
          </a:p>
        </p:txBody>
      </p:sp>
      <p:pic>
        <p:nvPicPr>
          <p:cNvPr id="7" name="Picture 6" descr="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444752"/>
            <a:ext cx="7452360" cy="27127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183879" y="1481328"/>
            <a:ext cx="338328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159105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0F6B62"/>
                </a:solidFill>
                <a:latin typeface="Microsoft YaHei"/>
                <a:ea typeface="Microsoft YaHei"/>
              </a:rPr>
              <a:t>过拟合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883664"/>
            <a:ext cx="3017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F6A60"/>
                </a:solidFill>
                <a:latin typeface="Microsoft YaHei"/>
                <a:ea typeface="Microsoft YaHei"/>
              </a:rPr>
              <a:t>train 持续下降，val 先降后升，gap 变大。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2834640"/>
            <a:ext cx="338328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294436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0F6B62"/>
                </a:solidFill>
                <a:latin typeface="Microsoft YaHei"/>
                <a:ea typeface="Microsoft YaHei"/>
              </a:rPr>
              <a:t>欠拟合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3236976"/>
            <a:ext cx="3017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F6A60"/>
                </a:solidFill>
                <a:latin typeface="Microsoft YaHei"/>
                <a:ea typeface="Microsoft YaHei"/>
              </a:rPr>
              <a:t>train 和 val 都高、都不降；模型太弱或没训够。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4187952"/>
            <a:ext cx="338328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4297680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0F6B62"/>
                </a:solidFill>
                <a:latin typeface="Microsoft YaHei"/>
                <a:ea typeface="Microsoft YaHei"/>
              </a:rPr>
              <a:t>信息瓶颈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4590288"/>
            <a:ext cx="3017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F6A60"/>
                </a:solidFill>
                <a:latin typeface="Microsoft YaHei"/>
                <a:ea typeface="Microsoft YaHei"/>
              </a:rPr>
              <a:t>train ≈ val，都不高；特征本身信号有限。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44068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171717"/>
                </a:solidFill>
                <a:latin typeface="Microsoft YaHei"/>
                <a:ea typeface="Microsoft YaHei"/>
              </a:rPr>
              <a:t>本实验 train ≈ val ≈ 0.65：更像“信息瓶颈”，不是过拟合；所以加参数、加层通常没用。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02 · 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481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71717"/>
                </a:solidFill>
                <a:latin typeface="Microsoft YaHei"/>
                <a:ea typeface="Microsoft YaHei"/>
              </a:rPr>
              <a:t>六个高频坑：症状 → 修法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25296"/>
            <a:ext cx="658368" cy="41148"/>
          </a:xfrm>
          <a:prstGeom prst="rect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2025 逻辑回归实验  ·  Agentic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2623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24 / 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481328"/>
            <a:ext cx="3493008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2" y="1645920"/>
            <a:ext cx="292608" cy="292608"/>
          </a:xfrm>
          <a:prstGeom prst="ellipse">
            <a:avLst/>
          </a:prstGeom>
          <a:solidFill>
            <a:srgbClr val="B85C3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62763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171717"/>
                </a:solidFill>
                <a:latin typeface="Microsoft YaHei"/>
                <a:ea typeface="Microsoft YaHei"/>
              </a:rPr>
              <a:t>BCELoss 广播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029968"/>
            <a:ext cx="315468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30" b="0" i="0">
                <a:solidFill>
                  <a:srgbClr val="6F6A60"/>
                </a:solidFill>
                <a:latin typeface="Microsoft YaHei"/>
                <a:ea typeface="Microsoft YaHei"/>
              </a:rPr>
              <a:t>p (N,1) + y (N,) → (N,N)。loss 看似正常但不收敛。修：view(-1)。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481328"/>
            <a:ext cx="3493008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80559" y="1645920"/>
            <a:ext cx="292608" cy="292608"/>
          </a:xfrm>
          <a:prstGeom prst="ellipse">
            <a:avLst/>
          </a:prstGeom>
          <a:solidFill>
            <a:srgbClr val="B85C3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4607" y="162763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171717"/>
                </a:solidFill>
                <a:latin typeface="Microsoft YaHei"/>
                <a:ea typeface="Microsoft YaHei"/>
              </a:rPr>
              <a:t>log(0)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029968"/>
            <a:ext cx="315468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30" b="0" i="0">
                <a:solidFill>
                  <a:srgbClr val="6F6A60"/>
                </a:solidFill>
                <a:latin typeface="Microsoft YaHei"/>
                <a:ea typeface="Microsoft YaHei"/>
              </a:rPr>
              <a:t>sigmoid 饱和到 0/1，出现 NaN/Inf。修：clamp 到 [1e-7, 1-1e-7]。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7" y="1481328"/>
            <a:ext cx="3493008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56447" y="1645920"/>
            <a:ext cx="292608" cy="292608"/>
          </a:xfrm>
          <a:prstGeom prst="ellipse">
            <a:avLst/>
          </a:prstGeom>
          <a:solidFill>
            <a:srgbClr val="B85C3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0495" y="162763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171717"/>
                </a:solidFill>
                <a:latin typeface="Microsoft YaHei"/>
                <a:ea typeface="Microsoft YaHei"/>
              </a:rPr>
              <a:t>RNG 耦合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7" y="2029968"/>
            <a:ext cx="315468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30" b="0" i="0">
                <a:solidFill>
                  <a:srgbClr val="6F6A60"/>
                </a:solidFill>
                <a:latin typeface="Microsoft YaHei"/>
                <a:ea typeface="Microsoft YaHei"/>
              </a:rPr>
              <a:t>验证集迭代也消耗 RNG；notebook 与脚本不同。修：独立 generator。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3419856"/>
            <a:ext cx="3493008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4672" y="3584448"/>
            <a:ext cx="292608" cy="292608"/>
          </a:xfrm>
          <a:prstGeom prst="ellipse">
            <a:avLst/>
          </a:prstGeom>
          <a:solidFill>
            <a:srgbClr val="B85C3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56616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171717"/>
                </a:solidFill>
                <a:latin typeface="Microsoft YaHei"/>
                <a:ea typeface="Microsoft YaHei"/>
              </a:rPr>
              <a:t>L1 过稀疏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3968496"/>
            <a:ext cx="315468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30" b="0" i="0">
                <a:solidFill>
                  <a:srgbClr val="6F6A60"/>
                </a:solidFill>
                <a:latin typeface="Microsoft YaHei"/>
                <a:ea typeface="Microsoft YaHei"/>
              </a:rPr>
              <a:t>44 维、0.005 偏强；34 个权重≈0。先看验证曲线，再调权重。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79" y="3419856"/>
            <a:ext cx="3493008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80559" y="3584448"/>
            <a:ext cx="292608" cy="292608"/>
          </a:xfrm>
          <a:prstGeom prst="ellipse">
            <a:avLst/>
          </a:prstGeom>
          <a:solidFill>
            <a:srgbClr val="B85C3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4607" y="356616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171717"/>
                </a:solidFill>
                <a:latin typeface="Microsoft YaHei"/>
                <a:ea typeface="Microsoft YaHei"/>
              </a:rPr>
              <a:t>dtype 不一致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59" y="3968496"/>
            <a:ext cx="315468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30" b="0" i="0">
                <a:solidFill>
                  <a:srgbClr val="6F6A60"/>
                </a:solidFill>
                <a:latin typeface="Microsoft YaHei"/>
                <a:ea typeface="Microsoft YaHei"/>
              </a:rPr>
              <a:t>标签用 long、概率用 float64。BCELoss 报错。修：显式 float32。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73567" y="3419856"/>
            <a:ext cx="3493008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156447" y="3584448"/>
            <a:ext cx="292608" cy="292608"/>
          </a:xfrm>
          <a:prstGeom prst="ellipse">
            <a:avLst/>
          </a:prstGeom>
          <a:solidFill>
            <a:srgbClr val="B85C3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5" y="356616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171717"/>
                </a:solidFill>
                <a:latin typeface="Microsoft YaHei"/>
                <a:ea typeface="Microsoft YaHei"/>
              </a:rPr>
              <a:t>模板顺序/遮蔽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7" y="3968496"/>
            <a:ext cx="315468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30" b="0" i="0">
                <a:solidFill>
                  <a:srgbClr val="6F6A60"/>
                </a:solidFill>
                <a:latin typeface="Microsoft YaHei"/>
                <a:ea typeface="Microsoft YaHei"/>
              </a:rPr>
              <a:t>先验证后训练、val_* 覆盖外层变量。改成先训练后验证，用 xb/yb。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5650992"/>
            <a:ext cx="1094811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i="0">
                <a:solidFill>
                  <a:srgbClr val="0F6B62"/>
                </a:solidFill>
                <a:latin typeface="Microsoft YaHei"/>
                <a:ea typeface="Microsoft YaHei"/>
              </a:rPr>
              <a:t>能复现，才算定位；能验收，才算修好。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02 · 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481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71717"/>
                </a:solidFill>
                <a:latin typeface="Microsoft YaHei"/>
                <a:ea typeface="Microsoft YaHei"/>
              </a:rPr>
              <a:t>评分与提交：10 分，两个硬要求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25296"/>
            <a:ext cx="658368" cy="41148"/>
          </a:xfrm>
          <a:prstGeom prst="rect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2025 逻辑回归实验  ·  Agentic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2623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25 / 39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" y="1481328"/>
          <a:ext cx="6720840" cy="2148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00200"/>
                <a:gridCol w="868680"/>
                <a:gridCol w="4251960"/>
              </a:tblGrid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</a:pPr>
                      <a:r>
                        <a:rPr sz="1050" b="1" i="0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</a:rPr>
                        <a:t>评分块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B9D2C9"/>
                      </a:solidFill>
                    </a:lnB>
                    <a:solidFill>
                      <a:srgbClr val="E8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sz="1050" b="1" i="0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</a:rPr>
                        <a:t>分值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B9D2C9"/>
                      </a:solidFill>
                    </a:lnB>
                    <a:solidFill>
                      <a:srgbClr val="E8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</a:pPr>
                      <a:r>
                        <a:rPr sz="1050" b="1" i="0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</a:rPr>
                        <a:t>交付证据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B9D2C9"/>
                      </a:solidFill>
                    </a:lnB>
                    <a:solidFill>
                      <a:srgbClr val="E8F1ED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</a:pPr>
                      <a:r>
                        <a:rPr sz="10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环境与数据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sz="10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</a:pPr>
                      <a:r>
                        <a:rPr sz="10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环境、读取、清洗、Dataset/DataLoader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</a:pPr>
                      <a:r>
                        <a:rPr sz="10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模型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sz="10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4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</a:pPr>
                      <a:r>
                        <a:rPr sz="10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init、sigmoid、forward、L1/L2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</a:pPr>
                      <a:r>
                        <a:rPr sz="10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训练与评估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sz="10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</a:pPr>
                      <a:r>
                        <a:rPr sz="10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BCE、测试评估、最后 markdown 反思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</a:pPr>
                      <a:r>
                        <a:rPr sz="10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合计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sz="10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10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</a:pPr>
                      <a:r>
                        <a:rPr sz="10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/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792" y="3986784"/>
            <a:ext cx="6675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30" b="0" i="0">
                <a:solidFill>
                  <a:srgbClr val="6F6A60"/>
                </a:solidFill>
                <a:latin typeface="Microsoft YaHei"/>
                <a:ea typeface="Microsoft YaHei"/>
              </a:rPr>
              <a:t>代码对照：清洗 c3/c5 · Dataset c9/c11 · 模型 c14 · 评估 c16 · 反思末格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481328"/>
            <a:ext cx="3959352" cy="2423160"/>
          </a:xfrm>
          <a:prstGeom prst="roundRect">
            <a:avLst>
              <a:gd name="adj" fmla="val 8000"/>
            </a:avLst>
          </a:prstGeom>
          <a:solidFill>
            <a:srgbClr val="F3E4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90688" y="1627632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B85C38"/>
                </a:solidFill>
                <a:latin typeface="Microsoft YaHei"/>
                <a:ea typeface="Microsoft YaHei"/>
              </a:rPr>
              <a:t>提交清单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1920240"/>
            <a:ext cx="35661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28000"/>
              </a:lnSpc>
              <a:spcAft>
                <a:spcPts val="400"/>
              </a:spcAft>
            </a:pPr>
            <a:r>
              <a:rPr sz="1050" b="1" i="0">
                <a:solidFill>
                  <a:srgbClr val="0F6B62"/>
                </a:solidFill>
                <a:latin typeface="Microsoft YaHei"/>
                <a:ea typeface="Microsoft YaHei"/>
              </a:rPr>
              <a:t>·  </a:t>
            </a:r>
            <a:r>
              <a:rPr sz="1050" b="0" i="0">
                <a:solidFill>
                  <a:srgbClr val="171717"/>
                </a:solidFill>
                <a:latin typeface="Microsoft YaHei"/>
                <a:ea typeface="Microsoft YaHei"/>
              </a:rPr>
              <a:t>可执行的 logic.ipynb</a:t>
            </a:r>
          </a:p>
          <a:p>
            <a:pPr marL="274320" indent="-274320">
              <a:lnSpc>
                <a:spcPct val="128000"/>
              </a:lnSpc>
              <a:spcAft>
                <a:spcPts val="400"/>
              </a:spcAft>
            </a:pPr>
            <a:r>
              <a:rPr sz="1050" b="1" i="0">
                <a:solidFill>
                  <a:srgbClr val="0F6B62"/>
                </a:solidFill>
                <a:latin typeface="Microsoft YaHei"/>
                <a:ea typeface="Microsoft YaHei"/>
              </a:rPr>
              <a:t>·  </a:t>
            </a:r>
            <a:r>
              <a:rPr sz="1050" b="0" i="0">
                <a:solidFill>
                  <a:srgbClr val="171717"/>
                </a:solidFill>
                <a:latin typeface="Microsoft YaHei"/>
                <a:ea typeface="Microsoft YaHei"/>
              </a:rPr>
              <a:t>最后一格 markdown 反思</a:t>
            </a:r>
          </a:p>
          <a:p>
            <a:pPr marL="274320" indent="-274320">
              <a:lnSpc>
                <a:spcPct val="128000"/>
              </a:lnSpc>
              <a:spcAft>
                <a:spcPts val="400"/>
              </a:spcAft>
            </a:pPr>
            <a:r>
              <a:rPr sz="1050" b="1" i="0">
                <a:solidFill>
                  <a:srgbClr val="0F6B62"/>
                </a:solidFill>
                <a:latin typeface="Microsoft YaHei"/>
                <a:ea typeface="Microsoft YaHei"/>
              </a:rPr>
              <a:t>·  </a:t>
            </a:r>
            <a:r>
              <a:rPr sz="1050" b="0" i="0">
                <a:solidFill>
                  <a:srgbClr val="171717"/>
                </a:solidFill>
                <a:latin typeface="Microsoft YaHei"/>
                <a:ea typeface="Microsoft YaHei"/>
              </a:rPr>
              <a:t>学号_姓名_logic.zip</a:t>
            </a:r>
          </a:p>
          <a:p>
            <a:pPr marL="274320" indent="-274320">
              <a:lnSpc>
                <a:spcPct val="128000"/>
              </a:lnSpc>
              <a:spcAft>
                <a:spcPts val="400"/>
              </a:spcAft>
            </a:pPr>
            <a:r>
              <a:rPr sz="1050" b="1" i="0">
                <a:solidFill>
                  <a:srgbClr val="0F6B62"/>
                </a:solidFill>
                <a:latin typeface="Microsoft YaHei"/>
                <a:ea typeface="Microsoft YaHei"/>
              </a:rPr>
              <a:t>·  </a:t>
            </a:r>
            <a:r>
              <a:rPr sz="1050" b="0" i="0">
                <a:solidFill>
                  <a:srgbClr val="171717"/>
                </a:solidFill>
                <a:latin typeface="Microsoft YaHei"/>
                <a:ea typeface="Microsoft YaHei"/>
              </a:rPr>
              <a:t>verify_submission.py 全 PASS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4224528"/>
            <a:ext cx="10927080" cy="960120"/>
          </a:xfrm>
          <a:prstGeom prst="roundRect">
            <a:avLst>
              <a:gd name="adj" fmla="val 8000"/>
            </a:avLst>
          </a:prstGeom>
          <a:solidFill>
            <a:srgbClr val="E8F1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4370832"/>
            <a:ext cx="10424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0F6B62"/>
                </a:solidFill>
                <a:latin typeface="Microsoft YaHei"/>
                <a:ea typeface="Microsoft YaHei"/>
              </a:rPr>
              <a:t>手册示例 Val Accuracy = 0.655；本次 0.6550。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681728"/>
            <a:ext cx="10424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数字吻合不是正确性证明；评分看的是可运行、可复核的证据。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594360"/>
            <a:ext cx="2743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7800" b="1" i="0">
                <a:solidFill>
                  <a:srgbClr val="CFE3DC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2057400"/>
            <a:ext cx="1051560" cy="54864"/>
          </a:xfrm>
          <a:prstGeom prst="rect">
            <a:avLst/>
          </a:prstGeom>
          <a:solidFill>
            <a:srgbClr val="CFE3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2331720"/>
            <a:ext cx="89611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Microsoft YaHei"/>
                <a:ea typeface="Microsoft YaHei"/>
              </a:rPr>
              <a:t>从模型到 Agentic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3246120"/>
            <a:ext cx="8229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C9C3B6"/>
                </a:solidFill>
                <a:latin typeface="Microsoft YaHei"/>
                <a:ea typeface="Microsoft YaHei"/>
              </a:rPr>
              <a:t>Agent · Prompt · Context · Harness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922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B9B3A6"/>
                </a:solidFill>
                <a:latin typeface="Microsoft YaHei"/>
                <a:ea typeface="Microsoft YaHei"/>
              </a:rPr>
              <a:t>2025 逻辑回归实验  ·  Agentic Programming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2623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>
                <a:solidFill>
                  <a:srgbClr val="B9B3A6"/>
                </a:solidFill>
                <a:latin typeface="Microsoft YaHei"/>
                <a:ea typeface="Microsoft YaHei"/>
              </a:rPr>
              <a:t>26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10896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CFE3DC"/>
                </a:solidFill>
                <a:latin typeface="Microsoft YaHei"/>
                <a:ea typeface="Microsoft YaHei"/>
              </a:rPr>
              <a:t>03 · AGENT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03 ·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481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71717"/>
                </a:solidFill>
                <a:latin typeface="Microsoft YaHei"/>
                <a:ea typeface="Microsoft YaHei"/>
              </a:rPr>
              <a:t>Agent 比 LLM 老得多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25296"/>
            <a:ext cx="658368" cy="41148"/>
          </a:xfrm>
          <a:prstGeom prst="rect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2025 逻辑回归实验  ·  Agentic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2623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27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44752"/>
            <a:ext cx="10881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171717"/>
                </a:solidFill>
                <a:latin typeface="Microsoft YaHei"/>
                <a:ea typeface="Microsoft YaHei"/>
              </a:rPr>
              <a:t>Agent = 能感知环境、作出决策、采取行动影响环境的实体。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011680"/>
            <a:ext cx="34290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3969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171717"/>
                </a:solidFill>
                <a:latin typeface="Microsoft YaHei"/>
                <a:ea typeface="Microsoft YaHei"/>
              </a:rPr>
              <a:t>感知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14016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0F6B62"/>
                </a:solidFill>
                <a:latin typeface="Consolas"/>
                <a:ea typeface="Consolas"/>
              </a:rPr>
              <a:t>sensors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F6A60"/>
                </a:solidFill>
                <a:latin typeface="Microsoft YaHei"/>
                <a:ea typeface="Microsoft YaHei"/>
              </a:rPr>
              <a:t>读文件、grep、终端输出、测试报错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14800" y="2532888"/>
            <a:ext cx="146304" cy="0"/>
          </a:xfrm>
          <a:prstGeom prst="line">
            <a:avLst/>
          </a:prstGeom>
          <a:ln w="16510">
            <a:solidFill>
              <a:srgbClr val="0F6B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297679" y="2011680"/>
            <a:ext cx="34290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7" y="213969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171717"/>
                </a:solidFill>
                <a:latin typeface="Microsoft YaHei"/>
                <a:ea typeface="Microsoft YaHei"/>
              </a:rPr>
              <a:t>决策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7" y="2414016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0F6B62"/>
                </a:solidFill>
                <a:latin typeface="Consolas"/>
                <a:ea typeface="Consolas"/>
              </a:rPr>
              <a:t>policy / 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7" y="2651760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F6A60"/>
                </a:solidFill>
                <a:latin typeface="Microsoft YaHei"/>
                <a:ea typeface="Microsoft YaHei"/>
              </a:rPr>
              <a:t>选下一步：读、改、运行、问人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90687" y="2532888"/>
            <a:ext cx="146304" cy="0"/>
          </a:xfrm>
          <a:prstGeom prst="line">
            <a:avLst/>
          </a:prstGeom>
          <a:ln w="16510">
            <a:solidFill>
              <a:srgbClr val="0F6B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973567" y="2011680"/>
            <a:ext cx="34290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74735" y="213969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171717"/>
                </a:solidFill>
                <a:latin typeface="Microsoft YaHei"/>
                <a:ea typeface="Microsoft YaHei"/>
              </a:rPr>
              <a:t>行动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4735" y="2414016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0F6B62"/>
                </a:solidFill>
                <a:latin typeface="Consolas"/>
                <a:ea typeface="Consolas"/>
              </a:rPr>
              <a:t>actuators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5" y="2651760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F6A60"/>
                </a:solidFill>
                <a:latin typeface="Microsoft YaHei"/>
                <a:ea typeface="Microsoft YaHei"/>
              </a:rPr>
              <a:t>编辑文件、跑 python、调用工具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3456432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0F6B62"/>
                </a:solidFill>
                <a:latin typeface="Microsoft YaHei"/>
                <a:ea typeface="Microsoft YaHei"/>
              </a:rPr>
              <a:t>概念时间线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" y="4160520"/>
            <a:ext cx="10698480" cy="18288"/>
          </a:xfrm>
          <a:prstGeom prst="rect">
            <a:avLst/>
          </a:prstGeom>
          <a:solidFill>
            <a:srgbClr val="D8D3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3232" y="4069080"/>
            <a:ext cx="164592" cy="164592"/>
          </a:xfrm>
          <a:prstGeom prst="ellipse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600" b="1" i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3639312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0F6B62"/>
                </a:solidFill>
                <a:latin typeface="Microsoft YaHei"/>
                <a:ea typeface="Microsoft YaHei"/>
              </a:rPr>
              <a:t>1995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434340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71717"/>
                </a:solidFill>
                <a:latin typeface="Microsoft YaHei"/>
                <a:ea typeface="Microsoft YaHei"/>
              </a:rPr>
              <a:t>Wooldridge &amp; Jennings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4773168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0" i="0">
                <a:solidFill>
                  <a:srgbClr val="6F6A60"/>
                </a:solidFill>
                <a:latin typeface="Microsoft YaHei"/>
                <a:ea typeface="Microsoft YaHei"/>
              </a:rPr>
              <a:t>自主、交互、感知、主动</a:t>
            </a:r>
          </a:p>
        </p:txBody>
      </p:sp>
      <p:sp>
        <p:nvSpPr>
          <p:cNvPr id="28" name="Oval 27"/>
          <p:cNvSpPr/>
          <p:nvPr/>
        </p:nvSpPr>
        <p:spPr>
          <a:xfrm>
            <a:off x="2889504" y="4069080"/>
            <a:ext cx="164592" cy="164592"/>
          </a:xfrm>
          <a:prstGeom prst="ellipse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600" b="1" i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98064" y="3639312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0F6B62"/>
                </a:solidFill>
                <a:latin typeface="Microsoft YaHei"/>
                <a:ea typeface="Microsoft YaHei"/>
              </a:rPr>
              <a:t>2000s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98064" y="434340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71717"/>
                </a:solidFill>
                <a:latin typeface="Microsoft YaHei"/>
                <a:ea typeface="Microsoft YaHei"/>
              </a:rPr>
              <a:t>AIMA 第 2 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98064" y="4773168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0" i="0">
                <a:solidFill>
                  <a:srgbClr val="6F6A60"/>
                </a:solidFill>
                <a:latin typeface="Microsoft YaHei"/>
                <a:ea typeface="Microsoft YaHei"/>
              </a:rPr>
              <a:t>感知—决策—行动</a:t>
            </a:r>
          </a:p>
        </p:txBody>
      </p:sp>
      <p:sp>
        <p:nvSpPr>
          <p:cNvPr id="32" name="Oval 31"/>
          <p:cNvSpPr/>
          <p:nvPr/>
        </p:nvSpPr>
        <p:spPr>
          <a:xfrm>
            <a:off x="5065776" y="4069080"/>
            <a:ext cx="164592" cy="164592"/>
          </a:xfrm>
          <a:prstGeom prst="ellipse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600" b="1" i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74336" y="3639312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0F6B62"/>
                </a:solidFill>
                <a:latin typeface="Microsoft YaHei"/>
                <a:ea typeface="Microsoft YaHei"/>
              </a:rPr>
              <a:t>2022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74336" y="434340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71717"/>
                </a:solidFill>
                <a:latin typeface="Microsoft YaHei"/>
                <a:ea typeface="Microsoft YaHei"/>
              </a:rPr>
              <a:t>ReAct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74336" y="4773168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0" i="0">
                <a:solidFill>
                  <a:srgbClr val="6F6A60"/>
                </a:solidFill>
                <a:latin typeface="Microsoft YaHei"/>
                <a:ea typeface="Microsoft YaHei"/>
              </a:rPr>
              <a:t>推理与行动交错</a:t>
            </a:r>
          </a:p>
        </p:txBody>
      </p:sp>
      <p:sp>
        <p:nvSpPr>
          <p:cNvPr id="36" name="Oval 35"/>
          <p:cNvSpPr/>
          <p:nvPr/>
        </p:nvSpPr>
        <p:spPr>
          <a:xfrm>
            <a:off x="7242047" y="4069080"/>
            <a:ext cx="164592" cy="164592"/>
          </a:xfrm>
          <a:prstGeom prst="ellipse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600" b="1" i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50607" y="3639312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0F6B62"/>
                </a:solidFill>
                <a:latin typeface="Microsoft YaHei"/>
                <a:ea typeface="Microsoft YaHei"/>
              </a:rPr>
              <a:t>2024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50607" y="434340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71717"/>
                </a:solidFill>
                <a:latin typeface="Microsoft YaHei"/>
                <a:ea typeface="Microsoft YaHei"/>
              </a:rPr>
              <a:t>Coding agents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50607" y="4773168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0" i="0">
                <a:solidFill>
                  <a:srgbClr val="6F6A60"/>
                </a:solidFill>
                <a:latin typeface="Microsoft YaHei"/>
                <a:ea typeface="Microsoft YaHei"/>
              </a:rPr>
              <a:t>工具 + 测试 + 仓库</a:t>
            </a:r>
          </a:p>
        </p:txBody>
      </p:sp>
      <p:sp>
        <p:nvSpPr>
          <p:cNvPr id="40" name="Oval 39"/>
          <p:cNvSpPr/>
          <p:nvPr/>
        </p:nvSpPr>
        <p:spPr>
          <a:xfrm>
            <a:off x="9418320" y="4069080"/>
            <a:ext cx="164592" cy="164592"/>
          </a:xfrm>
          <a:prstGeom prst="ellipse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600" b="1" i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3639312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0F6B62"/>
                </a:solidFill>
                <a:latin typeface="Microsoft YaHei"/>
                <a:ea typeface="Microsoft YaHei"/>
              </a:rPr>
              <a:t>2025–26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434340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71717"/>
                </a:solidFill>
                <a:latin typeface="Microsoft YaHei"/>
                <a:ea typeface="Microsoft YaHei"/>
              </a:rPr>
              <a:t>Harness engineering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4773168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0" i="0">
                <a:solidFill>
                  <a:srgbClr val="6F6A60"/>
                </a:solidFill>
                <a:latin typeface="Microsoft YaHei"/>
                <a:ea typeface="Microsoft YaHei"/>
              </a:rPr>
              <a:t>接口、权限、验收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5577840"/>
            <a:ext cx="1094811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6F6A60"/>
                </a:solidFill>
                <a:latin typeface="Microsoft YaHei"/>
                <a:ea typeface="Microsoft YaHei"/>
              </a:rPr>
              <a:t>这四条性质不要求神经网络，也不要求自然语言。LLM 只是换了一个决策核心。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03 ·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481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71717"/>
                </a:solidFill>
                <a:latin typeface="Microsoft YaHei"/>
                <a:ea typeface="Microsoft YaHei"/>
              </a:rPr>
              <a:t>LLM Agent：想一步，做一步，看一步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25296"/>
            <a:ext cx="658368" cy="41148"/>
          </a:xfrm>
          <a:prstGeom prst="rect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2025 逻辑回归实验  ·  Agentic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2623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28 / 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10512" y="1572768"/>
            <a:ext cx="237744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56816" y="1682496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171717"/>
                </a:solidFill>
                <a:latin typeface="Microsoft YaHei"/>
                <a:ea typeface="Microsoft YaHei"/>
              </a:rPr>
              <a:t>Thought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6816" y="195681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6F6A60"/>
                </a:solidFill>
                <a:latin typeface="Microsoft YaHei"/>
                <a:ea typeface="Microsoft YaHei"/>
              </a:rPr>
              <a:t>下一步做什么？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1" y="2880360"/>
            <a:ext cx="182880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5" y="2990088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171717"/>
                </a:solidFill>
                <a:latin typeface="Microsoft YaHei"/>
                <a:ea typeface="Microsoft YaHei"/>
              </a:rPr>
              <a:t>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5" y="326440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6F6A60"/>
                </a:solidFill>
                <a:latin typeface="Microsoft YaHei"/>
                <a:ea typeface="Microsoft YaHei"/>
              </a:rPr>
              <a:t>tool call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10512" y="4187952"/>
            <a:ext cx="237744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56816" y="4297680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171717"/>
                </a:solidFill>
                <a:latin typeface="Microsoft YaHei"/>
                <a:ea typeface="Microsoft YaHei"/>
              </a:rPr>
              <a:t>Observation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56816" y="45720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6F6A60"/>
                </a:solidFill>
                <a:latin typeface="Microsoft YaHei"/>
                <a:ea typeface="Microsoft YaHei"/>
              </a:rPr>
              <a:t>工具结果 / 报错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2880360"/>
            <a:ext cx="196596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2990088"/>
            <a:ext cx="1691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171717"/>
                </a:solidFill>
                <a:latin typeface="Microsoft YaHei"/>
                <a:ea typeface="Microsoft YaHei"/>
              </a:rPr>
              <a:t>Updated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326440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6F6A60"/>
                </a:solidFill>
                <a:latin typeface="Microsoft YaHei"/>
                <a:ea typeface="Microsoft YaHei"/>
              </a:rPr>
              <a:t>把结果写回上下文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233672" y="1965960"/>
            <a:ext cx="137159" cy="868680"/>
          </a:xfrm>
          <a:prstGeom prst="line">
            <a:avLst/>
          </a:prstGeom>
          <a:ln w="15240">
            <a:solidFill>
              <a:srgbClr val="0F6B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4233672" y="3566160"/>
            <a:ext cx="137159" cy="594360"/>
          </a:xfrm>
          <a:prstGeom prst="line">
            <a:avLst/>
          </a:prstGeom>
          <a:ln w="15240">
            <a:solidFill>
              <a:srgbClr val="0F6B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1673352" y="3675887"/>
            <a:ext cx="137160" cy="850393"/>
          </a:xfrm>
          <a:prstGeom prst="line">
            <a:avLst/>
          </a:prstGeom>
          <a:ln w="15240">
            <a:solidFill>
              <a:srgbClr val="0F6B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673352" y="2377440"/>
            <a:ext cx="137160" cy="640080"/>
          </a:xfrm>
          <a:prstGeom prst="line">
            <a:avLst/>
          </a:prstGeom>
          <a:ln w="15240">
            <a:solidFill>
              <a:srgbClr val="0F6B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633472" y="3063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 i="0">
                <a:solidFill>
                  <a:srgbClr val="0F6B62"/>
                </a:solidFill>
                <a:latin typeface="Microsoft YaHei"/>
                <a:ea typeface="Microsoft YaHei"/>
              </a:rPr>
              <a:t>循环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1572768"/>
            <a:ext cx="51206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28000"/>
              </a:lnSpc>
              <a:spcAft>
                <a:spcPts val="700"/>
              </a:spcAft>
            </a:pPr>
            <a:r>
              <a:rPr sz="1250" b="1" i="0">
                <a:solidFill>
                  <a:srgbClr val="0F6B62"/>
                </a:solidFill>
                <a:latin typeface="Microsoft YaHei"/>
                <a:ea typeface="Microsoft YaHei"/>
              </a:rPr>
              <a:t>—  </a:t>
            </a:r>
            <a:r>
              <a:rPr sz="1250" b="0" i="0">
                <a:solidFill>
                  <a:srgbClr val="171717"/>
                </a:solidFill>
                <a:latin typeface="Microsoft YaHei"/>
                <a:ea typeface="Microsoft YaHei"/>
              </a:rPr>
              <a:t>模型只输出 tool call（工具名 + 参数）</a:t>
            </a:r>
          </a:p>
          <a:p>
            <a:pPr marL="274320" indent="-274320">
              <a:lnSpc>
                <a:spcPct val="128000"/>
              </a:lnSpc>
              <a:spcAft>
                <a:spcPts val="700"/>
              </a:spcAft>
            </a:pPr>
            <a:r>
              <a:rPr sz="1250" b="1" i="0">
                <a:solidFill>
                  <a:srgbClr val="0F6B62"/>
                </a:solidFill>
                <a:latin typeface="Microsoft YaHei"/>
                <a:ea typeface="Microsoft YaHei"/>
              </a:rPr>
              <a:t>—  </a:t>
            </a:r>
            <a:r>
              <a:rPr sz="1250" b="0" i="0">
                <a:solidFill>
                  <a:srgbClr val="171717"/>
                </a:solidFill>
                <a:latin typeface="Microsoft YaHei"/>
                <a:ea typeface="Microsoft YaHei"/>
              </a:rPr>
              <a:t>Harness 执行工具，把结果回填上下文</a:t>
            </a:r>
          </a:p>
          <a:p>
            <a:pPr marL="274320" indent="-274320">
              <a:lnSpc>
                <a:spcPct val="128000"/>
              </a:lnSpc>
              <a:spcAft>
                <a:spcPts val="700"/>
              </a:spcAft>
            </a:pPr>
            <a:r>
              <a:rPr sz="1250" b="1" i="0">
                <a:solidFill>
                  <a:srgbClr val="0F6B62"/>
                </a:solidFill>
                <a:latin typeface="Microsoft YaHei"/>
                <a:ea typeface="Microsoft YaHei"/>
              </a:rPr>
              <a:t>—  </a:t>
            </a:r>
            <a:r>
              <a:rPr sz="1250" b="0" i="0">
                <a:solidFill>
                  <a:srgbClr val="171717"/>
                </a:solidFill>
                <a:latin typeface="Microsoft YaHei"/>
                <a:ea typeface="Microsoft YaHei"/>
              </a:rPr>
              <a:t>环境反馈是 ground truth：测试、报错、指标</a:t>
            </a:r>
          </a:p>
          <a:p>
            <a:pPr marL="274320" indent="-274320">
              <a:lnSpc>
                <a:spcPct val="128000"/>
              </a:lnSpc>
              <a:spcAft>
                <a:spcPts val="700"/>
              </a:spcAft>
            </a:pPr>
            <a:r>
              <a:rPr sz="1250" b="1" i="0">
                <a:solidFill>
                  <a:srgbClr val="0F6B62"/>
                </a:solidFill>
                <a:latin typeface="Microsoft YaHei"/>
                <a:ea typeface="Microsoft YaHei"/>
              </a:rPr>
              <a:t>—  </a:t>
            </a:r>
            <a:r>
              <a:rPr sz="1250" b="0" i="0">
                <a:solidFill>
                  <a:srgbClr val="171717"/>
                </a:solidFill>
                <a:latin typeface="Microsoft YaHei"/>
                <a:ea typeface="Microsoft YaHei"/>
              </a:rPr>
              <a:t>要设停止条件：最大轮数、预算、人工 checkpoint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434840"/>
            <a:ext cx="5074920" cy="1097280"/>
          </a:xfrm>
          <a:prstGeom prst="roundRect">
            <a:avLst>
              <a:gd name="adj" fmla="val 8000"/>
            </a:avLst>
          </a:prstGeom>
          <a:solidFill>
            <a:srgbClr val="E8F1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572000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0F6B62"/>
                </a:solidFill>
                <a:latin typeface="Microsoft YaHei"/>
                <a:ea typeface="Microsoft YaHei"/>
              </a:rPr>
              <a:t>Coding agent 的例子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846320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171717"/>
                </a:solidFill>
                <a:latin typeface="Microsoft YaHei"/>
                <a:ea typeface="Microsoft YaHei"/>
              </a:rPr>
              <a:t>读文件 → 跑测试 → 看报错 → 改代码 → 再跑。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03 ·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481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71717"/>
                </a:solidFill>
                <a:latin typeface="Microsoft YaHei"/>
                <a:ea typeface="Microsoft YaHei"/>
              </a:rPr>
              <a:t>Agent 不等于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25296"/>
            <a:ext cx="658368" cy="41148"/>
          </a:xfrm>
          <a:prstGeom prst="rect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2025 逻辑回归实验  ·  Agentic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2623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29 / 39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" y="1572768"/>
          <a:ext cx="10927080" cy="2651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63040"/>
                <a:gridCol w="4480560"/>
                <a:gridCol w="4983480"/>
              </a:tblGrid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200" b="1" i="0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</a:rPr>
                        <a:t/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B9D2C9"/>
                      </a:solidFill>
                    </a:lnB>
                    <a:solidFill>
                      <a:srgbClr val="E8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200" b="1" i="0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</a:rPr>
                        <a:t>Workflow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B9D2C9"/>
                      </a:solidFill>
                    </a:lnB>
                    <a:solidFill>
                      <a:srgbClr val="E8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200" b="1" i="0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</a:rPr>
                        <a:t>Agent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B9D2C9"/>
                      </a:solidFill>
                    </a:lnB>
                    <a:solidFill>
                      <a:srgbClr val="E8F1E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200" b="1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路径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20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代码预先写死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20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模型动态决定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200" b="1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适合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20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稳定、可预测的任务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20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开放、步骤未知的任务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200" b="1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代价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20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低延迟、可控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20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更贵；错误可能累积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200" b="1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例子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20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ETL、报表、固定流程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20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修 bug、研究、多文件改动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" y="5074920"/>
            <a:ext cx="10927080" cy="868680"/>
          </a:xfrm>
          <a:prstGeom prst="roundRect">
            <a:avLst>
              <a:gd name="adj" fmla="val 8000"/>
            </a:avLst>
          </a:prstGeom>
          <a:solidFill>
            <a:srgbClr val="F3E4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521208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B85C38"/>
                </a:solidFill>
                <a:latin typeface="Microsoft YaHei"/>
                <a:ea typeface="Microsoft YaHei"/>
              </a:rPr>
              <a:t>先找最简单的方案；只有确有必要时才加复杂度。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50468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F6A60"/>
                </a:solidFill>
                <a:latin typeface="Microsoft YaHei"/>
                <a:ea typeface="Microsoft YaHei"/>
              </a:rPr>
              <a:t>Anthropic：workflow 由预定义代码路径编排；agent 由模型动态决定过程与工具使用。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03 ·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481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71717"/>
                </a:solidFill>
                <a:latin typeface="Microsoft YaHei"/>
                <a:ea typeface="Microsoft YaHei"/>
              </a:rPr>
              <a:t>同一个模型，三种 Harness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25296"/>
            <a:ext cx="658368" cy="41148"/>
          </a:xfrm>
          <a:prstGeom prst="rect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2025 逻辑回归实验  ·  Agentic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2623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30 / 39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" y="1536192"/>
          <a:ext cx="10927080" cy="28346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63040"/>
                <a:gridCol w="2697480"/>
                <a:gridCol w="2971800"/>
                <a:gridCol w="3794760"/>
              </a:tblGrid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 i="0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</a:rPr>
                        <a:t/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B9D2C9"/>
                      </a:solidFill>
                    </a:lnB>
                    <a:solidFill>
                      <a:srgbClr val="E8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 i="0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</a:rPr>
                        <a:t>A · 纯聊天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B9D2C9"/>
                      </a:solidFill>
                    </a:lnB>
                    <a:solidFill>
                      <a:srgbClr val="E8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 i="0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</a:rPr>
                        <a:t>B · 有工具，无验收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B9D2C9"/>
                      </a:solidFill>
                    </a:lnB>
                    <a:solidFill>
                      <a:srgbClr val="E8F1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 i="0">
                          <a:solidFill>
                            <a:srgbClr val="171717"/>
                          </a:solidFill>
                          <a:latin typeface="Microsoft YaHei"/>
                          <a:ea typeface="Microsoft YaHei"/>
                        </a:rPr>
                        <a:t>C · 完整 Harness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B9D2C9"/>
                      </a:solidFill>
                    </a:lnB>
                    <a:solidFill>
                      <a:srgbClr val="E8F1E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能看到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你粘贴的一段文本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整个工作区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工作区 + 手册 + 历史 + 报错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能做什么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只能回答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改文件、跑命令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同 B，且有权限边界与可追溯记录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记得什么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当前对话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当前会话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日志 + 项目文件 + 跨轮目标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怎么算完成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你说了算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它自己说完成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0" i="0">
                          <a:solidFill>
                            <a:srgbClr val="6F6A60"/>
                          </a:solidFill>
                          <a:latin typeface="Microsoft YaHei"/>
                          <a:ea typeface="Microsoft YaHei"/>
                        </a:rPr>
                        <a:t>测试、自检、日志三方对上</a:t>
                      </a:r>
                    </a:p>
                  </a:txBody>
                  <a:tcPr marL="91440" marR="91440" marT="54864" marB="54864" anchor="ctr">
                    <a:lnB w="6350" cap="flat" cmpd="sng">
                      <a:solidFill>
                        <a:srgbClr val="D8D3C7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" y="4736592"/>
            <a:ext cx="10927080" cy="868680"/>
          </a:xfrm>
          <a:prstGeom prst="roundRect">
            <a:avLst>
              <a:gd name="adj" fmla="val 8000"/>
            </a:avLst>
          </a:prstGeom>
          <a:solidFill>
            <a:srgbClr val="E8F1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486460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0F6B62"/>
                </a:solidFill>
                <a:latin typeface="Microsoft YaHei"/>
                <a:ea typeface="Microsoft YaHei"/>
              </a:rPr>
              <a:t>可完成的工作 ≈ 模型能力 × 观察带宽 × 动作带宽 × 反馈质量 × 状态连续性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157216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F6A60"/>
                </a:solidFill>
                <a:latin typeface="Microsoft YaHei"/>
                <a:ea typeface="Microsoft YaHei"/>
              </a:rPr>
              <a:t>这是教学近似，不是定律；但它解释了“为什么同一个模型在不同工具里表现差很多”。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03 ·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481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71717"/>
                </a:solidFill>
                <a:latin typeface="Microsoft YaHei"/>
                <a:ea typeface="Microsoft YaHei"/>
              </a:rPr>
              <a:t>Prompt：把任务说到可执行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25296"/>
            <a:ext cx="658368" cy="41148"/>
          </a:xfrm>
          <a:prstGeom prst="rect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2025 逻辑回归实验  ·  Agentic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2623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31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81328"/>
            <a:ext cx="868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0F6B62"/>
                </a:solidFill>
                <a:latin typeface="Microsoft YaHei"/>
                <a:ea typeface="Microsoft YaHei"/>
              </a:rPr>
              <a:t>角色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1912" y="1481328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你是谁：课程助教 / 审稿人 / 数据工程师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984248"/>
            <a:ext cx="5303520" cy="13716"/>
          </a:xfrm>
          <a:prstGeom prst="rect">
            <a:avLst/>
          </a:prstGeom>
          <a:solidFill>
            <a:srgbClr val="D8D3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157984"/>
            <a:ext cx="868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0F6B62"/>
                </a:solidFill>
                <a:latin typeface="Microsoft YaHei"/>
                <a:ea typeface="Microsoft YaHei"/>
              </a:rPr>
              <a:t>任务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912" y="2157984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一个可验收的目标：补全并跑通 notebook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2660904"/>
            <a:ext cx="5303520" cy="13716"/>
          </a:xfrm>
          <a:prstGeom prst="rect">
            <a:avLst/>
          </a:prstGeom>
          <a:solidFill>
            <a:srgbClr val="D8D3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834640"/>
            <a:ext cx="868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0F6B62"/>
                </a:solidFill>
                <a:latin typeface="Microsoft YaHei"/>
                <a:ea typeface="Microsoft YaHei"/>
              </a:rPr>
              <a:t>上下文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2834640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手册、数据、utils.py、报错片段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3337560"/>
            <a:ext cx="5303520" cy="13716"/>
          </a:xfrm>
          <a:prstGeom prst="rect">
            <a:avLst/>
          </a:prstGeom>
          <a:solidFill>
            <a:srgbClr val="D8D3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511296"/>
            <a:ext cx="868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0F6B62"/>
                </a:solidFill>
                <a:latin typeface="Microsoft YaHei"/>
                <a:ea typeface="Microsoft YaHei"/>
              </a:rPr>
              <a:t>约束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1912" y="3511296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不改划分、不调测试集、seed=42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4014216"/>
            <a:ext cx="5303520" cy="13716"/>
          </a:xfrm>
          <a:prstGeom prst="rect">
            <a:avLst/>
          </a:prstGeom>
          <a:solidFill>
            <a:srgbClr val="D8D3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4187952"/>
            <a:ext cx="868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0F6B62"/>
                </a:solidFill>
                <a:latin typeface="Microsoft YaHei"/>
                <a:ea typeface="Microsoft YaHei"/>
              </a:rPr>
              <a:t>输出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1912" y="418795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改动摘要 + 命令 + 指标表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" y="4690872"/>
            <a:ext cx="5303520" cy="13716"/>
          </a:xfrm>
          <a:prstGeom prst="rect">
            <a:avLst/>
          </a:prstGeom>
          <a:solidFill>
            <a:srgbClr val="D8D3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89320" y="1481328"/>
            <a:ext cx="5577840" cy="2971800"/>
          </a:xfrm>
          <a:prstGeom prst="roundRect">
            <a:avLst>
              <a:gd name="adj" fmla="val 8000"/>
            </a:avLst>
          </a:prstGeom>
          <a:solidFill>
            <a:srgbClr val="EFED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0488" y="1591056"/>
            <a:ext cx="5212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6F6A60"/>
                </a:solidFill>
                <a:latin typeface="Microsoft YaHei"/>
                <a:ea typeface="Microsoft YaHei"/>
              </a:rPr>
              <a:t>一个够用的 prompt 骨架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0488" y="1828800"/>
            <a:ext cx="5193792" cy="2532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19" b="0" i="0">
                <a:solidFill>
                  <a:srgbClr val="171717"/>
                </a:solidFill>
                <a:latin typeface="Consolas"/>
              </a:rPr>
              <a:t>角色：课程助教，熟悉 PyTorch 与手册 §1.6。</a:t>
            </a:r>
          </a:p>
          <a:p>
            <a:pPr>
              <a:lnSpc>
                <a:spcPct val="110000"/>
              </a:lnSpc>
            </a:pPr>
            <a:r>
              <a:rPr sz="1019" b="0" i="0">
                <a:solidFill>
                  <a:srgbClr val="171717"/>
                </a:solidFill>
                <a:latin typeface="Consolas"/>
              </a:rPr>
              <a:t>任务：补全 notebook 的 TODO，使其从头到尾可执行。</a:t>
            </a:r>
          </a:p>
          <a:p>
            <a:pPr>
              <a:lnSpc>
                <a:spcPct val="110000"/>
              </a:lnSpc>
            </a:pPr>
            <a:r>
              <a:rPr sz="1019" b="0" i="0">
                <a:solidFill>
                  <a:srgbClr val="171717"/>
                </a:solidFill>
                <a:latin typeface="Consolas"/>
              </a:rPr>
              <a:t>上下文：手册在 source_materials/，数据在 logreg_lab/data/。</a:t>
            </a:r>
          </a:p>
          <a:p>
            <a:pPr>
              <a:lnSpc>
                <a:spcPct val="110000"/>
              </a:lnSpc>
            </a:pPr>
            <a:r>
              <a:rPr sz="1019" b="0" i="0">
                <a:solidFill>
                  <a:srgbClr val="171717"/>
                </a:solidFill>
                <a:latin typeface="Consolas"/>
              </a:rPr>
              <a:t>约束：不改数据划分；不调测试集；seed 固定 42。</a:t>
            </a:r>
          </a:p>
          <a:p>
            <a:pPr>
              <a:lnSpc>
                <a:spcPct val="110000"/>
              </a:lnSpc>
            </a:pPr>
            <a:r>
              <a:rPr sz="1019" b="0" i="0">
                <a:solidFill>
                  <a:srgbClr val="171717"/>
                </a:solidFill>
                <a:latin typeface="Consolas"/>
              </a:rPr>
              <a:t>输出：改动摘要 + 复现命令 + Val/Test 指标。</a:t>
            </a:r>
          </a:p>
          <a:p>
            <a:pPr>
              <a:lnSpc>
                <a:spcPct val="110000"/>
              </a:lnSpc>
            </a:pPr>
            <a:r>
              <a:rPr sz="1019" b="0" i="0">
                <a:solidFill>
                  <a:srgbClr val="171717"/>
                </a:solidFill>
                <a:latin typeface="Consolas"/>
              </a:rPr>
              <a:t>自检：运行 verify_submission.py，报告失败项。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9320" y="4709160"/>
            <a:ext cx="1719072" cy="310896"/>
          </a:xfrm>
          <a:prstGeom prst="roundRect">
            <a:avLst>
              <a:gd name="adj" fmla="val 8000"/>
            </a:avLst>
          </a:prstGeom>
          <a:solidFill>
            <a:srgbClr val="E8F1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89320" y="4759452"/>
            <a:ext cx="17190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few-shot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36408" y="4709160"/>
            <a:ext cx="1719072" cy="310896"/>
          </a:xfrm>
          <a:prstGeom prst="roundRect">
            <a:avLst>
              <a:gd name="adj" fmla="val 8000"/>
            </a:avLst>
          </a:prstGeom>
          <a:solidFill>
            <a:srgbClr val="E8F1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36408" y="4759452"/>
            <a:ext cx="17190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任务分解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83496" y="4709160"/>
            <a:ext cx="1719072" cy="310896"/>
          </a:xfrm>
          <a:prstGeom prst="roundRect">
            <a:avLst>
              <a:gd name="adj" fmla="val 8000"/>
            </a:avLst>
          </a:prstGeom>
          <a:solidFill>
            <a:srgbClr val="E8F1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83496" y="4759452"/>
            <a:ext cx="17190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显式约束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9320" y="5166360"/>
            <a:ext cx="1719072" cy="310896"/>
          </a:xfrm>
          <a:prstGeom prst="roundRect">
            <a:avLst>
              <a:gd name="adj" fmla="val 8000"/>
            </a:avLst>
          </a:prstGeom>
          <a:solidFill>
            <a:srgbClr val="E8F1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89320" y="5216652"/>
            <a:ext cx="17190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结构化输出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36408" y="5166360"/>
            <a:ext cx="1719072" cy="310896"/>
          </a:xfrm>
          <a:prstGeom prst="roundRect">
            <a:avLst>
              <a:gd name="adj" fmla="val 8000"/>
            </a:avLst>
          </a:prstGeom>
          <a:solidFill>
            <a:srgbClr val="E8F1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36408" y="5216652"/>
            <a:ext cx="17190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先复述验收标准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5257800"/>
            <a:ext cx="5303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F6A60"/>
                </a:solidFill>
                <a:latin typeface="Microsoft YaHei"/>
                <a:ea typeface="Microsoft YaHei"/>
              </a:rPr>
              <a:t>Prompt 的局限：拿不到新信息、不能保证执行、不能自证正确。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03 ·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481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71717"/>
                </a:solidFill>
                <a:latin typeface="Microsoft YaHei"/>
                <a:ea typeface="Microsoft YaHei"/>
              </a:rPr>
              <a:t>Context：有限的注意力预算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25296"/>
            <a:ext cx="658368" cy="41148"/>
          </a:xfrm>
          <a:prstGeom prst="rect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2025 逻辑回归实验  ·  Agentic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2623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32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44752"/>
            <a:ext cx="10881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171717"/>
                </a:solidFill>
                <a:latin typeface="Microsoft YaHei"/>
                <a:ea typeface="Microsoft YaHei"/>
              </a:rPr>
              <a:t>Context = 一次采样中模型能看到的全部 token；它不是越多越好。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965960"/>
            <a:ext cx="5212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28000"/>
              </a:lnSpc>
              <a:spcAft>
                <a:spcPts val="800"/>
              </a:spcAft>
            </a:pPr>
            <a:r>
              <a:rPr sz="1200" b="1" i="0">
                <a:solidFill>
                  <a:srgbClr val="0F6B62"/>
                </a:solidFill>
                <a:latin typeface="Microsoft YaHei"/>
                <a:ea typeface="Microsoft YaHei"/>
              </a:rPr>
              <a:t>—  </a:t>
            </a:r>
            <a:r>
              <a:rPr sz="1200" b="0" i="0">
                <a:solidFill>
                  <a:srgbClr val="171717"/>
                </a:solidFill>
                <a:latin typeface="Microsoft YaHei"/>
                <a:ea typeface="Microsoft YaHei"/>
              </a:rPr>
              <a:t>Context rot：上下文越长，准确召回越弱</a:t>
            </a:r>
          </a:p>
          <a:p>
            <a:pPr marL="274320" indent="-274320">
              <a:lnSpc>
                <a:spcPct val="128000"/>
              </a:lnSpc>
              <a:spcAft>
                <a:spcPts val="800"/>
              </a:spcAft>
            </a:pPr>
            <a:r>
              <a:rPr sz="1200" b="1" i="0">
                <a:solidFill>
                  <a:srgbClr val="0F6B62"/>
                </a:solidFill>
                <a:latin typeface="Microsoft YaHei"/>
                <a:ea typeface="Microsoft YaHei"/>
              </a:rPr>
              <a:t>—  </a:t>
            </a:r>
            <a:r>
              <a:rPr sz="1200" b="0" i="0">
                <a:solidFill>
                  <a:srgbClr val="171717"/>
                </a:solidFill>
                <a:latin typeface="Microsoft YaHei"/>
                <a:ea typeface="Microsoft YaHei"/>
              </a:rPr>
              <a:t>好的 context 是“最小的高信号 token 集合”</a:t>
            </a:r>
          </a:p>
          <a:p>
            <a:pPr marL="274320" indent="-274320">
              <a:lnSpc>
                <a:spcPct val="128000"/>
              </a:lnSpc>
              <a:spcAft>
                <a:spcPts val="800"/>
              </a:spcAft>
            </a:pPr>
            <a:r>
              <a:rPr sz="1200" b="1" i="0">
                <a:solidFill>
                  <a:srgbClr val="0F6B62"/>
                </a:solidFill>
                <a:latin typeface="Microsoft YaHei"/>
                <a:ea typeface="Microsoft YaHei"/>
              </a:rPr>
              <a:t>—  </a:t>
            </a:r>
            <a:r>
              <a:rPr sz="1200" b="0" i="0">
                <a:solidFill>
                  <a:srgbClr val="171717"/>
                </a:solidFill>
                <a:latin typeface="Microsoft YaHei"/>
                <a:ea typeface="Microsoft YaHei"/>
              </a:rPr>
              <a:t>渐进披露：先给索引，需要时再取细节</a:t>
            </a:r>
          </a:p>
          <a:p>
            <a:pPr marL="274320" indent="-274320">
              <a:lnSpc>
                <a:spcPct val="128000"/>
              </a:lnSpc>
              <a:spcAft>
                <a:spcPts val="800"/>
              </a:spcAft>
            </a:pPr>
            <a:r>
              <a:rPr sz="1200" b="1" i="0">
                <a:solidFill>
                  <a:srgbClr val="0F6B62"/>
                </a:solidFill>
                <a:latin typeface="Microsoft YaHei"/>
                <a:ea typeface="Microsoft YaHei"/>
              </a:rPr>
              <a:t>—  </a:t>
            </a:r>
            <a:r>
              <a:rPr sz="1200" b="0" i="0">
                <a:solidFill>
                  <a:srgbClr val="171717"/>
                </a:solidFill>
                <a:latin typeface="Microsoft YaHei"/>
                <a:ea typeface="Microsoft YaHei"/>
              </a:rPr>
              <a:t>长任务：压缩、结构化笔记、子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74519"/>
            <a:ext cx="4846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0F6B62"/>
                </a:solidFill>
                <a:latin typeface="Microsoft YaHei"/>
                <a:ea typeface="Microsoft YaHei"/>
              </a:rPr>
              <a:t>一次请求的上下文预算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 i="0">
                <a:solidFill>
                  <a:srgbClr val="6F6A60"/>
                </a:solidFill>
                <a:latin typeface="Microsoft YaHei"/>
                <a:ea typeface="Microsoft YaHei"/>
              </a:rPr>
              <a:t>system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322576"/>
            <a:ext cx="960120" cy="402336"/>
          </a:xfrm>
          <a:prstGeom prst="roundRect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210312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 i="0">
                <a:solidFill>
                  <a:srgbClr val="6F6A60"/>
                </a:solidFill>
                <a:latin typeface="Microsoft YaHei"/>
                <a:ea typeface="Microsoft YaHei"/>
              </a:rPr>
              <a:t>task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2322576"/>
            <a:ext cx="777240" cy="402336"/>
          </a:xfrm>
          <a:prstGeom prst="roundRect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2103120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 i="0">
                <a:solidFill>
                  <a:srgbClr val="6F6A60"/>
                </a:solidFill>
                <a:latin typeface="Microsoft YaHei"/>
                <a:ea typeface="Microsoft YaHei"/>
              </a:rPr>
              <a:t>files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322576"/>
            <a:ext cx="1234440" cy="402336"/>
          </a:xfrm>
          <a:prstGeom prst="roundRect">
            <a:avLst/>
          </a:prstGeom>
          <a:solidFill>
            <a:srgbClr val="B85C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2103120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 i="0">
                <a:solidFill>
                  <a:srgbClr val="6F6A60"/>
                </a:solidFill>
                <a:latin typeface="Microsoft YaHei"/>
                <a:ea typeface="Microsoft YaHei"/>
              </a:rPr>
              <a:t>tools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2322576"/>
            <a:ext cx="731520" cy="402336"/>
          </a:xfrm>
          <a:prstGeom prst="roundRect">
            <a:avLst/>
          </a:prstGeom>
          <a:solidFill>
            <a:srgbClr val="D9B3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04120" y="2103120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 i="0">
                <a:solidFill>
                  <a:srgbClr val="6F6A60"/>
                </a:solidFill>
                <a:latin typeface="Microsoft YaHei"/>
                <a:ea typeface="Microsoft YaHei"/>
              </a:rPr>
              <a:t>history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04120" y="2322576"/>
            <a:ext cx="1051560" cy="402336"/>
          </a:xfrm>
          <a:prstGeom prst="roundRect">
            <a:avLst/>
          </a:prstGeom>
          <a:solidFill>
            <a:srgbClr val="1717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79806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30" b="0" i="0">
                <a:solidFill>
                  <a:srgbClr val="6F6A60"/>
                </a:solidFill>
                <a:latin typeface="Microsoft YaHei"/>
                <a:ea typeface="Microsoft YaHei"/>
              </a:rPr>
              <a:t>太多 → 关键信号被淹没；太少 → 模型没有依据。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383280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0F6B62"/>
                </a:solidFill>
                <a:latin typeface="Microsoft YaHei"/>
                <a:ea typeface="Microsoft YaHei"/>
              </a:rPr>
              <a:t>Compaction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3364992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 i="0">
                <a:solidFill>
                  <a:srgbClr val="6F6A60"/>
                </a:solidFill>
                <a:latin typeface="Microsoft YaHei"/>
                <a:ea typeface="Microsoft YaHei"/>
              </a:rPr>
              <a:t>把长历史压缩成摘要，保留决策与未解决问题。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224528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0F6B62"/>
                </a:solidFill>
                <a:latin typeface="Microsoft YaHei"/>
                <a:ea typeface="Microsoft YaHei"/>
              </a:rPr>
              <a:t>Notes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4206240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 i="0">
                <a:solidFill>
                  <a:srgbClr val="6F6A60"/>
                </a:solidFill>
                <a:latin typeface="Microsoft YaHei"/>
                <a:ea typeface="Microsoft YaHei"/>
              </a:rPr>
              <a:t>把进度写到文件 / to-do，跨轮恢复。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06577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0F6B62"/>
                </a:solidFill>
                <a:latin typeface="Microsoft YaHei"/>
                <a:ea typeface="Microsoft YaHei"/>
              </a:rPr>
              <a:t>Sub-agents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5047488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 i="0">
                <a:solidFill>
                  <a:srgbClr val="6F6A60"/>
                </a:solidFill>
                <a:latin typeface="Microsoft YaHei"/>
                <a:ea typeface="Microsoft YaHei"/>
              </a:rPr>
              <a:t>用独立上下文做深搜，只回传摘要。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5577840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0F6B62"/>
                </a:solidFill>
                <a:latin typeface="Microsoft YaHei"/>
                <a:ea typeface="Microsoft YaHei"/>
              </a:rPr>
              <a:t>给模型正确的信息，而不是更多信息。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03 ·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481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71717"/>
                </a:solidFill>
                <a:latin typeface="Microsoft YaHei"/>
                <a:ea typeface="Microsoft YaHei"/>
              </a:rPr>
              <a:t>Harness：让循环真正跑起来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25296"/>
            <a:ext cx="658368" cy="41148"/>
          </a:xfrm>
          <a:prstGeom prst="rect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2025 逻辑回归实验  ·  Agentic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2623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33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17320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 i="0">
                <a:solidFill>
                  <a:srgbClr val="171717"/>
                </a:solidFill>
                <a:latin typeface="Microsoft YaHei"/>
                <a:ea typeface="Microsoft YaHei"/>
              </a:rPr>
              <a:t>模型提出行动；Harness 让行动发生，并把结果变成下一步的输入。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847088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1828800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80" b="1" i="0">
                <a:solidFill>
                  <a:srgbClr val="171717"/>
                </a:solidFill>
                <a:latin typeface="Microsoft YaHei"/>
                <a:ea typeface="Microsoft YaHei"/>
              </a:rPr>
              <a:t>Agent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9272" y="1828800"/>
            <a:ext cx="81838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19" b="0" i="0">
                <a:solidFill>
                  <a:srgbClr val="6F6A60"/>
                </a:solidFill>
                <a:latin typeface="Microsoft YaHei"/>
                <a:ea typeface="Microsoft YaHei"/>
              </a:rPr>
              <a:t>组织模型调用 → 工具执行 → 结果回填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2231136"/>
            <a:ext cx="10927080" cy="10972"/>
          </a:xfrm>
          <a:prstGeom prst="rect">
            <a:avLst/>
          </a:prstGeom>
          <a:solidFill>
            <a:srgbClr val="D8D3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395728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2377440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80" b="1" i="0">
                <a:solidFill>
                  <a:srgbClr val="171717"/>
                </a:solidFill>
                <a:latin typeface="Microsoft YaHei"/>
                <a:ea typeface="Microsoft YaHei"/>
              </a:rPr>
              <a:t>Context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9272" y="2377440"/>
            <a:ext cx="81838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19" b="0" i="0">
                <a:solidFill>
                  <a:srgbClr val="6F6A60"/>
                </a:solidFill>
                <a:latin typeface="Microsoft YaHei"/>
                <a:ea typeface="Microsoft YaHei"/>
              </a:rPr>
              <a:t>决定每一步放进窗口的内容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2779776"/>
            <a:ext cx="10927080" cy="10972"/>
          </a:xfrm>
          <a:prstGeom prst="rect">
            <a:avLst/>
          </a:prstGeom>
          <a:solidFill>
            <a:srgbClr val="D8D3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944368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2926080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80" b="1" i="0">
                <a:solidFill>
                  <a:srgbClr val="171717"/>
                </a:solidFill>
                <a:latin typeface="Microsoft YaHei"/>
                <a:ea typeface="Microsoft YaHei"/>
              </a:rPr>
              <a:t>Tool Runtime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9272" y="2926080"/>
            <a:ext cx="81838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19" b="0" i="0">
                <a:solidFill>
                  <a:srgbClr val="6F6A60"/>
                </a:solidFill>
                <a:latin typeface="Microsoft YaHei"/>
                <a:ea typeface="Microsoft YaHei"/>
              </a:rPr>
              <a:t>读写文件、跑 python、grep、后台任务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" y="3328416"/>
            <a:ext cx="10927080" cy="10972"/>
          </a:xfrm>
          <a:prstGeom prst="rect">
            <a:avLst/>
          </a:prstGeom>
          <a:solidFill>
            <a:srgbClr val="D8D3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3493008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" y="3474720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80" b="1" i="0">
                <a:solidFill>
                  <a:srgbClr val="171717"/>
                </a:solidFill>
                <a:latin typeface="Microsoft YaHei"/>
                <a:ea typeface="Microsoft YaHei"/>
              </a:rPr>
              <a:t>Sandbox &amp; Permissions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9272" y="3474720"/>
            <a:ext cx="81838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19" b="0" i="0">
                <a:solidFill>
                  <a:srgbClr val="6F6A60"/>
                </a:solidFill>
                <a:latin typeface="Microsoft YaHei"/>
                <a:ea typeface="Microsoft YaHei"/>
              </a:rPr>
              <a:t>限制可写范围，管理授权与拒绝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" y="3877056"/>
            <a:ext cx="10927080" cy="10972"/>
          </a:xfrm>
          <a:prstGeom prst="rect">
            <a:avLst/>
          </a:prstGeom>
          <a:solidFill>
            <a:srgbClr val="D8D3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4041648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" y="4023360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80" b="1" i="0">
                <a:solidFill>
                  <a:srgbClr val="171717"/>
                </a:solidFill>
                <a:latin typeface="Microsoft YaHei"/>
                <a:ea typeface="Microsoft YaHei"/>
              </a:rPr>
              <a:t>Session &amp; Memory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19272" y="4023360"/>
            <a:ext cx="81838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19" b="0" i="0">
                <a:solidFill>
                  <a:srgbClr val="6F6A60"/>
                </a:solidFill>
                <a:latin typeface="Microsoft YaHei"/>
                <a:ea typeface="Microsoft YaHei"/>
              </a:rPr>
              <a:t>会话状态、日志、跨轮连续性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" y="4425696"/>
            <a:ext cx="10927080" cy="10972"/>
          </a:xfrm>
          <a:prstGeom prst="rect">
            <a:avLst/>
          </a:prstGeom>
          <a:solidFill>
            <a:srgbClr val="D8D3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4590288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" y="4572000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80" b="1" i="0">
                <a:solidFill>
                  <a:srgbClr val="171717"/>
                </a:solidFill>
                <a:latin typeface="Microsoft YaHei"/>
                <a:ea typeface="Microsoft YaHei"/>
              </a:rPr>
              <a:t>Orchestration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19272" y="4572000"/>
            <a:ext cx="81838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19" b="0" i="0">
                <a:solidFill>
                  <a:srgbClr val="6F6A60"/>
                </a:solidFill>
                <a:latin typeface="Microsoft YaHei"/>
                <a:ea typeface="Microsoft YaHei"/>
              </a:rPr>
              <a:t>子任务、子 agent、多阶段协作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" y="4974336"/>
            <a:ext cx="10927080" cy="10972"/>
          </a:xfrm>
          <a:prstGeom prst="rect">
            <a:avLst/>
          </a:prstGeom>
          <a:solidFill>
            <a:srgbClr val="D8D3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5138927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" y="5120639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80" b="1" i="0">
                <a:solidFill>
                  <a:srgbClr val="171717"/>
                </a:solidFill>
                <a:latin typeface="Microsoft YaHei"/>
                <a:ea typeface="Microsoft YaHei"/>
              </a:rPr>
              <a:t>Logging &amp; Evaluation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19272" y="5120639"/>
            <a:ext cx="81838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19" b="0" i="0">
                <a:solidFill>
                  <a:srgbClr val="6F6A60"/>
                </a:solidFill>
                <a:latin typeface="Microsoft YaHei"/>
                <a:ea typeface="Microsoft YaHei"/>
              </a:rPr>
              <a:t>记录过程，提供测试、指标与验收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580644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0F6B62"/>
                </a:solidFill>
                <a:latin typeface="Microsoft YaHei"/>
                <a:ea typeface="Microsoft YaHei"/>
              </a:rPr>
              <a:t>Harness 不是“更长的 prompt”；它是让 agent 能看、能做、能记、能验收的软件系统。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03 ·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481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71717"/>
                </a:solidFill>
                <a:latin typeface="Microsoft YaHei"/>
                <a:ea typeface="Microsoft YaHei"/>
              </a:rPr>
              <a:t>同一个模型，不同的 Harness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25296"/>
            <a:ext cx="658368" cy="41148"/>
          </a:xfrm>
          <a:prstGeom prst="rect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2025 逻辑回归实验  ·  Agentic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2623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34 / 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536192"/>
            <a:ext cx="562356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i="0">
                <a:solidFill>
                  <a:srgbClr val="0F6B62"/>
                </a:solidFill>
                <a:latin typeface="Microsoft YaHei"/>
                <a:ea typeface="Microsoft YaHei"/>
              </a:rPr>
              <a:t>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39112" y="164592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171717"/>
                </a:solidFill>
                <a:latin typeface="Microsoft YaHei"/>
                <a:ea typeface="Microsoft YaHei"/>
              </a:rPr>
              <a:t>怎么说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5212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F6A60"/>
                </a:solidFill>
                <a:latin typeface="Microsoft YaHei"/>
                <a:ea typeface="Microsoft YaHei"/>
              </a:rPr>
              <a:t>任务、角色、约束、输出格式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2706624"/>
            <a:ext cx="562356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81635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i="0">
                <a:solidFill>
                  <a:srgbClr val="0F6B62"/>
                </a:solidFill>
                <a:latin typeface="Microsoft YaHei"/>
                <a:ea typeface="Microsoft YaHei"/>
              </a:rPr>
              <a:t>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9112" y="281635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171717"/>
                </a:solidFill>
                <a:latin typeface="Microsoft YaHei"/>
                <a:ea typeface="Microsoft YaHei"/>
              </a:rPr>
              <a:t>看到什么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182112"/>
            <a:ext cx="5212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F6A60"/>
                </a:solidFill>
                <a:latin typeface="Microsoft YaHei"/>
                <a:ea typeface="Microsoft YaHei"/>
              </a:rPr>
              <a:t>文件、工具输出、历史、记忆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877056"/>
            <a:ext cx="562356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86784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i="0">
                <a:solidFill>
                  <a:srgbClr val="0F6B62"/>
                </a:solidFill>
                <a:latin typeface="Microsoft YaHei"/>
                <a:ea typeface="Microsoft YaHei"/>
              </a:rPr>
              <a:t>Harness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39112" y="398678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171717"/>
                </a:solidFill>
                <a:latin typeface="Microsoft YaHei"/>
                <a:ea typeface="Microsoft YaHei"/>
              </a:rPr>
              <a:t>能做什么 / 怎么算完成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352544"/>
            <a:ext cx="5212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F6A60"/>
                </a:solidFill>
                <a:latin typeface="Microsoft YaHei"/>
                <a:ea typeface="Microsoft YaHei"/>
              </a:rPr>
              <a:t>工具、权限、循环、日志、验收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1536192"/>
            <a:ext cx="5120640" cy="1417320"/>
          </a:xfrm>
          <a:prstGeom prst="roundRect">
            <a:avLst>
              <a:gd name="adj" fmla="val 8000"/>
            </a:avLst>
          </a:prstGeom>
          <a:solidFill>
            <a:srgbClr val="E8F1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1664208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0F6B62"/>
                </a:solidFill>
                <a:latin typeface="Microsoft YaHei"/>
                <a:ea typeface="Microsoft YaHei"/>
              </a:rPr>
              <a:t>AGENTS.md / GOAL.md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1920240"/>
            <a:ext cx="4754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F6A60"/>
                </a:solidFill>
                <a:latin typeface="Microsoft YaHei"/>
                <a:ea typeface="Microsoft YaHei"/>
              </a:rPr>
              <a:t>文件是上下文与指令的载体，不是发动机。Harness 决定何时读、读了算不算数；DSH 的 /goal 是运行时状态。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3108960"/>
            <a:ext cx="5120640" cy="1417320"/>
          </a:xfrm>
          <a:prstGeom prst="roundRect">
            <a:avLst>
              <a:gd name="adj" fmla="val 8000"/>
            </a:avLst>
          </a:prstGeom>
          <a:solidFill>
            <a:srgbClr val="F3E4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236976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B85C38"/>
                </a:solidFill>
                <a:latin typeface="Microsoft YaHei"/>
                <a:ea typeface="Microsoft YaHei"/>
              </a:rPr>
              <a:t>验收属于 Harness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493008"/>
            <a:ext cx="4754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F6A60"/>
                </a:solidFill>
                <a:latin typeface="Microsoft YaHei"/>
                <a:ea typeface="Microsoft YaHei"/>
              </a:rPr>
              <a:t>测试、指标、日志、人工复核——没有这些，“完成了”只是模型的一句话。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70916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F6A60"/>
                </a:solidFill>
                <a:latin typeface="Microsoft YaHei"/>
                <a:ea typeface="Microsoft YaHei"/>
              </a:rPr>
              <a:t>ACI：为 agent 设计的工具接口，会直接影响它的表现。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5669280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0F6B62"/>
                </a:solidFill>
                <a:latin typeface="Microsoft YaHei"/>
                <a:ea typeface="Microsoft YaHei"/>
              </a:rPr>
              <a:t>模型决定上限，Harness 决定下限，验收决定我们凭什么说“做完了”。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03 ·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481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71717"/>
                </a:solidFill>
                <a:latin typeface="Microsoft YaHei"/>
                <a:ea typeface="Microsoft YaHei"/>
              </a:rPr>
              <a:t>用 Agent 完成本实验：一条可验收的循环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25296"/>
            <a:ext cx="658368" cy="41148"/>
          </a:xfrm>
          <a:prstGeom prst="rect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2025 逻辑回归实验  ·  Agentic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2623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35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44752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26464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171717"/>
                </a:solidFill>
                <a:latin typeface="Microsoft YaHei"/>
                <a:ea typeface="Microsoft YaHei"/>
              </a:rPr>
              <a:t>读任务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66544" y="1426464"/>
            <a:ext cx="3931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F6A60"/>
                </a:solidFill>
                <a:latin typeface="Microsoft YaHei"/>
                <a:ea typeface="Microsoft YaHei"/>
              </a:rPr>
              <a:t>手册 §1.6、数据、utils.py、已有 notebook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066544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48256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171717"/>
                </a:solidFill>
                <a:latin typeface="Microsoft YaHei"/>
                <a:ea typeface="Microsoft YaHei"/>
              </a:rPr>
              <a:t>计划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66544" y="2048256"/>
            <a:ext cx="3931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F6A60"/>
                </a:solidFill>
                <a:latin typeface="Microsoft YaHei"/>
                <a:ea typeface="Microsoft YaHei"/>
              </a:rPr>
              <a:t>拆成数据 / 模型 / 训练 / 评估 / 反思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688336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670048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171717"/>
                </a:solidFill>
                <a:latin typeface="Microsoft YaHei"/>
                <a:ea typeface="Microsoft YaHei"/>
              </a:rPr>
              <a:t>看现场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66544" y="2670048"/>
            <a:ext cx="3931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F6A60"/>
                </a:solidFill>
                <a:latin typeface="Microsoft YaHei"/>
                <a:ea typeface="Microsoft YaHei"/>
              </a:rPr>
              <a:t>shape、缺失值、标签分布、基线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31012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291840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171717"/>
                </a:solidFill>
                <a:latin typeface="Microsoft YaHei"/>
                <a:ea typeface="Microsoft YaHei"/>
              </a:rPr>
              <a:t>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66544" y="3291840"/>
            <a:ext cx="3931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F6A60"/>
                </a:solidFill>
                <a:latin typeface="Microsoft YaHei"/>
                <a:ea typeface="Microsoft YaHei"/>
              </a:rPr>
              <a:t>只改必要行；保持可执行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393192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913632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171717"/>
                </a:solidFill>
                <a:latin typeface="Microsoft YaHei"/>
                <a:ea typeface="Microsoft YaHei"/>
              </a:rPr>
              <a:t>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66544" y="3913632"/>
            <a:ext cx="3931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F6A60"/>
                </a:solidFill>
                <a:latin typeface="Microsoft YaHei"/>
                <a:ea typeface="Microsoft YaHei"/>
              </a:rPr>
              <a:t>从头执行；看报错和日志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4553712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535424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171717"/>
                </a:solidFill>
                <a:latin typeface="Microsoft YaHei"/>
                <a:ea typeface="Microsoft YaHei"/>
              </a:rPr>
              <a:t>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66544" y="4535424"/>
            <a:ext cx="3931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F6A60"/>
                </a:solidFill>
                <a:latin typeface="Microsoft YaHei"/>
                <a:ea typeface="Microsoft YaHei"/>
              </a:rPr>
              <a:t>43 项自检 + 指标口径 + 人工复核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5175504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157216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171717"/>
                </a:solidFill>
                <a:latin typeface="Microsoft YaHei"/>
                <a:ea typeface="Microsoft YaHei"/>
              </a:rPr>
              <a:t>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66544" y="5157216"/>
            <a:ext cx="3931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F6A60"/>
                </a:solidFill>
                <a:latin typeface="Microsoft YaHei"/>
                <a:ea typeface="Microsoft YaHei"/>
              </a:rPr>
              <a:t>worklog：命令、数据、问题、结论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89320" y="1444752"/>
            <a:ext cx="5577840" cy="2606040"/>
          </a:xfrm>
          <a:prstGeom prst="roundRect">
            <a:avLst>
              <a:gd name="adj" fmla="val 8000"/>
            </a:avLst>
          </a:prstGeom>
          <a:solidFill>
            <a:srgbClr val="EFED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0488" y="1554480"/>
            <a:ext cx="5212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6F6A60"/>
                </a:solidFill>
                <a:latin typeface="Microsoft YaHei"/>
                <a:ea typeface="Microsoft YaHei"/>
              </a:rPr>
              <a:t>可直接改写的任务书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0488" y="1792224"/>
            <a:ext cx="5193792" cy="21671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80" b="0" i="0">
                <a:solidFill>
                  <a:srgbClr val="171717"/>
                </a:solidFill>
                <a:latin typeface="Consolas"/>
              </a:rPr>
              <a:t>任务：补全并验证这次逻辑回归实验。</a:t>
            </a:r>
          </a:p>
          <a:p>
            <a:pPr>
              <a:lnSpc>
                <a:spcPct val="110000"/>
              </a:lnSpc>
            </a:pPr>
            <a:r>
              <a:rPr sz="980" b="0" i="0">
                <a:solidFill>
                  <a:srgbClr val="171717"/>
                </a:solidFill>
                <a:latin typeface="Consolas"/>
              </a:rPr>
              <a:t>输入：手册 §1.6、data/、utils.py、Logic.ipynb。</a:t>
            </a:r>
          </a:p>
          <a:p>
            <a:pPr>
              <a:lnSpc>
                <a:spcPct val="110000"/>
              </a:lnSpc>
            </a:pPr>
            <a:r>
              <a:rPr sz="980" b="0" i="0">
                <a:solidFill>
                  <a:srgbClr val="171717"/>
                </a:solidFill>
                <a:latin typeface="Consolas"/>
              </a:rPr>
              <a:t>约束：不改划分；不调测试集；seed=42；</a:t>
            </a:r>
          </a:p>
          <a:p>
            <a:pPr>
              <a:lnSpc>
                <a:spcPct val="110000"/>
              </a:lnSpc>
            </a:pPr>
            <a:r>
              <a:rPr sz="980" b="0" i="0">
                <a:solidFill>
                  <a:srgbClr val="171717"/>
                </a:solidFill>
                <a:latin typeface="Consolas"/>
              </a:rPr>
              <a:t>      每项指标必须能在 outputs/ 复核。</a:t>
            </a:r>
          </a:p>
          <a:p>
            <a:pPr>
              <a:lnSpc>
                <a:spcPct val="110000"/>
              </a:lnSpc>
            </a:pPr>
            <a:r>
              <a:rPr sz="980" b="0" i="0">
                <a:solidFill>
                  <a:srgbClr val="171717"/>
                </a:solidFill>
                <a:latin typeface="Consolas"/>
              </a:rPr>
              <a:t>验收：verify_submission.py 全 PASS，</a:t>
            </a:r>
          </a:p>
          <a:p>
            <a:pPr>
              <a:lnSpc>
                <a:spcPct val="110000"/>
              </a:lnSpc>
            </a:pPr>
            <a:r>
              <a:rPr sz="980" b="0" i="0">
                <a:solidFill>
                  <a:srgbClr val="171717"/>
                </a:solidFill>
                <a:latin typeface="Consolas"/>
              </a:rPr>
              <a:t>      并在最后写一段自己的反思。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4251960"/>
            <a:ext cx="5577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B85C38"/>
                </a:solidFill>
                <a:latin typeface="Microsoft YaHei"/>
                <a:ea typeface="Microsoft YaHei"/>
              </a:rPr>
              <a:t>人工检查点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4526280"/>
            <a:ext cx="5486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28000"/>
              </a:lnSpc>
              <a:spcAft>
                <a:spcPts val="400"/>
              </a:spcAft>
            </a:pPr>
            <a:r>
              <a:rPr sz="980" b="1" i="0">
                <a:solidFill>
                  <a:srgbClr val="0F6B62"/>
                </a:solidFill>
                <a:latin typeface="Microsoft YaHei"/>
                <a:ea typeface="Microsoft YaHei"/>
              </a:rPr>
              <a:t>·  </a:t>
            </a:r>
            <a:r>
              <a:rPr sz="980" b="0" i="0">
                <a:solidFill>
                  <a:srgbClr val="171717"/>
                </a:solidFill>
                <a:latin typeface="Microsoft YaHei"/>
                <a:ea typeface="Microsoft YaHei"/>
              </a:rPr>
              <a:t>方法学：均值填充是否应只用 train 统计量</a:t>
            </a:r>
          </a:p>
          <a:p>
            <a:pPr marL="274320" indent="-274320">
              <a:lnSpc>
                <a:spcPct val="128000"/>
              </a:lnSpc>
              <a:spcAft>
                <a:spcPts val="400"/>
              </a:spcAft>
            </a:pPr>
            <a:r>
              <a:rPr sz="980" b="1" i="0">
                <a:solidFill>
                  <a:srgbClr val="0F6B62"/>
                </a:solidFill>
                <a:latin typeface="Microsoft YaHei"/>
                <a:ea typeface="Microsoft YaHei"/>
              </a:rPr>
              <a:t>·  </a:t>
            </a:r>
            <a:r>
              <a:rPr sz="980" b="0" i="0">
                <a:solidFill>
                  <a:srgbClr val="171717"/>
                </a:solidFill>
                <a:latin typeface="Microsoft YaHei"/>
                <a:ea typeface="Microsoft YaHei"/>
              </a:rPr>
              <a:t>指标口径：阈值 0.5、正负样本比例</a:t>
            </a:r>
          </a:p>
          <a:p>
            <a:pPr marL="274320" indent="-274320">
              <a:lnSpc>
                <a:spcPct val="128000"/>
              </a:lnSpc>
              <a:spcAft>
                <a:spcPts val="400"/>
              </a:spcAft>
            </a:pPr>
            <a:r>
              <a:rPr sz="980" b="1" i="0">
                <a:solidFill>
                  <a:srgbClr val="0F6B62"/>
                </a:solidFill>
                <a:latin typeface="Microsoft YaHei"/>
                <a:ea typeface="Microsoft YaHei"/>
              </a:rPr>
              <a:t>·  </a:t>
            </a:r>
            <a:r>
              <a:rPr sz="980" b="0" i="0">
                <a:solidFill>
                  <a:srgbClr val="171717"/>
                </a:solidFill>
                <a:latin typeface="Microsoft YaHei"/>
                <a:ea typeface="Microsoft YaHei"/>
              </a:rPr>
              <a:t>提交：学号_姓名_logic.zip 与反思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03 ·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481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71717"/>
                </a:solidFill>
                <a:latin typeface="Microsoft YaHei"/>
                <a:ea typeface="Microsoft YaHei"/>
              </a:rPr>
              <a:t>Agent 会犯错，验收不能外包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25296"/>
            <a:ext cx="658368" cy="41148"/>
          </a:xfrm>
          <a:prstGeom prst="rect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2025 逻辑回归实验  ·  Agentic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2623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36 / 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481328"/>
            <a:ext cx="3493008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6459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i="0">
                <a:solidFill>
                  <a:srgbClr val="B85C38"/>
                </a:solidFill>
                <a:latin typeface="Microsoft YaHei"/>
                <a:ea typeface="Microsoft YaHei"/>
              </a:rPr>
              <a:t>幻觉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99339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F6A60"/>
                </a:solidFill>
                <a:latin typeface="Microsoft YaHei"/>
                <a:ea typeface="Microsoft YaHei"/>
              </a:rPr>
              <a:t>编造不存在的 API / 结果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5603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0F6B62"/>
                </a:solidFill>
                <a:latin typeface="Microsoft YaHei"/>
                <a:ea typeface="Microsoft YaHei"/>
              </a:rPr>
              <a:t>→ 要求给出文件、命令、输出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481328"/>
            <a:ext cx="3493008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6459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i="0">
                <a:solidFill>
                  <a:srgbClr val="B85C38"/>
                </a:solidFill>
                <a:latin typeface="Microsoft YaHei"/>
                <a:ea typeface="Microsoft YaHei"/>
              </a:rPr>
              <a:t>工具错误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199339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F6A60"/>
                </a:solidFill>
                <a:latin typeface="Microsoft YaHei"/>
                <a:ea typeface="Microsoft YaHei"/>
              </a:rPr>
              <a:t>命令失败但被忽略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5603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0F6B62"/>
                </a:solidFill>
                <a:latin typeface="Microsoft YaHei"/>
                <a:ea typeface="Microsoft YaHei"/>
              </a:rPr>
              <a:t>→ 看 exit code 与 stderr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7" y="1481328"/>
            <a:ext cx="3493008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7" y="16459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i="0">
                <a:solidFill>
                  <a:srgbClr val="B85C38"/>
                </a:solidFill>
                <a:latin typeface="Microsoft YaHei"/>
                <a:ea typeface="Microsoft YaHei"/>
              </a:rPr>
              <a:t>Context rot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7" y="199339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F6A60"/>
                </a:solidFill>
                <a:latin typeface="Microsoft YaHei"/>
                <a:ea typeface="Microsoft YaHei"/>
              </a:rPr>
              <a:t>关键信息被长上下文淹没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7" y="25603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0F6B62"/>
                </a:solidFill>
                <a:latin typeface="Microsoft YaHei"/>
                <a:ea typeface="Microsoft YaHei"/>
              </a:rPr>
              <a:t>→ 压缩、笔记、只读相关文件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3401568"/>
            <a:ext cx="3493008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5661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i="0">
                <a:solidFill>
                  <a:srgbClr val="B85C38"/>
                </a:solidFill>
                <a:latin typeface="Microsoft YaHei"/>
                <a:ea typeface="Microsoft YaHei"/>
              </a:rPr>
              <a:t>权限越界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391363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F6A60"/>
                </a:solidFill>
                <a:latin typeface="Microsoft YaHei"/>
                <a:ea typeface="Microsoft YaHei"/>
              </a:rPr>
              <a:t>写到工作区之外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48056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0F6B62"/>
                </a:solidFill>
                <a:latin typeface="Microsoft YaHei"/>
                <a:ea typeface="Microsoft YaHei"/>
              </a:rPr>
              <a:t>→ 沙箱、最小权限、人工确认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79" y="3401568"/>
            <a:ext cx="3493008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59" y="35661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i="0">
                <a:solidFill>
                  <a:srgbClr val="B85C38"/>
                </a:solidFill>
                <a:latin typeface="Microsoft YaHei"/>
                <a:ea typeface="Microsoft YaHei"/>
              </a:rPr>
              <a:t>不可复现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59" y="391363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F6A60"/>
                </a:solidFill>
                <a:latin typeface="Microsoft YaHei"/>
                <a:ea typeface="Microsoft YaHei"/>
              </a:rPr>
              <a:t>没有 seed / 版本 / 命令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59" y="448056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0F6B62"/>
                </a:solidFill>
                <a:latin typeface="Microsoft YaHei"/>
                <a:ea typeface="Microsoft YaHei"/>
              </a:rPr>
              <a:t>→ 记录环境与完整命令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73567" y="3401568"/>
            <a:ext cx="3493008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56447" y="35661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i="0">
                <a:solidFill>
                  <a:srgbClr val="B85C38"/>
                </a:solidFill>
                <a:latin typeface="Microsoft YaHei"/>
                <a:ea typeface="Microsoft YaHei"/>
              </a:rPr>
              <a:t>过度依赖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6447" y="391363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F6A60"/>
                </a:solidFill>
                <a:latin typeface="Microsoft YaHei"/>
                <a:ea typeface="Microsoft YaHei"/>
              </a:rPr>
              <a:t>把“它说完成”当完成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7" y="448056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0F6B62"/>
                </a:solidFill>
                <a:latin typeface="Microsoft YaHei"/>
                <a:ea typeface="Microsoft YaHei"/>
              </a:rPr>
              <a:t>→ 测试、指标、人工复核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5669280"/>
            <a:ext cx="1094811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 i="0">
                <a:solidFill>
                  <a:srgbClr val="0F6B62"/>
                </a:solidFill>
                <a:latin typeface="Microsoft YaHei"/>
                <a:ea typeface="Microsoft YaHei"/>
              </a:rPr>
              <a:t>Agent proposes, evidence decides.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03 ·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481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71717"/>
                </a:solidFill>
                <a:latin typeface="Microsoft YaHei"/>
                <a:ea typeface="Microsoft YaHei"/>
              </a:rPr>
              <a:t>课堂练习：把实验交给 Agent 之前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25296"/>
            <a:ext cx="658368" cy="41148"/>
          </a:xfrm>
          <a:prstGeom prst="rect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2025 逻辑回归实验  ·  Agentic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2623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37 / 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600200"/>
            <a:ext cx="3493008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83080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F6B62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3317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71717"/>
                </a:solidFill>
                <a:latin typeface="Microsoft YaHei"/>
                <a:ea typeface="Microsoft YaHei"/>
              </a:rPr>
              <a:t>写一份任务书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926080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用 5 句话写清：目标、输入、约束、输出、验收标准。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600200"/>
            <a:ext cx="3493008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5" y="1783080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F6B62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5" y="23317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71717"/>
                </a:solidFill>
                <a:latin typeface="Microsoft YaHei"/>
                <a:ea typeface="Microsoft YaHei"/>
              </a:rPr>
              <a:t>找三个检查点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5" y="2926080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在本实验中，哪三件事必须人工确认，不能交给 Agent？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7" y="1600200"/>
            <a:ext cx="3493008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3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3023" y="1783080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F6B62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3" y="23317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71717"/>
                </a:solidFill>
                <a:latin typeface="Microsoft YaHei"/>
                <a:ea typeface="Microsoft YaHei"/>
              </a:rPr>
              <a:t>加一条验收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3" y="2926080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F6A60"/>
                </a:solidFill>
                <a:latin typeface="Microsoft YaHei"/>
                <a:ea typeface="Microsoft YaHei"/>
              </a:rPr>
              <a:t>给 verify_submission.py 增加一个你能想到的检查，并说明为什么。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489204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F6A60"/>
                </a:solidFill>
                <a:latin typeface="Microsoft YaHei"/>
                <a:ea typeface="Microsoft YaHei"/>
              </a:rPr>
              <a:t>10 分钟 · 两人一组 · 分享一个你认为 Agent 最可能骗过你的地方。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导览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481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71717"/>
                </a:solidFill>
                <a:latin typeface="Microsoft YaHei"/>
                <a:ea typeface="Microsoft YaHei"/>
              </a:rPr>
              <a:t>带走五句话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25296"/>
            <a:ext cx="658368" cy="41148"/>
          </a:xfrm>
          <a:prstGeom prst="rect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2025 逻辑回归实验  ·  Agentic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2623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38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630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0F6B62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1426464"/>
            <a:ext cx="6583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 i="0">
                <a:solidFill>
                  <a:srgbClr val="171717"/>
                </a:solidFill>
                <a:latin typeface="Microsoft YaHei"/>
                <a:ea typeface="Microsoft YaHei"/>
              </a:rPr>
              <a:t>逻辑回归 = 线性分数 + sigmoid + BCE。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920240"/>
            <a:ext cx="6949440" cy="10972"/>
          </a:xfrm>
          <a:prstGeom prst="rect">
            <a:avLst/>
          </a:prstGeom>
          <a:solidFill>
            <a:srgbClr val="D8D3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2128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0F6B62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2176272"/>
            <a:ext cx="6583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 i="0">
                <a:solidFill>
                  <a:srgbClr val="171717"/>
                </a:solidFill>
                <a:latin typeface="Microsoft YaHei"/>
                <a:ea typeface="Microsoft YaHei"/>
              </a:rPr>
              <a:t>数据管线决定上限；形状与数值稳定决定能否跑通。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2670048"/>
            <a:ext cx="6949440" cy="10972"/>
          </a:xfrm>
          <a:prstGeom prst="rect">
            <a:avLst/>
          </a:prstGeom>
          <a:solidFill>
            <a:srgbClr val="D8D3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96265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0F6B62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" y="2926080"/>
            <a:ext cx="6583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 i="0">
                <a:solidFill>
                  <a:srgbClr val="171717"/>
                </a:solidFill>
                <a:latin typeface="Microsoft YaHei"/>
                <a:ea typeface="Microsoft YaHei"/>
              </a:rPr>
              <a:t>评估看混淆矩阵、ROC 与阈值，不只看 accuracy。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3419856"/>
            <a:ext cx="6949440" cy="10972"/>
          </a:xfrm>
          <a:prstGeom prst="rect">
            <a:avLst/>
          </a:prstGeom>
          <a:solidFill>
            <a:srgbClr val="D8D3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71246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0F6B62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" y="3675888"/>
            <a:ext cx="6583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 i="0">
                <a:solidFill>
                  <a:srgbClr val="171717"/>
                </a:solidFill>
                <a:latin typeface="Microsoft YaHei"/>
                <a:ea typeface="Microsoft YaHei"/>
              </a:rPr>
              <a:t>Agent = LLM + tools + loop；workflow 不等于 agent。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4169664"/>
            <a:ext cx="6949440" cy="10972"/>
          </a:xfrm>
          <a:prstGeom prst="rect">
            <a:avLst/>
          </a:prstGeom>
          <a:solidFill>
            <a:srgbClr val="D8D3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446227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0F6B62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" y="4425696"/>
            <a:ext cx="6583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 i="0">
                <a:solidFill>
                  <a:srgbClr val="171717"/>
                </a:solidFill>
                <a:latin typeface="Microsoft YaHei"/>
                <a:ea typeface="Microsoft YaHei"/>
              </a:rPr>
              <a:t>Prompt &lt; Context &lt; Harness；验收是 Harness 的一部分。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" y="4919472"/>
            <a:ext cx="6949440" cy="10972"/>
          </a:xfrm>
          <a:prstGeom prst="rect">
            <a:avLst/>
          </a:prstGeom>
          <a:solidFill>
            <a:srgbClr val="D8D3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26679" y="1481328"/>
            <a:ext cx="3840480" cy="36576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1874519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模型能力 ×
Harness 能力
= 可交付结果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416052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C9C3B6"/>
                </a:solidFill>
                <a:latin typeface="Microsoft YaHei"/>
                <a:ea typeface="Microsoft YaHei"/>
              </a:rPr>
              <a:t>这是教学近似，不是定律；但它解释了为什么“同一个模型，换个环境就完全不同”。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F6B62"/>
                </a:solidFill>
                <a:latin typeface="Microsoft YaHei"/>
                <a:ea typeface="Microsoft YaHei"/>
              </a:rPr>
              <a:t>导览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481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71717"/>
                </a:solidFill>
                <a:latin typeface="Microsoft YaHei"/>
                <a:ea typeface="Microsoft YaHei"/>
              </a:rPr>
              <a:t>参考资料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25296"/>
            <a:ext cx="658368" cy="41148"/>
          </a:xfrm>
          <a:prstGeom prst="rect">
            <a:avLst/>
          </a:prstGeom>
          <a:solidFill>
            <a:srgbClr val="0F6B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2025 逻辑回归实验  ·  Agentic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2623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39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8132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F6B62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463040"/>
            <a:ext cx="4892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1717"/>
                </a:solidFill>
                <a:latin typeface="Microsoft YaHei"/>
                <a:ea typeface="Microsoft YaHei"/>
              </a:rPr>
              <a:t>Russell &amp; Norvig. AIMA, Ch. 2 Intelligent Agents.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176272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F6B62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157984"/>
            <a:ext cx="4892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1717"/>
                </a:solidFill>
                <a:latin typeface="Microsoft YaHei"/>
                <a:ea typeface="Microsoft YaHei"/>
              </a:rPr>
              <a:t>Wooldridge &amp; Jennings. Intelligent Agents: Theory and Practice, 1995.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871216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F6B62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852928"/>
            <a:ext cx="4892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1717"/>
                </a:solidFill>
                <a:latin typeface="Microsoft YaHei"/>
                <a:ea typeface="Microsoft YaHei"/>
              </a:rPr>
              <a:t>Anthropic. Building effective agents, 2024.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56616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F6B62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547872"/>
            <a:ext cx="4892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1717"/>
                </a:solidFill>
                <a:latin typeface="Microsoft YaHei"/>
                <a:ea typeface="Microsoft YaHei"/>
              </a:rPr>
              <a:t>Anthropic. Effective context engineering for AI agents, 2025.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261104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F6B62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242816"/>
            <a:ext cx="4892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1717"/>
                </a:solidFill>
                <a:latin typeface="Microsoft YaHei"/>
                <a:ea typeface="Microsoft YaHei"/>
              </a:rPr>
              <a:t>Yao et al. ReAct, arXiv:2210.03629, 2022.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495604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F6B62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937760"/>
            <a:ext cx="4892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1717"/>
                </a:solidFill>
                <a:latin typeface="Microsoft YaHei"/>
                <a:ea typeface="Microsoft YaHei"/>
              </a:rPr>
              <a:t>Yang et al. SWE-agent, arXiv:2405.15793, 2024.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3912" y="148132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F6B62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1463040"/>
            <a:ext cx="4892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1717"/>
                </a:solidFill>
                <a:latin typeface="Microsoft YaHei"/>
                <a:ea typeface="Microsoft YaHei"/>
              </a:rPr>
              <a:t>OpenAI. Harness engineering, 2026（页面 403，标题/年份经检索核对）.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3912" y="2176272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F6B62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2157984"/>
            <a:ext cx="4892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1717"/>
                </a:solidFill>
                <a:latin typeface="Microsoft YaHei"/>
                <a:ea typeface="Microsoft YaHei"/>
              </a:rPr>
              <a:t>DeepSeek Harness 官方介绍，2026.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3912" y="2871216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F6B62"/>
                </a:solidFill>
                <a:latin typeface="Microsoft YaHei"/>
                <a:ea typeface="Microsoft YaHei"/>
              </a:rPr>
              <a:t>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2852928"/>
            <a:ext cx="4892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1717"/>
                </a:solidFill>
                <a:latin typeface="Microsoft YaHei"/>
                <a:ea typeface="Microsoft YaHei"/>
              </a:rPr>
              <a:t>DSH 架构文档：core subsystems（agent-loop / session / tools）.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53912" y="356616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F6B62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3547872"/>
            <a:ext cx="4892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1717"/>
                </a:solidFill>
                <a:latin typeface="Microsoft YaHei"/>
                <a:ea typeface="Microsoft YaHei"/>
              </a:rPr>
              <a:t>AGENTS.md: a simple open format for guiding coding agents.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53912" y="4261104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F6B62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9672" y="4242816"/>
            <a:ext cx="4892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1717"/>
                </a:solidFill>
                <a:latin typeface="Microsoft YaHei"/>
                <a:ea typeface="Microsoft YaHei"/>
              </a:rPr>
              <a:t>Schulhoff et al. The Prompt Report, arXiv:2406.06608, 2024.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53912" y="495604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F6B62"/>
                </a:solidFill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9672" y="4937760"/>
            <a:ext cx="4892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1717"/>
                </a:solidFill>
                <a:latin typeface="Microsoft YaHei"/>
                <a:ea typeface="Microsoft YaHei"/>
              </a:rPr>
              <a:t>课程《逻辑回归-实验手册》§1.6；本工作区 WORKLOG / ACCEPTANCE.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580644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F6A60"/>
                </a:solidFill>
                <a:latin typeface="Microsoft YaHei"/>
                <a:ea typeface="Microsoft YaHei"/>
              </a:rPr>
              <a:t>访问日期：2026-10-28。完整链接与“事实 / 教学类比”标注见 design/research/agent_harness_brief.md。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从逻辑回归到 Agentic Programming</dc:title>
  <dc:subject>2025 逻辑回归实验课教学 PPT</dc:subject>
  <dc:creator>课程教学组</dc:creator>
  <cp:keywords/>
  <dc:description>逻辑回归实验 + Agent / Prompt / Harness Engineering 入门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